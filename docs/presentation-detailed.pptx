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b07d865f-9ece-cf6f-393c-3d3b9970d6a7}">
          <p14:sldIdLst>
            <p14:sldId id="256"/>
            <p14:sldId id="257"/>
            <p14:sldId id="258"/>
          </p14:sldIdLst>
        </p14:section>
        <p14:section name="DB 설계" id="{3649cbf2-2b0b-495f-4b1e-c08adb5f85e6}">
          <p14:sldIdLst>
            <p14:sldId id="259"/>
            <p14:sldId id="260"/>
            <p14:sldId id="261"/>
            <p14:sldId id="262"/>
          </p14:sldIdLst>
        </p14:section>
        <p14:section name="API 설계" id="{4b3feaa3-b5ea-0e2e-1ab5-d22d6e1a43bd}">
          <p14:sldIdLst>
            <p14:sldId id="263"/>
            <p14:sldId id="264"/>
          </p14:sldIdLst>
        </p14:section>
        <p14:section name="경험과 데모" id="{f2914bff-06a3-3ecf-b020-3ae8a054c704}">
          <p14:sldIdLst>
            <p14:sldId id="265"/>
            <p14:sldId id="266"/>
          </p14:sldIdLst>
        </p14:section>
        <p14:section name="마무리" id="{90d58dfa-c152-ae20-587d-77b567622d5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이찬석입니다. 첫 과제로 회의실 예약 서비스를 만들었습니다. 한 줄로 말하면, 겹치는 예약과 동시 요청을 애플리케이션이 아니라 DB 제약으로 막는 서비스입니다. 오늘 이 한 문장을 설계로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회의실 예약에서 꼭 지켜야 하는 규칙은 하나입니다. 같은 회의실의 겹치는 시간에는 예약이 하나만 있어야 합니다. 11시부터 12시까지 예약이 있는데 11시 반부터 12시 반 요청이 오면, 30분이 겹치니 막아야 합니다. 문제는 '어떻게 막느냐'입니다.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단순한 방법은 코드에서 '겹치는 예약이 있는지 조회하고, 없으면 저장'하는 겁니다. 그런데 두 요청이 거의 동시에 오면, 둘 다 조회에서 '없음'을 보고, 둘 다 저장해 버립니다. 조회와 저장 사이에 다른 요청이 끼어드는 거죠. 이게 경쟁 상태, race condition 입니다. 앱 코드로는 이 틈을 완전히 막기 어렵습니다.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판정을 DB에 맡겼습니다. PostgreSQL의 EXCLUSION 제약입니다. 읽어보면 이렇습니다. room_id가 같고, 시작부터 끝까지를 범위로 만든 tstzrange가 겹치는, 확정 상태의 예약은 공존할 수 없다. 이 판정을 DB가 저장하는 순간 원자적으로 하기 때문에, 동시에 요청이 와도 하나만 성공하고 나머지는 23P01 에러가 납니다. API는 그 에러를 409로 바꿔 돌려주기만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제약도 생각했습니다. 하지만 UNIQUE는 값이 똑같은지만 봐서, 정시 단위 고정 슬롯에서만 쓸 수 있고, 11시~12시와 11시 반~12시 반 같은 부분 겹침은 못 막습니다. 앱 코드는 방금 본 경쟁 상태가 있고요. 임의 시간 구간을 지원하면서 동시 요청에도 안전한 건 EXCLUSION뿐이었습니다.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테이블은 네 개이고, 회원은 Supabase Auth의 auth.users를 씁니다. 회의실과 예약은 1:N입니다. auth.users는 Supabase가 관리해서 컬럼을 못 늘리기 때문에, 이름과 부서는 profiles라는 1:1 테이블로 분리했고, 가입하면 트리거가 자동으로 만들어줍니다. 회의에는 여러 명이 참석하니 예약과 사용자는 다대다이고, 참석자 조인 테이블에 복합 기본키를 걸어 같은 사람이 두 번 들어가는 걸 막았습니다.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원칙은 하나였습니다. 지켜야 하는 규칙은 애플리케이션이 아니라 DB가 보장하게 하자. 겹침은 EXCLUSION 두 개로, 같은 방 겹침과 한 사람의 겹침을 막습니다. 시간 오류와 4시간 초과는 CHECK, 중복 참석은 복합 키, 고아 데이터는 FK, 권한은 RLS입니다. 어떤 경로로 들어와도 우회할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API의 원칙은 역할 분담입니다. 규칙은 DB가 지키고, API는 세 가지만 합니다. 누가 요청했는지 확인하고, 입력을 1차로 거르고, DB의 결과를 HTTP 응답으로 번역합니다. URL은 자원은 명사, 행동은 메서드로 표현했고, 참석자는 예약 아래 하위 자원으로 붙여서 DB 관계가 URL에도 드러나게 했습니다. 예약 생성은 네 단계인데, 핵심은 세 번째입니다. 겹치는 예약을 미리 조회하지 않고 바로 INSERT 합니다. 조회와 저장 사이에 다른 요청이 끼어들 수 있기 때문입니다. 그리고 예약자 ID는 요청 본문이 아니라 세션에서 확인한 값만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번역 규칙을 일관되게 적용했습니다. 시간이 겹치거나 이미 참석 중이면 409, 시간 값이 잘못되면 400, 대상이 없으면 404, 권한이 없으면 403입니다. 처음엔 권한 위반이 500으로 나가는 문제가 있었는데, 테스트하면서 42501을 403으로 바로잡았습니다. 같은 409라도 방 겹침인지 내 다른 예약과의 겹침인지는 제약 이름으로 구분해 다른 메시지를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가지를 말씀드리겠습니다. 첫째, 테이블을 만들고 첫 API를 호출하자 permission denied가 났습니다. Supabase는 명시적으로 허용하기 전엔 막는 게 기본이라, GRANT와 RLS 정책을 추가했습니다. 둘째, profiles 자동 생성 트리거를 추가한 뒤 기존 사용자가 참석자로 추가되지 않았습니다. 트리거는 적용 이후 가입자에게만 적용되기 때문에, 기존 사용자를 backfill 했습니다. 셋째, 개발 중엔 안 보이다가 빌드에서 드러난 프리렌더 오류입니다. 현재 시각에 의존하는 화면을 미리 만들려 해서 생긴 문제라, 요청 시점에 렌더링하도록 경계를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브라우저로 전환합니다. 네 단계만 보여드리겠습니다. 11시부터 12시 예약, 같은 방 겹치는 시간 요청이 막히는 것, 다른 방이라도 제 다른 예약과 겹치면 막히는 것, 그리고 취소하면 그 시간이 다시 열리는 것까지입니다.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솔직하게 말씀드리겠습니다. 참석자의 시간 겹침은 아직 막지 못합니다. 시간이 다른 테이블에 있어서 제약으로는 표현할 수 없고, 트리거가 필요합니다. 과거 시간 예약 금지도 now()가 값이 변하는 함수라 CHECK에 못 쓰기 때문에 트리거나 API로 해야 합니다. 예약 취소 API는 없는 예약과 남의 예약을 403, 404로 구분하지 않는 것도 알고 있고, 바뀐 행 수로 구분하도록 고칠 계획입니다. 제약으로 되는 것과 안 되는 것의 경계를 아는 것이 다음 단계라고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겹침은 EXCLUSION, 시간 오류는 CHECK, 중복 참석은 복합 키, 권한은 RLS로, 규칙을 전부 DB가 지키도록 설계했습니다. API는 인증하고, 거르고, 번역할 뿐이고 판정은 DB가 합니다.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회의실 예약 서비스 — DB 제약으로 중복·동시 요청 차단</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1D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회의실 예약 서비스</a:t>
            </a:r>
            <a:endParaRPr lang="en-US" sz="4000" dirty="0"/>
          </a:p>
        </p:txBody>
      </p:sp>
      <p:sp>
        <p:nvSpPr>
          <p:cNvPr id="4" name="card-1"/>
          <p:cNvSpPr/>
          <p:nvPr/>
        </p:nvSpPr>
        <p:spPr>
          <a:xfrm>
            <a:off x="822960" y="1463040"/>
            <a:ext cx="4206240" cy="457200"/>
          </a:xfrm>
          <a:prstGeom prst="roundRect">
            <a:avLst>
              <a:gd name="adj" fmla="val 24000"/>
            </a:avLst>
          </a:prstGeom>
          <a:solidFill>
            <a:schemeClr val="accent1"/>
          </a:solidFill>
          <a:ln w="6350">
            <a:solidFill>
              <a:schemeClr val="accent1"/>
            </a:solidFill>
            <a:prstDash val="solid"/>
          </a:ln>
        </p:spPr>
      </p:sp>
      <p:sp>
        <p:nvSpPr>
          <p:cNvPr id="5" name="text-2"/>
          <p:cNvSpPr txBox="1"/>
          <p:nvPr/>
        </p:nvSpPr>
        <p:spPr>
          <a:xfrm>
            <a:off x="822960" y="1463040"/>
            <a:ext cx="4206240" cy="457200"/>
          </a:xfrm>
          <a:prstGeom prst="rect">
            <a:avLst/>
          </a:prstGeom>
          <a:noFill/>
          <a:ln/>
        </p:spPr>
        <p:txBody>
          <a:bodyPr wrap="square" lIns="0" tIns="0" rIns="0" bIns="0" rtlCol="0" anchor="ctr"/>
          <a:lstStyle/>
          <a:p>
            <a:pPr algn="ctr" indent="0" marL="0">
              <a:buNone/>
            </a:pPr>
            <a:r>
              <a:rPr lang="en-US" sz="1400" b="1" dirty="0">
                <a:solidFill>
                  <a:schemeClr val="bg1"/>
                </a:solidFill>
              </a:rPr>
              <a:t>DB 제약으로 중복·동시 요청 차단</a:t>
            </a:r>
            <a:endParaRPr lang="en-US" sz="1400" dirty="0"/>
          </a:p>
        </p:txBody>
      </p:sp>
      <p:sp>
        <p:nvSpPr>
          <p:cNvPr id="6" name="text-3"/>
          <p:cNvSpPr txBox="1"/>
          <p:nvPr/>
        </p:nvSpPr>
        <p:spPr>
          <a:xfrm>
            <a:off x="822960" y="3611880"/>
            <a:ext cx="10515600" cy="548640"/>
          </a:xfrm>
          <a:prstGeom prst="rect">
            <a:avLst/>
          </a:prstGeom>
          <a:noFill/>
          <a:ln/>
        </p:spPr>
        <p:txBody>
          <a:bodyPr wrap="square" lIns="0" tIns="0" rIns="0" bIns="0" rtlCol="0" anchor="t"/>
          <a:lstStyle/>
          <a:p>
            <a:pPr indent="0" marL="0">
              <a:buNone/>
            </a:pPr>
            <a:r>
              <a:rPr lang="en-US" sz="2400" dirty="0">
                <a:solidFill>
                  <a:schemeClr val="bg2"/>
                </a:solidFill>
              </a:rPr>
              <a:t>규칙은 애플리케이션이 아니라 DB가 지킨다</a:t>
            </a:r>
            <a:endParaRPr lang="en-US" sz="2400" dirty="0"/>
          </a:p>
        </p:txBody>
      </p:sp>
      <p:sp>
        <p:nvSpPr>
          <p:cNvPr id="7" name="text-4"/>
          <p:cNvSpPr txBox="1"/>
          <p:nvPr/>
        </p:nvSpPr>
        <p:spPr>
          <a:xfrm>
            <a:off x="822960" y="5120640"/>
            <a:ext cx="7315200" cy="365760"/>
          </a:xfrm>
          <a:prstGeom prst="rect">
            <a:avLst/>
          </a:prstGeom>
          <a:noFill/>
          <a:ln/>
        </p:spPr>
        <p:txBody>
          <a:bodyPr wrap="square" lIns="0" tIns="0" rIns="0" bIns="0" rtlCol="0" anchor="t"/>
          <a:lstStyle/>
          <a:p>
            <a:pPr indent="0" marL="0">
              <a:buNone/>
            </a:pPr>
            <a:r>
              <a:rPr lang="en-US" sz="1600" dirty="0">
                <a:solidFill>
                  <a:schemeClr val="bg2"/>
                </a:solidFill>
              </a:rPr>
              <a:t>이찬석  ·  2026. 10. 14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문제 정의</a:t>
            </a:r>
            <a:endParaRPr lang="en-US" sz="3000" dirty="0"/>
          </a:p>
        </p:txBody>
      </p:sp>
      <p:sp>
        <p:nvSpPr>
          <p:cNvPr id="4" name="text-5"/>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2200" b="1" dirty="0">
                <a:solidFill>
                  <a:schemeClr val="tx1"/>
                </a:solidFill>
              </a:rPr>
              <a:t>같은 회의실, 겹치는 시간에는 예약이 하나만</a:t>
            </a:r>
            <a:endParaRPr lang="en-US" sz="2200" dirty="0"/>
          </a:p>
        </p:txBody>
      </p:sp>
      <p:sp>
        <p:nvSpPr>
          <p:cNvPr id="5" name="axis"/>
          <p:cNvSpPr/>
          <p:nvPr/>
        </p:nvSpPr>
        <p:spPr>
          <a:xfrm>
            <a:off x="1463040" y="3703320"/>
            <a:ext cx="9326880" cy="0"/>
          </a:xfrm>
          <a:prstGeom prst="line">
            <a:avLst/>
          </a:prstGeom>
          <a:noFill/>
          <a:ln w="19050">
            <a:solidFill>
              <a:schemeClr val="tx2"/>
            </a:solidFill>
            <a:prstDash val="solid"/>
          </a:ln>
        </p:spPr>
      </p:sp>
      <p:sp>
        <p:nvSpPr>
          <p:cNvPr id="6" name="tick-6"/>
          <p:cNvSpPr/>
          <p:nvPr/>
        </p:nvSpPr>
        <p:spPr>
          <a:xfrm>
            <a:off x="1463040" y="3593592"/>
            <a:ext cx="0" cy="219456"/>
          </a:xfrm>
          <a:prstGeom prst="line">
            <a:avLst/>
          </a:prstGeom>
          <a:noFill/>
          <a:ln w="19050">
            <a:solidFill>
              <a:schemeClr val="tx2"/>
            </a:solidFill>
            <a:prstDash val="solid"/>
          </a:ln>
        </p:spPr>
      </p:sp>
      <p:sp>
        <p:nvSpPr>
          <p:cNvPr id="7" name="text-7"/>
          <p:cNvSpPr txBox="1"/>
          <p:nvPr/>
        </p:nvSpPr>
        <p:spPr>
          <a:xfrm>
            <a:off x="1005840" y="5074920"/>
            <a:ext cx="914400" cy="274320"/>
          </a:xfrm>
          <a:prstGeom prst="rect">
            <a:avLst/>
          </a:prstGeom>
          <a:noFill/>
          <a:ln/>
        </p:spPr>
        <p:txBody>
          <a:bodyPr wrap="square" lIns="0" tIns="0" rIns="0" bIns="0" rtlCol="0" anchor="t"/>
          <a:lstStyle/>
          <a:p>
            <a:pPr algn="ctr" indent="0" marL="0">
              <a:buNone/>
            </a:pPr>
            <a:r>
              <a:rPr lang="en-US" sz="1300" dirty="0">
                <a:solidFill>
                  <a:schemeClr val="tx2"/>
                </a:solidFill>
              </a:rPr>
              <a:t>10:00</a:t>
            </a:r>
            <a:endParaRPr lang="en-US" sz="1300" dirty="0"/>
          </a:p>
        </p:txBody>
      </p:sp>
      <p:sp>
        <p:nvSpPr>
          <p:cNvPr id="8" name="tick-8"/>
          <p:cNvSpPr/>
          <p:nvPr/>
        </p:nvSpPr>
        <p:spPr>
          <a:xfrm>
            <a:off x="4572000" y="3593592"/>
            <a:ext cx="0" cy="219456"/>
          </a:xfrm>
          <a:prstGeom prst="line">
            <a:avLst/>
          </a:prstGeom>
          <a:noFill/>
          <a:ln w="19050">
            <a:solidFill>
              <a:schemeClr val="tx2"/>
            </a:solidFill>
            <a:prstDash val="solid"/>
          </a:ln>
        </p:spPr>
      </p:sp>
      <p:sp>
        <p:nvSpPr>
          <p:cNvPr id="9" name="text-9"/>
          <p:cNvSpPr txBox="1"/>
          <p:nvPr/>
        </p:nvSpPr>
        <p:spPr>
          <a:xfrm>
            <a:off x="4114800" y="5074920"/>
            <a:ext cx="914400" cy="274320"/>
          </a:xfrm>
          <a:prstGeom prst="rect">
            <a:avLst/>
          </a:prstGeom>
          <a:noFill/>
          <a:ln/>
        </p:spPr>
        <p:txBody>
          <a:bodyPr wrap="square" lIns="0" tIns="0" rIns="0" bIns="0" rtlCol="0" anchor="t"/>
          <a:lstStyle/>
          <a:p>
            <a:pPr algn="ctr" indent="0" marL="0">
              <a:buNone/>
            </a:pPr>
            <a:r>
              <a:rPr lang="en-US" sz="1300" dirty="0">
                <a:solidFill>
                  <a:schemeClr val="tx2"/>
                </a:solidFill>
              </a:rPr>
              <a:t>11:00</a:t>
            </a:r>
            <a:endParaRPr lang="en-US" sz="1300" dirty="0"/>
          </a:p>
        </p:txBody>
      </p:sp>
      <p:sp>
        <p:nvSpPr>
          <p:cNvPr id="10" name="tick-10"/>
          <p:cNvSpPr/>
          <p:nvPr/>
        </p:nvSpPr>
        <p:spPr>
          <a:xfrm>
            <a:off x="7680960" y="3593592"/>
            <a:ext cx="0" cy="219456"/>
          </a:xfrm>
          <a:prstGeom prst="line">
            <a:avLst/>
          </a:prstGeom>
          <a:noFill/>
          <a:ln w="19050">
            <a:solidFill>
              <a:schemeClr val="tx2"/>
            </a:solidFill>
            <a:prstDash val="solid"/>
          </a:ln>
        </p:spPr>
      </p:sp>
      <p:sp>
        <p:nvSpPr>
          <p:cNvPr id="11" name="text-11"/>
          <p:cNvSpPr txBox="1"/>
          <p:nvPr/>
        </p:nvSpPr>
        <p:spPr>
          <a:xfrm>
            <a:off x="7223760" y="5074920"/>
            <a:ext cx="914400" cy="274320"/>
          </a:xfrm>
          <a:prstGeom prst="rect">
            <a:avLst/>
          </a:prstGeom>
          <a:noFill/>
          <a:ln/>
        </p:spPr>
        <p:txBody>
          <a:bodyPr wrap="square" lIns="0" tIns="0" rIns="0" bIns="0" rtlCol="0" anchor="t"/>
          <a:lstStyle/>
          <a:p>
            <a:pPr algn="ctr" indent="0" marL="0">
              <a:buNone/>
            </a:pPr>
            <a:r>
              <a:rPr lang="en-US" sz="1300" dirty="0">
                <a:solidFill>
                  <a:schemeClr val="tx2"/>
                </a:solidFill>
              </a:rPr>
              <a:t>12:00</a:t>
            </a:r>
            <a:endParaRPr lang="en-US" sz="1300" dirty="0"/>
          </a:p>
        </p:txBody>
      </p:sp>
      <p:sp>
        <p:nvSpPr>
          <p:cNvPr id="12" name="tick-12"/>
          <p:cNvSpPr/>
          <p:nvPr/>
        </p:nvSpPr>
        <p:spPr>
          <a:xfrm>
            <a:off x="10789920" y="3593592"/>
            <a:ext cx="0" cy="219456"/>
          </a:xfrm>
          <a:prstGeom prst="line">
            <a:avLst/>
          </a:prstGeom>
          <a:noFill/>
          <a:ln w="19050">
            <a:solidFill>
              <a:schemeClr val="tx2"/>
            </a:solidFill>
            <a:prstDash val="solid"/>
          </a:ln>
        </p:spPr>
      </p:sp>
      <p:sp>
        <p:nvSpPr>
          <p:cNvPr id="13" name="text-13"/>
          <p:cNvSpPr txBox="1"/>
          <p:nvPr/>
        </p:nvSpPr>
        <p:spPr>
          <a:xfrm>
            <a:off x="10332720" y="5074920"/>
            <a:ext cx="914400" cy="274320"/>
          </a:xfrm>
          <a:prstGeom prst="rect">
            <a:avLst/>
          </a:prstGeom>
          <a:noFill/>
          <a:ln/>
        </p:spPr>
        <p:txBody>
          <a:bodyPr wrap="square" lIns="0" tIns="0" rIns="0" bIns="0" rtlCol="0" anchor="t"/>
          <a:lstStyle/>
          <a:p>
            <a:pPr algn="ctr" indent="0" marL="0">
              <a:buNone/>
            </a:pPr>
            <a:r>
              <a:rPr lang="en-US" sz="1300" dirty="0">
                <a:solidFill>
                  <a:schemeClr val="tx2"/>
                </a:solidFill>
              </a:rPr>
              <a:t>13:00</a:t>
            </a:r>
            <a:endParaRPr lang="en-US" sz="1300" dirty="0"/>
          </a:p>
        </p:txBody>
      </p:sp>
      <p:sp>
        <p:nvSpPr>
          <p:cNvPr id="14" name="card-14"/>
          <p:cNvSpPr/>
          <p:nvPr/>
        </p:nvSpPr>
        <p:spPr>
          <a:xfrm>
            <a:off x="4572000" y="2651760"/>
            <a:ext cx="3108960" cy="685800"/>
          </a:xfrm>
          <a:prstGeom prst="roundRect">
            <a:avLst>
              <a:gd name="adj" fmla="val 16000"/>
            </a:avLst>
          </a:prstGeom>
          <a:solidFill>
            <a:schemeClr val="accent1"/>
          </a:solidFill>
          <a:ln w="6350">
            <a:solidFill>
              <a:schemeClr val="accent1"/>
            </a:solidFill>
            <a:prstDash val="solid"/>
          </a:ln>
        </p:spPr>
      </p:sp>
      <p:sp>
        <p:nvSpPr>
          <p:cNvPr id="15" name="text-15"/>
          <p:cNvSpPr txBox="1"/>
          <p:nvPr/>
        </p:nvSpPr>
        <p:spPr>
          <a:xfrm>
            <a:off x="4572000" y="2651760"/>
            <a:ext cx="3108960" cy="685800"/>
          </a:xfrm>
          <a:prstGeom prst="rect">
            <a:avLst/>
          </a:prstGeom>
          <a:noFill/>
          <a:ln/>
        </p:spPr>
        <p:txBody>
          <a:bodyPr wrap="square" lIns="0" tIns="0" rIns="0" bIns="0" rtlCol="0" anchor="ctr"/>
          <a:lstStyle/>
          <a:p>
            <a:pPr algn="ctr" indent="0" marL="0">
              <a:buNone/>
            </a:pPr>
            <a:r>
              <a:rPr lang="en-US" sz="1500" b="1" dirty="0">
                <a:solidFill>
                  <a:schemeClr val="bg1"/>
                </a:solidFill>
              </a:rPr>
              <a:t>기존 예약   11:00 – 12:00</a:t>
            </a:r>
            <a:endParaRPr lang="en-US" sz="1500" dirty="0"/>
          </a:p>
        </p:txBody>
      </p:sp>
      <p:sp>
        <p:nvSpPr>
          <p:cNvPr id="16" name="card-16"/>
          <p:cNvSpPr/>
          <p:nvPr/>
        </p:nvSpPr>
        <p:spPr>
          <a:xfrm>
            <a:off x="6126480" y="4023360"/>
            <a:ext cx="3108960" cy="685800"/>
          </a:xfrm>
          <a:prstGeom prst="roundRect">
            <a:avLst>
              <a:gd name="adj" fmla="val 16000"/>
            </a:avLst>
          </a:prstGeom>
          <a:solidFill>
            <a:schemeClr val="accent4"/>
          </a:solidFill>
          <a:ln w="6350">
            <a:solidFill>
              <a:schemeClr val="accent4"/>
            </a:solidFill>
            <a:prstDash val="solid"/>
          </a:ln>
        </p:spPr>
      </p:sp>
      <p:sp>
        <p:nvSpPr>
          <p:cNvPr id="17" name="text-17"/>
          <p:cNvSpPr txBox="1"/>
          <p:nvPr/>
        </p:nvSpPr>
        <p:spPr>
          <a:xfrm>
            <a:off x="6126480" y="4023360"/>
            <a:ext cx="3108960" cy="685800"/>
          </a:xfrm>
          <a:prstGeom prst="rect">
            <a:avLst/>
          </a:prstGeom>
          <a:noFill/>
          <a:ln/>
        </p:spPr>
        <p:txBody>
          <a:bodyPr wrap="square" lIns="0" tIns="0" rIns="0" bIns="0" rtlCol="0" anchor="ctr"/>
          <a:lstStyle/>
          <a:p>
            <a:pPr algn="ctr" indent="0" marL="0">
              <a:buNone/>
            </a:pPr>
            <a:r>
              <a:rPr lang="en-US" sz="1500" b="1" dirty="0">
                <a:solidFill>
                  <a:schemeClr val="bg1"/>
                </a:solidFill>
              </a:rPr>
              <a:t>새 요청   11:30 – 12:30</a:t>
            </a:r>
            <a:endParaRPr lang="en-US" sz="1500" dirty="0"/>
          </a:p>
        </p:txBody>
      </p:sp>
      <p:sp>
        <p:nvSpPr>
          <p:cNvPr id="18" name="overlap"/>
          <p:cNvSpPr/>
          <p:nvPr/>
        </p:nvSpPr>
        <p:spPr>
          <a:xfrm>
            <a:off x="6126480" y="2423160"/>
            <a:ext cx="1554480" cy="2514600"/>
          </a:xfrm>
          <a:prstGeom prst="rect">
            <a:avLst/>
          </a:prstGeom>
          <a:solidFill>
            <a:schemeClr val="accent4">
              <a:alpha val="18000"/>
            </a:schemeClr>
          </a:solidFill>
          <a:ln w="15875">
            <a:solidFill>
              <a:schemeClr val="accent4"/>
            </a:solidFill>
            <a:prstDash val="dash"/>
          </a:ln>
        </p:spPr>
      </p:sp>
      <p:sp>
        <p:nvSpPr>
          <p:cNvPr id="19" name="text-18"/>
          <p:cNvSpPr txBox="1"/>
          <p:nvPr/>
        </p:nvSpPr>
        <p:spPr>
          <a:xfrm>
            <a:off x="6126480" y="2057400"/>
            <a:ext cx="1554480" cy="320040"/>
          </a:xfrm>
          <a:prstGeom prst="rect">
            <a:avLst/>
          </a:prstGeom>
          <a:noFill/>
          <a:ln/>
        </p:spPr>
        <p:txBody>
          <a:bodyPr wrap="square" lIns="0" tIns="0" rIns="0" bIns="0" rtlCol="0" anchor="t"/>
          <a:lstStyle/>
          <a:p>
            <a:pPr algn="ctr" indent="0" marL="0">
              <a:buNone/>
            </a:pPr>
            <a:r>
              <a:rPr lang="en-US" sz="1400" b="1" dirty="0">
                <a:solidFill>
                  <a:schemeClr val="accent4"/>
                </a:solidFill>
              </a:rPr>
              <a:t>겹침 30분</a:t>
            </a:r>
            <a:endParaRPr lang="en-US" sz="1400" dirty="0"/>
          </a:p>
        </p:txBody>
      </p:sp>
      <p:sp>
        <p:nvSpPr>
          <p:cNvPr id="20" name="text-19"/>
          <p:cNvSpPr txBox="1"/>
          <p:nvPr/>
        </p:nvSpPr>
        <p:spPr>
          <a:xfrm>
            <a:off x="548640" y="5577840"/>
            <a:ext cx="11064240" cy="457200"/>
          </a:xfrm>
          <a:prstGeom prst="rect">
            <a:avLst/>
          </a:prstGeom>
          <a:noFill/>
          <a:ln/>
        </p:spPr>
        <p:txBody>
          <a:bodyPr wrap="square" lIns="0" tIns="0" rIns="0" bIns="0" rtlCol="0" anchor="t"/>
          <a:lstStyle/>
          <a:p>
            <a:pPr algn="ctr" indent="0" marL="0">
              <a:buNone/>
            </a:pPr>
            <a:r>
              <a:rPr lang="en-US" sz="2000" b="1" dirty="0">
                <a:solidFill>
                  <a:schemeClr val="tx1"/>
                </a:solidFill>
              </a:rPr>
              <a:t>이걸 어떻게 막을 것인가?</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순진한 방법의 함정</a:t>
            </a:r>
            <a:endParaRPr lang="en-US" sz="3000" dirty="0"/>
          </a:p>
        </p:txBody>
      </p:sp>
      <p:sp>
        <p:nvSpPr>
          <p:cNvPr id="4" name="text-20"/>
          <p:cNvSpPr txBox="1"/>
          <p:nvPr/>
        </p:nvSpPr>
        <p:spPr>
          <a:xfrm>
            <a:off x="548640" y="1280160"/>
            <a:ext cx="11064240" cy="411480"/>
          </a:xfrm>
          <a:prstGeom prst="rect">
            <a:avLst/>
          </a:prstGeom>
          <a:noFill/>
          <a:ln/>
        </p:spPr>
        <p:txBody>
          <a:bodyPr wrap="square" lIns="0" tIns="0" rIns="0" bIns="0" rtlCol="0" anchor="t"/>
          <a:lstStyle/>
          <a:p>
            <a:pPr indent="0" marL="0">
              <a:buNone/>
            </a:pPr>
            <a:r>
              <a:rPr lang="en-US" sz="1800" dirty="0">
                <a:solidFill>
                  <a:schemeClr val="tx2"/>
                </a:solidFill>
              </a:rPr>
              <a:t>앱 코드로 '겹치는 예약을 조회하고, 없으면 저장'하면 생기는 일</a:t>
            </a:r>
            <a:endParaRPr lang="en-US" sz="1800" dirty="0"/>
          </a:p>
        </p:txBody>
      </p:sp>
      <p:sp>
        <p:nvSpPr>
          <p:cNvPr id="5" name="time-arrow"/>
          <p:cNvSpPr/>
          <p:nvPr/>
        </p:nvSpPr>
        <p:spPr>
          <a:xfrm>
            <a:off x="777240" y="1920240"/>
            <a:ext cx="0" cy="3474720"/>
          </a:xfrm>
          <a:prstGeom prst="line">
            <a:avLst/>
          </a:prstGeom>
          <a:noFill/>
          <a:ln w="19050">
            <a:solidFill>
              <a:schemeClr val="tx2"/>
            </a:solidFill>
            <a:prstDash val="solid"/>
            <a:tailEnd type="triangle"/>
          </a:ln>
        </p:spPr>
      </p:sp>
      <p:sp>
        <p:nvSpPr>
          <p:cNvPr id="6" name="text-21"/>
          <p:cNvSpPr txBox="1"/>
          <p:nvPr/>
        </p:nvSpPr>
        <p:spPr>
          <a:xfrm>
            <a:off x="457200" y="5440680"/>
            <a:ext cx="640080" cy="274320"/>
          </a:xfrm>
          <a:prstGeom prst="rect">
            <a:avLst/>
          </a:prstGeom>
          <a:noFill/>
          <a:ln/>
        </p:spPr>
        <p:txBody>
          <a:bodyPr wrap="square" lIns="0" tIns="0" rIns="0" bIns="0" rtlCol="0" anchor="t"/>
          <a:lstStyle/>
          <a:p>
            <a:pPr algn="ctr" indent="0" marL="0">
              <a:buNone/>
            </a:pPr>
            <a:r>
              <a:rPr lang="en-US" sz="1200" dirty="0">
                <a:solidFill>
                  <a:schemeClr val="tx2"/>
                </a:solidFill>
              </a:rPr>
              <a:t>시간</a:t>
            </a:r>
            <a:endParaRPr lang="en-US" sz="1200" dirty="0"/>
          </a:p>
        </p:txBody>
      </p:sp>
      <p:sp>
        <p:nvSpPr>
          <p:cNvPr id="7" name="card-22"/>
          <p:cNvSpPr/>
          <p:nvPr/>
        </p:nvSpPr>
        <p:spPr>
          <a:xfrm>
            <a:off x="1188720" y="1920240"/>
            <a:ext cx="4846320" cy="457200"/>
          </a:xfrm>
          <a:prstGeom prst="roundRect">
            <a:avLst>
              <a:gd name="adj" fmla="val 24000"/>
            </a:avLst>
          </a:prstGeom>
          <a:solidFill>
            <a:schemeClr val="accent5"/>
          </a:solidFill>
          <a:ln w="6350">
            <a:solidFill>
              <a:schemeClr val="accent5"/>
            </a:solidFill>
            <a:prstDash val="solid"/>
          </a:ln>
        </p:spPr>
      </p:sp>
      <p:sp>
        <p:nvSpPr>
          <p:cNvPr id="8" name="text-23"/>
          <p:cNvSpPr txBox="1"/>
          <p:nvPr/>
        </p:nvSpPr>
        <p:spPr>
          <a:xfrm>
            <a:off x="1188720" y="1920240"/>
            <a:ext cx="4846320" cy="457200"/>
          </a:xfrm>
          <a:prstGeom prst="rect">
            <a:avLst/>
          </a:prstGeom>
          <a:noFill/>
          <a:ln/>
        </p:spPr>
        <p:txBody>
          <a:bodyPr wrap="square" lIns="0" tIns="0" rIns="0" bIns="0" rtlCol="0" anchor="ctr"/>
          <a:lstStyle/>
          <a:p>
            <a:pPr algn="ctr" indent="0" marL="0">
              <a:buNone/>
            </a:pPr>
            <a:r>
              <a:rPr lang="en-US" sz="1500" b="1" dirty="0">
                <a:solidFill>
                  <a:schemeClr val="accent1"/>
                </a:solidFill>
              </a:rPr>
              <a:t>요청 A</a:t>
            </a:r>
            <a:endParaRPr lang="en-US" sz="1500" dirty="0"/>
          </a:p>
        </p:txBody>
      </p:sp>
      <p:sp>
        <p:nvSpPr>
          <p:cNvPr id="9" name="card-24"/>
          <p:cNvSpPr/>
          <p:nvPr/>
        </p:nvSpPr>
        <p:spPr>
          <a:xfrm>
            <a:off x="6400800" y="1920240"/>
            <a:ext cx="4846320" cy="457200"/>
          </a:xfrm>
          <a:prstGeom prst="roundRect">
            <a:avLst>
              <a:gd name="adj" fmla="val 24000"/>
            </a:avLst>
          </a:prstGeom>
          <a:solidFill>
            <a:schemeClr val="accent5"/>
          </a:solidFill>
          <a:ln w="6350">
            <a:solidFill>
              <a:schemeClr val="accent5"/>
            </a:solidFill>
            <a:prstDash val="solid"/>
          </a:ln>
        </p:spPr>
      </p:sp>
      <p:sp>
        <p:nvSpPr>
          <p:cNvPr id="10" name="text-25"/>
          <p:cNvSpPr txBox="1"/>
          <p:nvPr/>
        </p:nvSpPr>
        <p:spPr>
          <a:xfrm>
            <a:off x="6400800" y="1920240"/>
            <a:ext cx="4846320" cy="457200"/>
          </a:xfrm>
          <a:prstGeom prst="rect">
            <a:avLst/>
          </a:prstGeom>
          <a:noFill/>
          <a:ln/>
        </p:spPr>
        <p:txBody>
          <a:bodyPr wrap="square" lIns="0" tIns="0" rIns="0" bIns="0" rtlCol="0" anchor="ctr"/>
          <a:lstStyle/>
          <a:p>
            <a:pPr algn="ctr" indent="0" marL="0">
              <a:buNone/>
            </a:pPr>
            <a:r>
              <a:rPr lang="en-US" sz="1500" b="1" dirty="0">
                <a:solidFill>
                  <a:schemeClr val="accent1"/>
                </a:solidFill>
              </a:rPr>
              <a:t>요청 B</a:t>
            </a:r>
            <a:endParaRPr lang="en-US" sz="1500" dirty="0"/>
          </a:p>
        </p:txBody>
      </p:sp>
      <p:sp>
        <p:nvSpPr>
          <p:cNvPr id="11" name="card-26"/>
          <p:cNvSpPr/>
          <p:nvPr/>
        </p:nvSpPr>
        <p:spPr>
          <a:xfrm>
            <a:off x="1188720" y="2560320"/>
            <a:ext cx="4846320" cy="548640"/>
          </a:xfrm>
          <a:prstGeom prst="roundRect">
            <a:avLst>
              <a:gd name="adj" fmla="val 20000"/>
            </a:avLst>
          </a:prstGeom>
          <a:solidFill>
            <a:schemeClr val="bg2"/>
          </a:solidFill>
          <a:ln w="6350">
            <a:solidFill>
              <a:schemeClr val="bg2"/>
            </a:solidFill>
            <a:prstDash val="solid"/>
          </a:ln>
        </p:spPr>
      </p:sp>
      <p:sp>
        <p:nvSpPr>
          <p:cNvPr id="12" name="text-27"/>
          <p:cNvSpPr txBox="1"/>
          <p:nvPr/>
        </p:nvSpPr>
        <p:spPr>
          <a:xfrm>
            <a:off x="1463040" y="2560320"/>
            <a:ext cx="4297680" cy="548640"/>
          </a:xfrm>
          <a:prstGeom prst="rect">
            <a:avLst/>
          </a:prstGeom>
          <a:noFill/>
          <a:ln/>
        </p:spPr>
        <p:txBody>
          <a:bodyPr wrap="square" lIns="0" tIns="0" rIns="0" bIns="0" rtlCol="0" anchor="ctr"/>
          <a:lstStyle/>
          <a:p>
            <a:pPr indent="0" marL="0">
              <a:buNone/>
            </a:pPr>
            <a:r>
              <a:rPr lang="en-US" sz="1600" dirty="0">
                <a:solidFill>
                  <a:schemeClr val="tx1"/>
                </a:solidFill>
              </a:rPr>
              <a:t>① 겹치는 예약 조회  →  없음</a:t>
            </a:r>
            <a:endParaRPr lang="en-US" sz="1600" dirty="0"/>
          </a:p>
        </p:txBody>
      </p:sp>
      <p:sp>
        <p:nvSpPr>
          <p:cNvPr id="13" name="card-28"/>
          <p:cNvSpPr/>
          <p:nvPr/>
        </p:nvSpPr>
        <p:spPr>
          <a:xfrm>
            <a:off x="6400800" y="3291840"/>
            <a:ext cx="4846320" cy="548640"/>
          </a:xfrm>
          <a:prstGeom prst="roundRect">
            <a:avLst>
              <a:gd name="adj" fmla="val 20000"/>
            </a:avLst>
          </a:prstGeom>
          <a:solidFill>
            <a:schemeClr val="bg2"/>
          </a:solidFill>
          <a:ln w="6350">
            <a:solidFill>
              <a:schemeClr val="bg2"/>
            </a:solidFill>
            <a:prstDash val="solid"/>
          </a:ln>
        </p:spPr>
      </p:sp>
      <p:sp>
        <p:nvSpPr>
          <p:cNvPr id="14" name="text-29"/>
          <p:cNvSpPr txBox="1"/>
          <p:nvPr/>
        </p:nvSpPr>
        <p:spPr>
          <a:xfrm>
            <a:off x="6675120" y="3291840"/>
            <a:ext cx="4297680" cy="548640"/>
          </a:xfrm>
          <a:prstGeom prst="rect">
            <a:avLst/>
          </a:prstGeom>
          <a:noFill/>
          <a:ln/>
        </p:spPr>
        <p:txBody>
          <a:bodyPr wrap="square" lIns="0" tIns="0" rIns="0" bIns="0" rtlCol="0" anchor="ctr"/>
          <a:lstStyle/>
          <a:p>
            <a:pPr indent="0" marL="0">
              <a:buNone/>
            </a:pPr>
            <a:r>
              <a:rPr lang="en-US" sz="1600" dirty="0">
                <a:solidFill>
                  <a:schemeClr val="tx1"/>
                </a:solidFill>
              </a:rPr>
              <a:t>② 겹치는 예약 조회  →  없음</a:t>
            </a:r>
            <a:endParaRPr lang="en-US" sz="1600" dirty="0"/>
          </a:p>
        </p:txBody>
      </p:sp>
      <p:sp>
        <p:nvSpPr>
          <p:cNvPr id="15" name="card-30"/>
          <p:cNvSpPr/>
          <p:nvPr/>
        </p:nvSpPr>
        <p:spPr>
          <a:xfrm>
            <a:off x="1188720" y="4023360"/>
            <a:ext cx="4846320" cy="548640"/>
          </a:xfrm>
          <a:prstGeom prst="roundRect">
            <a:avLst>
              <a:gd name="adj" fmla="val 20000"/>
            </a:avLst>
          </a:prstGeom>
          <a:solidFill>
            <a:schemeClr val="bg2"/>
          </a:solidFill>
          <a:ln w="6350">
            <a:solidFill>
              <a:schemeClr val="bg2"/>
            </a:solidFill>
            <a:prstDash val="solid"/>
          </a:ln>
        </p:spPr>
      </p:sp>
      <p:sp>
        <p:nvSpPr>
          <p:cNvPr id="16" name="text-31"/>
          <p:cNvSpPr txBox="1"/>
          <p:nvPr/>
        </p:nvSpPr>
        <p:spPr>
          <a:xfrm>
            <a:off x="1463040" y="4023360"/>
            <a:ext cx="4297680" cy="548640"/>
          </a:xfrm>
          <a:prstGeom prst="rect">
            <a:avLst/>
          </a:prstGeom>
          <a:noFill/>
          <a:ln/>
        </p:spPr>
        <p:txBody>
          <a:bodyPr wrap="square" lIns="0" tIns="0" rIns="0" bIns="0" rtlCol="0" anchor="ctr"/>
          <a:lstStyle/>
          <a:p>
            <a:pPr indent="0" marL="0">
              <a:buNone/>
            </a:pPr>
            <a:r>
              <a:rPr lang="en-US" sz="1600" dirty="0">
                <a:solidFill>
                  <a:schemeClr val="tx1"/>
                </a:solidFill>
              </a:rPr>
              <a:t>③ 저장  →  성공</a:t>
            </a:r>
            <a:endParaRPr lang="en-US" sz="1600" dirty="0"/>
          </a:p>
        </p:txBody>
      </p:sp>
      <p:sp>
        <p:nvSpPr>
          <p:cNvPr id="17" name="card-32"/>
          <p:cNvSpPr/>
          <p:nvPr/>
        </p:nvSpPr>
        <p:spPr>
          <a:xfrm>
            <a:off x="6400800" y="4754880"/>
            <a:ext cx="4846320" cy="548640"/>
          </a:xfrm>
          <a:prstGeom prst="roundRect">
            <a:avLst>
              <a:gd name="adj" fmla="val 20000"/>
            </a:avLst>
          </a:prstGeom>
          <a:solidFill>
            <a:schemeClr val="bg2"/>
          </a:solidFill>
          <a:ln w="6350">
            <a:solidFill>
              <a:schemeClr val="bg2"/>
            </a:solidFill>
            <a:prstDash val="solid"/>
          </a:ln>
        </p:spPr>
      </p:sp>
      <p:sp>
        <p:nvSpPr>
          <p:cNvPr id="18" name="text-33"/>
          <p:cNvSpPr txBox="1"/>
          <p:nvPr/>
        </p:nvSpPr>
        <p:spPr>
          <a:xfrm>
            <a:off x="6675120" y="4754880"/>
            <a:ext cx="4297680" cy="548640"/>
          </a:xfrm>
          <a:prstGeom prst="rect">
            <a:avLst/>
          </a:prstGeom>
          <a:noFill/>
          <a:ln/>
        </p:spPr>
        <p:txBody>
          <a:bodyPr wrap="square" lIns="0" tIns="0" rIns="0" bIns="0" rtlCol="0" anchor="ctr"/>
          <a:lstStyle/>
          <a:p>
            <a:pPr indent="0" marL="0">
              <a:buNone/>
            </a:pPr>
            <a:r>
              <a:rPr lang="en-US" sz="1600" dirty="0">
                <a:solidFill>
                  <a:schemeClr val="tx1"/>
                </a:solidFill>
              </a:rPr>
              <a:t>④ 저장  →  성공</a:t>
            </a:r>
            <a:endParaRPr lang="en-US" sz="1600" dirty="0"/>
          </a:p>
        </p:txBody>
      </p:sp>
      <p:sp>
        <p:nvSpPr>
          <p:cNvPr id="19" name="card-34"/>
          <p:cNvSpPr/>
          <p:nvPr/>
        </p:nvSpPr>
        <p:spPr>
          <a:xfrm>
            <a:off x="1188720" y="5532120"/>
            <a:ext cx="10058400" cy="640080"/>
          </a:xfrm>
          <a:prstGeom prst="roundRect">
            <a:avLst>
              <a:gd name="adj" fmla="val 17143"/>
            </a:avLst>
          </a:prstGeom>
          <a:solidFill>
            <a:schemeClr val="accent4"/>
          </a:solidFill>
          <a:ln w="6350">
            <a:solidFill>
              <a:schemeClr val="accent4"/>
            </a:solidFill>
            <a:prstDash val="solid"/>
          </a:ln>
        </p:spPr>
      </p:sp>
      <p:sp>
        <p:nvSpPr>
          <p:cNvPr id="20" name="text-35"/>
          <p:cNvSpPr txBox="1"/>
          <p:nvPr/>
        </p:nvSpPr>
        <p:spPr>
          <a:xfrm>
            <a:off x="1188720" y="5532120"/>
            <a:ext cx="10058400" cy="640080"/>
          </a:xfrm>
          <a:prstGeom prst="rect">
            <a:avLst/>
          </a:prstGeom>
          <a:noFill/>
          <a:ln/>
        </p:spPr>
        <p:txBody>
          <a:bodyPr wrap="square" lIns="0" tIns="0" rIns="0" bIns="0" rtlCol="0" anchor="ctr"/>
          <a:lstStyle/>
          <a:p>
            <a:pPr algn="ctr" indent="0" marL="0">
              <a:buNone/>
            </a:pPr>
            <a:r>
              <a:rPr lang="en-US" sz="1700" b="1" dirty="0">
                <a:solidFill>
                  <a:schemeClr val="bg1"/>
                </a:solidFill>
              </a:rPr>
              <a:t>둘 다 저장됨 → 중복 예약.  조회와 저장 사이에 다른 요청이 끼어든다</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해결: EXCLUSION 제약</a:t>
            </a:r>
            <a:endParaRPr lang="en-US" sz="3000" dirty="0"/>
          </a:p>
        </p:txBody>
      </p:sp>
      <p:sp>
        <p:nvSpPr>
          <p:cNvPr id="4" name="card-36"/>
          <p:cNvSpPr/>
          <p:nvPr/>
        </p:nvSpPr>
        <p:spPr>
          <a:xfrm>
            <a:off x="548640" y="1371600"/>
            <a:ext cx="6766560" cy="2834640"/>
          </a:xfrm>
          <a:prstGeom prst="roundRect">
            <a:avLst>
              <a:gd name="adj" fmla="val 3871"/>
            </a:avLst>
          </a:prstGeom>
          <a:solidFill>
            <a:schemeClr val="tx1"/>
          </a:solidFill>
          <a:ln w="6350">
            <a:solidFill>
              <a:schemeClr val="tx1"/>
            </a:solidFill>
            <a:prstDash val="solid"/>
          </a:ln>
        </p:spPr>
      </p:sp>
      <p:sp>
        <p:nvSpPr>
          <p:cNvPr id="5" name="code"/>
          <p:cNvSpPr txBox="1"/>
          <p:nvPr/>
        </p:nvSpPr>
        <p:spPr>
          <a:xfrm>
            <a:off x="822960" y="1554480"/>
            <a:ext cx="6309360" cy="2468880"/>
          </a:xfrm>
          <a:prstGeom prst="rect">
            <a:avLst/>
          </a:prstGeom>
          <a:noFill/>
          <a:ln/>
        </p:spPr>
        <p:txBody>
          <a:bodyPr wrap="square" lIns="0" tIns="0" rIns="0" bIns="0" rtlCol="0" anchor="ctr"/>
          <a:lstStyle/>
          <a:p>
            <a:pPr indent="0" marL="0">
              <a:buNone/>
            </a:pPr>
            <a:r>
              <a:rPr lang="en-US" sz="2000" dirty="0">
                <a:solidFill>
                  <a:schemeClr val="bg1"/>
                </a:solidFill>
                <a:latin typeface="Courier New" pitchFamily="34" charset="0"/>
                <a:ea typeface="Courier New" pitchFamily="34" charset="-122"/>
                <a:cs typeface="Courier New" pitchFamily="34" charset="-120"/>
              </a:rPr>
              <a:t>EXCLUDE USING gist (</a:t>
            </a:r>
            <a:endParaRPr lang="en-US" sz="2000" dirty="0"/>
          </a:p>
          <a:p>
            <a:pPr indent="0" marL="0">
              <a:buNone/>
            </a:pPr>
            <a:r>
              <a:rPr lang="en-US" sz="2000" dirty="0">
                <a:solidFill>
                  <a:schemeClr val="accent6"/>
                </a:solidFill>
                <a:latin typeface="Courier New" pitchFamily="34" charset="0"/>
                <a:ea typeface="Courier New" pitchFamily="34" charset="-122"/>
                <a:cs typeface="Courier New" pitchFamily="34" charset="-120"/>
              </a:rPr>
              <a:t>  room_id                     WITH =,</a:t>
            </a:r>
            <a:endParaRPr lang="en-US" sz="2000" dirty="0"/>
          </a:p>
          <a:p>
            <a:pPr indent="0" marL="0">
              <a:buNone/>
            </a:pPr>
            <a:r>
              <a:rPr lang="en-US" sz="2000" dirty="0">
                <a:solidFill>
                  <a:schemeClr val="accent2"/>
                </a:solidFill>
                <a:latin typeface="Courier New" pitchFamily="34" charset="0"/>
                <a:ea typeface="Courier New" pitchFamily="34" charset="-122"/>
                <a:cs typeface="Courier New" pitchFamily="34" charset="-120"/>
              </a:rPr>
              <a:t>  tstzrange(start_at, end_at) WITH &amp;&amp;</a:t>
            </a:r>
            <a:endParaRPr lang="en-US" sz="2000" dirty="0"/>
          </a:p>
          <a:p>
            <a:pPr indent="0" marL="0">
              <a:buNone/>
            </a:pPr>
            <a:r>
              <a:rPr lang="en-US" sz="2000" dirty="0">
                <a:solidFill>
                  <a:schemeClr val="accent3"/>
                </a:solidFill>
                <a:latin typeface="Courier New" pitchFamily="34" charset="0"/>
                <a:ea typeface="Courier New" pitchFamily="34" charset="-122"/>
                <a:cs typeface="Courier New" pitchFamily="34" charset="-120"/>
              </a:rPr>
              <a:t>) WHERE (status = 'confirmed')</a:t>
            </a:r>
            <a:endParaRPr lang="en-US" sz="2000" dirty="0"/>
          </a:p>
        </p:txBody>
      </p:sp>
      <p:sp>
        <p:nvSpPr>
          <p:cNvPr id="6" name="circle-37"/>
          <p:cNvSpPr/>
          <p:nvPr/>
        </p:nvSpPr>
        <p:spPr>
          <a:xfrm>
            <a:off x="7680960" y="1554480"/>
            <a:ext cx="548640" cy="548640"/>
          </a:xfrm>
          <a:prstGeom prst="ellipse">
            <a:avLst/>
          </a:prstGeom>
          <a:solidFill>
            <a:schemeClr val="accent6"/>
          </a:solidFill>
          <a:ln w="6350">
            <a:solidFill>
              <a:schemeClr val="accent6"/>
            </a:solidFill>
            <a:prstDash val="solid"/>
          </a:ln>
        </p:spPr>
      </p:sp>
      <p:sp>
        <p:nvSpPr>
          <p:cNvPr id="7" name="text-38"/>
          <p:cNvSpPr txBox="1"/>
          <p:nvPr/>
        </p:nvSpPr>
        <p:spPr>
          <a:xfrm>
            <a:off x="7680960" y="15544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8" name="text-39"/>
          <p:cNvSpPr txBox="1"/>
          <p:nvPr/>
        </p:nvSpPr>
        <p:spPr>
          <a:xfrm>
            <a:off x="8366760" y="1463040"/>
            <a:ext cx="3383280" cy="365760"/>
          </a:xfrm>
          <a:prstGeom prst="rect">
            <a:avLst/>
          </a:prstGeom>
          <a:noFill/>
          <a:ln/>
        </p:spPr>
        <p:txBody>
          <a:bodyPr wrap="square" lIns="0" tIns="0" rIns="0" bIns="0" rtlCol="0" anchor="t"/>
          <a:lstStyle/>
          <a:p>
            <a:pPr indent="0" marL="0">
              <a:buNone/>
            </a:pPr>
            <a:r>
              <a:rPr lang="en-US" sz="1600" b="1" dirty="0">
                <a:solidFill>
                  <a:schemeClr val="tx1"/>
                </a:solidFill>
              </a:rPr>
              <a:t>같은 회의실인가</a:t>
            </a:r>
            <a:endParaRPr lang="en-US" sz="1600" dirty="0"/>
          </a:p>
        </p:txBody>
      </p:sp>
      <p:sp>
        <p:nvSpPr>
          <p:cNvPr id="9" name="text-40"/>
          <p:cNvSpPr txBox="1"/>
          <p:nvPr/>
        </p:nvSpPr>
        <p:spPr>
          <a:xfrm>
            <a:off x="8366760" y="1847088"/>
            <a:ext cx="3383280" cy="320040"/>
          </a:xfrm>
          <a:prstGeom prst="rect">
            <a:avLst/>
          </a:prstGeom>
          <a:noFill/>
          <a:ln/>
        </p:spPr>
        <p:txBody>
          <a:bodyPr wrap="square" lIns="0" tIns="0" rIns="0" bIns="0" rtlCol="0" anchor="t"/>
          <a:lstStyle/>
          <a:p>
            <a:pPr indent="0" marL="0">
              <a:buNone/>
            </a:pPr>
            <a:r>
              <a:rPr lang="en-US" sz="1300" dirty="0">
                <a:solidFill>
                  <a:schemeClr val="tx2"/>
                </a:solidFill>
              </a:rPr>
              <a:t>room_id 를 비교</a:t>
            </a:r>
            <a:endParaRPr lang="en-US" sz="1300" dirty="0"/>
          </a:p>
        </p:txBody>
      </p:sp>
      <p:sp>
        <p:nvSpPr>
          <p:cNvPr id="10" name="circle-41"/>
          <p:cNvSpPr/>
          <p:nvPr/>
        </p:nvSpPr>
        <p:spPr>
          <a:xfrm>
            <a:off x="7680960" y="2468880"/>
            <a:ext cx="548640" cy="548640"/>
          </a:xfrm>
          <a:prstGeom prst="ellipse">
            <a:avLst/>
          </a:prstGeom>
          <a:solidFill>
            <a:schemeClr val="accent2"/>
          </a:solidFill>
          <a:ln w="6350">
            <a:solidFill>
              <a:schemeClr val="accent2"/>
            </a:solidFill>
            <a:prstDash val="solid"/>
          </a:ln>
        </p:spPr>
      </p:sp>
      <p:sp>
        <p:nvSpPr>
          <p:cNvPr id="11" name="text-42"/>
          <p:cNvSpPr txBox="1"/>
          <p:nvPr/>
        </p:nvSpPr>
        <p:spPr>
          <a:xfrm>
            <a:off x="7680960" y="24688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&amp;&amp;</a:t>
            </a:r>
            <a:endParaRPr lang="en-US" sz="1400" dirty="0"/>
          </a:p>
        </p:txBody>
      </p:sp>
      <p:sp>
        <p:nvSpPr>
          <p:cNvPr id="12" name="text-43"/>
          <p:cNvSpPr txBox="1"/>
          <p:nvPr/>
        </p:nvSpPr>
        <p:spPr>
          <a:xfrm>
            <a:off x="8366760" y="2377440"/>
            <a:ext cx="3383280" cy="365760"/>
          </a:xfrm>
          <a:prstGeom prst="rect">
            <a:avLst/>
          </a:prstGeom>
          <a:noFill/>
          <a:ln/>
        </p:spPr>
        <p:txBody>
          <a:bodyPr wrap="square" lIns="0" tIns="0" rIns="0" bIns="0" rtlCol="0" anchor="t"/>
          <a:lstStyle/>
          <a:p>
            <a:pPr indent="0" marL="0">
              <a:buNone/>
            </a:pPr>
            <a:r>
              <a:rPr lang="en-US" sz="1600" b="1" dirty="0">
                <a:solidFill>
                  <a:schemeClr val="tx1"/>
                </a:solidFill>
              </a:rPr>
              <a:t>시간 구간이 겹치는가</a:t>
            </a:r>
            <a:endParaRPr lang="en-US" sz="1600" dirty="0"/>
          </a:p>
        </p:txBody>
      </p:sp>
      <p:sp>
        <p:nvSpPr>
          <p:cNvPr id="13" name="text-44"/>
          <p:cNvSpPr txBox="1"/>
          <p:nvPr/>
        </p:nvSpPr>
        <p:spPr>
          <a:xfrm>
            <a:off x="8366760" y="2761488"/>
            <a:ext cx="3383280" cy="320040"/>
          </a:xfrm>
          <a:prstGeom prst="rect">
            <a:avLst/>
          </a:prstGeom>
          <a:noFill/>
          <a:ln/>
        </p:spPr>
        <p:txBody>
          <a:bodyPr wrap="square" lIns="0" tIns="0" rIns="0" bIns="0" rtlCol="0" anchor="t"/>
          <a:lstStyle/>
          <a:p>
            <a:pPr indent="0" marL="0">
              <a:buNone/>
            </a:pPr>
            <a:r>
              <a:rPr lang="en-US" sz="1300" dirty="0">
                <a:solidFill>
                  <a:schemeClr val="tx2"/>
                </a:solidFill>
              </a:rPr>
              <a:t>tstzrange 범위 연산자</a:t>
            </a:r>
            <a:endParaRPr lang="en-US" sz="1300" dirty="0"/>
          </a:p>
        </p:txBody>
      </p:sp>
      <p:sp>
        <p:nvSpPr>
          <p:cNvPr id="14" name="circle-45"/>
          <p:cNvSpPr/>
          <p:nvPr/>
        </p:nvSpPr>
        <p:spPr>
          <a:xfrm>
            <a:off x="7680960" y="3383280"/>
            <a:ext cx="548640" cy="548640"/>
          </a:xfrm>
          <a:prstGeom prst="ellipse">
            <a:avLst/>
          </a:prstGeom>
          <a:solidFill>
            <a:schemeClr val="accent3"/>
          </a:solidFill>
          <a:ln w="6350">
            <a:solidFill>
              <a:schemeClr val="accent3"/>
            </a:solidFill>
            <a:prstDash val="solid"/>
          </a:ln>
        </p:spPr>
      </p:sp>
      <p:sp>
        <p:nvSpPr>
          <p:cNvPr id="15" name="text-46"/>
          <p:cNvSpPr txBox="1"/>
          <p:nvPr/>
        </p:nvSpPr>
        <p:spPr>
          <a:xfrm>
            <a:off x="7680960" y="33832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if</a:t>
            </a:r>
            <a:endParaRPr lang="en-US" sz="1400" dirty="0"/>
          </a:p>
        </p:txBody>
      </p:sp>
      <p:sp>
        <p:nvSpPr>
          <p:cNvPr id="16" name="text-47"/>
          <p:cNvSpPr txBox="1"/>
          <p:nvPr/>
        </p:nvSpPr>
        <p:spPr>
          <a:xfrm>
            <a:off x="8366760" y="3291840"/>
            <a:ext cx="3383280" cy="365760"/>
          </a:xfrm>
          <a:prstGeom prst="rect">
            <a:avLst/>
          </a:prstGeom>
          <a:noFill/>
          <a:ln/>
        </p:spPr>
        <p:txBody>
          <a:bodyPr wrap="square" lIns="0" tIns="0" rIns="0" bIns="0" rtlCol="0" anchor="t"/>
          <a:lstStyle/>
          <a:p>
            <a:pPr indent="0" marL="0">
              <a:buNone/>
            </a:pPr>
            <a:r>
              <a:rPr lang="en-US" sz="1600" b="1" dirty="0">
                <a:solidFill>
                  <a:schemeClr val="tx1"/>
                </a:solidFill>
              </a:rPr>
              <a:t>확정 예약끼리만</a:t>
            </a:r>
            <a:endParaRPr lang="en-US" sz="1600" dirty="0"/>
          </a:p>
        </p:txBody>
      </p:sp>
      <p:sp>
        <p:nvSpPr>
          <p:cNvPr id="17" name="text-48"/>
          <p:cNvSpPr txBox="1"/>
          <p:nvPr/>
        </p:nvSpPr>
        <p:spPr>
          <a:xfrm>
            <a:off x="8366760" y="3675888"/>
            <a:ext cx="3383280" cy="320040"/>
          </a:xfrm>
          <a:prstGeom prst="rect">
            <a:avLst/>
          </a:prstGeom>
          <a:noFill/>
          <a:ln/>
        </p:spPr>
        <p:txBody>
          <a:bodyPr wrap="square" lIns="0" tIns="0" rIns="0" bIns="0" rtlCol="0" anchor="t"/>
          <a:lstStyle/>
          <a:p>
            <a:pPr indent="0" marL="0">
              <a:buNone/>
            </a:pPr>
            <a:r>
              <a:rPr lang="en-US" sz="1300" dirty="0">
                <a:solidFill>
                  <a:schemeClr val="tx2"/>
                </a:solidFill>
              </a:rPr>
              <a:t>취소하면 그 시간이 다시 열림</a:t>
            </a:r>
            <a:endParaRPr lang="en-US" sz="1300" dirty="0"/>
          </a:p>
        </p:txBody>
      </p:sp>
      <p:sp>
        <p:nvSpPr>
          <p:cNvPr id="18" name="card-49"/>
          <p:cNvSpPr/>
          <p:nvPr/>
        </p:nvSpPr>
        <p:spPr>
          <a:xfrm>
            <a:off x="548640" y="4572000"/>
            <a:ext cx="11064240" cy="1371600"/>
          </a:xfrm>
          <a:prstGeom prst="roundRect">
            <a:avLst>
              <a:gd name="adj" fmla="val 8000"/>
            </a:avLst>
          </a:prstGeom>
          <a:solidFill>
            <a:schemeClr val="accent5"/>
          </a:solidFill>
          <a:ln w="6350">
            <a:solidFill>
              <a:schemeClr val="accent5"/>
            </a:solidFill>
            <a:prstDash val="solid"/>
          </a:ln>
        </p:spPr>
      </p:sp>
      <p:sp>
        <p:nvSpPr>
          <p:cNvPr id="19" name="text-50"/>
          <p:cNvSpPr txBox="1"/>
          <p:nvPr/>
        </p:nvSpPr>
        <p:spPr>
          <a:xfrm>
            <a:off x="822960" y="4572000"/>
            <a:ext cx="10515600" cy="1371600"/>
          </a:xfrm>
          <a:prstGeom prst="rect">
            <a:avLst/>
          </a:prstGeom>
          <a:noFill/>
          <a:ln/>
        </p:spPr>
        <p:txBody>
          <a:bodyPr wrap="square" lIns="0" tIns="0" rIns="0" bIns="0" rtlCol="0" anchor="ctr"/>
          <a:lstStyle/>
          <a:p>
            <a:pPr algn="ctr" indent="0" marL="0">
              <a:buNone/>
            </a:pPr>
            <a:r>
              <a:rPr lang="en-US" sz="2000" b="1" dirty="0">
                <a:solidFill>
                  <a:schemeClr val="tx1"/>
                </a:solidFill>
              </a:rPr>
              <a:t>저장하는 순간 DB가 원자적으로 판정한다</a:t>
            </a:r>
            <a:endParaRPr lang="en-US" sz="2000" dirty="0"/>
          </a:p>
          <a:p>
            <a:pPr algn="ctr" indent="0" marL="0">
              <a:buNone/>
            </a:pPr>
            <a:r>
              <a:rPr lang="en-US" sz="2000" b="1" dirty="0">
                <a:solidFill>
                  <a:schemeClr val="tx1"/>
                </a:solidFill>
              </a:rPr>
              <a:t>동시에 들어와도 하나만 성공, 나머지는 23P01 에러</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왜 EXCLUSION인가 — 대안 비교</a:t>
            </a:r>
            <a:endParaRPr lang="en-US" sz="30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822960" y="1463040"/>
          <a:ext cx="10515600" cy="914400"/>
        </p:xfrm>
        <a:graphic>
          <a:graphicData uri="http://schemas.openxmlformats.org/drawingml/2006/table">
            <a:tbl>
              <a:tblPr/>
              <a:tblGrid>
                <a:gridCol w="3931920"/>
                <a:gridCol w="2194560"/>
                <a:gridCol w="2194560"/>
                <a:gridCol w="2194560"/>
              </a:tblGrid>
              <a:tr h="640080">
                <a:tc>
                  <a:txBody>
                    <a:bodyPr/>
                    <a:lstStyle/>
                    <a:p>
                      <a:pPr indent="0" marL="0">
                        <a:buNone/>
                      </a:pPr>
                      <a:r>
                        <a:rPr lang="en-US" sz="1600" b="1" dirty="0">
                          <a:solidFill>
                            <a:schemeClr val="bg1"/>
                          </a:solidFill>
                        </a:rPr>
                        <a:t>방식</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중복 차단</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동시 요청 안전</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임의 시간 구간</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640080">
                <a:tc>
                  <a:txBody>
                    <a:bodyPr/>
                    <a:lstStyle/>
                    <a:p>
                      <a:pPr indent="0" marL="0">
                        <a:buNone/>
                      </a:pPr>
                      <a:r>
                        <a:rPr lang="en-US" sz="1600" dirty="0">
                          <a:solidFill>
                            <a:schemeClr val="tx1"/>
                          </a:solidFill>
                        </a:rPr>
                        <a:t>앱 코드 (조회 후 저장)</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accent4"/>
                          </a:solidFill>
                        </a:rPr>
                        <a:t>✗  race condition</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640080">
                <a:tc>
                  <a:txBody>
                    <a:bodyPr/>
                    <a:lstStyle/>
                    <a:p>
                      <a:pPr indent="0" marL="0">
                        <a:buNone/>
                      </a:pPr>
                      <a:r>
                        <a:rPr lang="en-US" sz="1600" dirty="0">
                          <a:solidFill>
                            <a:schemeClr val="tx1"/>
                          </a:solidFill>
                        </a:rPr>
                        <a:t>UNIQUE (고정 슬롯)</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600" dirty="0">
                          <a:solidFill>
                            <a:schemeClr val="accent4"/>
                          </a:solidFill>
                        </a:rPr>
                        <a:t>✗  정시 단위만</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640080">
                <a:tc>
                  <a:txBody>
                    <a:bodyPr/>
                    <a:lstStyle/>
                    <a:p>
                      <a:pPr indent="0" marL="0">
                        <a:buNone/>
                      </a:pPr>
                      <a:r>
                        <a:rPr lang="en-US" sz="1600" b="1" dirty="0">
                          <a:solidFill>
                            <a:schemeClr val="tx1"/>
                          </a:solidFill>
                        </a:rPr>
                        <a:t>EXCLUSION (range)</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tx1"/>
                          </a:solidFill>
                        </a:rPr>
                        <a:t>✓</a:t>
                      </a:r>
                      <a:endParaRPr lang="en-US" sz="16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accent5"/>
                    </a:solidFill>
                  </a:tcPr>
                </a:tc>
              </a:tr>
            </a:tbl>
          </a:graphicData>
        </a:graphic>
      </p:graphicFrame>
      <p:sp>
        <p:nvSpPr>
          <p:cNvPr id="5" name="text-51"/>
          <p:cNvSpPr txBox="1"/>
          <p:nvPr/>
        </p:nvSpPr>
        <p:spPr>
          <a:xfrm>
            <a:off x="822960" y="4251960"/>
            <a:ext cx="4572000" cy="320040"/>
          </a:xfrm>
          <a:prstGeom prst="rect">
            <a:avLst/>
          </a:prstGeom>
          <a:noFill/>
          <a:ln/>
        </p:spPr>
        <p:txBody>
          <a:bodyPr wrap="square" lIns="0" tIns="0" rIns="0" bIns="0" rtlCol="0" anchor="t"/>
          <a:lstStyle/>
          <a:p>
            <a:pPr indent="0" marL="0">
              <a:buNone/>
            </a:pPr>
            <a:r>
              <a:rPr lang="en-US" sz="1400" b="1" dirty="0">
                <a:solidFill>
                  <a:schemeClr val="tx2"/>
                </a:solidFill>
              </a:rPr>
              <a:t>부분 겹침 예시</a:t>
            </a:r>
            <a:endParaRPr lang="en-US" sz="1400" dirty="0"/>
          </a:p>
        </p:txBody>
      </p:sp>
      <p:sp>
        <p:nvSpPr>
          <p:cNvPr id="6" name="card-52"/>
          <p:cNvSpPr/>
          <p:nvPr/>
        </p:nvSpPr>
        <p:spPr>
          <a:xfrm>
            <a:off x="822960" y="4617720"/>
            <a:ext cx="2743200" cy="411480"/>
          </a:xfrm>
          <a:prstGeom prst="roundRect">
            <a:avLst>
              <a:gd name="adj" fmla="val 26667"/>
            </a:avLst>
          </a:prstGeom>
          <a:solidFill>
            <a:schemeClr val="accent1"/>
          </a:solidFill>
          <a:ln w="6350">
            <a:solidFill>
              <a:schemeClr val="accent1"/>
            </a:solidFill>
            <a:prstDash val="solid"/>
          </a:ln>
        </p:spPr>
      </p:sp>
      <p:sp>
        <p:nvSpPr>
          <p:cNvPr id="7" name="text-53"/>
          <p:cNvSpPr txBox="1"/>
          <p:nvPr/>
        </p:nvSpPr>
        <p:spPr>
          <a:xfrm>
            <a:off x="822960" y="4617720"/>
            <a:ext cx="2743200" cy="411480"/>
          </a:xfrm>
          <a:prstGeom prst="rect">
            <a:avLst/>
          </a:prstGeom>
          <a:noFill/>
          <a:ln/>
        </p:spPr>
        <p:txBody>
          <a:bodyPr wrap="square" lIns="0" tIns="0" rIns="0" bIns="0" rtlCol="0" anchor="ctr"/>
          <a:lstStyle/>
          <a:p>
            <a:pPr algn="ctr" indent="0" marL="0">
              <a:buNone/>
            </a:pPr>
            <a:r>
              <a:rPr lang="en-US" sz="1300" b="1" dirty="0">
                <a:solidFill>
                  <a:schemeClr val="bg1"/>
                </a:solidFill>
              </a:rPr>
              <a:t>11:00 – 12:00</a:t>
            </a:r>
            <a:endParaRPr lang="en-US" sz="1300" dirty="0"/>
          </a:p>
        </p:txBody>
      </p:sp>
      <p:sp>
        <p:nvSpPr>
          <p:cNvPr id="8" name="card-54"/>
          <p:cNvSpPr/>
          <p:nvPr/>
        </p:nvSpPr>
        <p:spPr>
          <a:xfrm>
            <a:off x="2194560" y="5120640"/>
            <a:ext cx="2743200" cy="411480"/>
          </a:xfrm>
          <a:prstGeom prst="roundRect">
            <a:avLst>
              <a:gd name="adj" fmla="val 26667"/>
            </a:avLst>
          </a:prstGeom>
          <a:solidFill>
            <a:schemeClr val="accent4"/>
          </a:solidFill>
          <a:ln w="6350">
            <a:solidFill>
              <a:schemeClr val="accent4"/>
            </a:solidFill>
            <a:prstDash val="solid"/>
          </a:ln>
        </p:spPr>
      </p:sp>
      <p:sp>
        <p:nvSpPr>
          <p:cNvPr id="9" name="text-55"/>
          <p:cNvSpPr txBox="1"/>
          <p:nvPr/>
        </p:nvSpPr>
        <p:spPr>
          <a:xfrm>
            <a:off x="2194560" y="5120640"/>
            <a:ext cx="2743200" cy="411480"/>
          </a:xfrm>
          <a:prstGeom prst="rect">
            <a:avLst/>
          </a:prstGeom>
          <a:noFill/>
          <a:ln/>
        </p:spPr>
        <p:txBody>
          <a:bodyPr wrap="square" lIns="0" tIns="0" rIns="0" bIns="0" rtlCol="0" anchor="ctr"/>
          <a:lstStyle/>
          <a:p>
            <a:pPr algn="ctr" indent="0" marL="0">
              <a:buNone/>
            </a:pPr>
            <a:r>
              <a:rPr lang="en-US" sz="1300" b="1" dirty="0">
                <a:solidFill>
                  <a:schemeClr val="bg1"/>
                </a:solidFill>
              </a:rPr>
              <a:t>11:30 – 12:30</a:t>
            </a:r>
            <a:endParaRPr lang="en-US" sz="1300" dirty="0"/>
          </a:p>
        </p:txBody>
      </p:sp>
      <p:sp>
        <p:nvSpPr>
          <p:cNvPr id="10" name="text-56"/>
          <p:cNvSpPr txBox="1"/>
          <p:nvPr/>
        </p:nvSpPr>
        <p:spPr>
          <a:xfrm>
            <a:off x="5669280" y="4617720"/>
            <a:ext cx="5760720" cy="411480"/>
          </a:xfrm>
          <a:prstGeom prst="rect">
            <a:avLst/>
          </a:prstGeom>
          <a:noFill/>
          <a:ln/>
        </p:spPr>
        <p:txBody>
          <a:bodyPr wrap="square" lIns="0" tIns="0" rIns="0" bIns="0" rtlCol="0" anchor="ctr"/>
          <a:lstStyle/>
          <a:p>
            <a:pPr indent="0" marL="0">
              <a:buNone/>
            </a:pPr>
            <a:r>
              <a:rPr lang="en-US" sz="1400" dirty="0">
                <a:solidFill>
                  <a:schemeClr val="tx2"/>
                </a:solidFill>
              </a:rPr>
              <a:t>UNIQUE:  11:00 ≠ 11:30  →  '다른 값'이라 통과해 버림</a:t>
            </a:r>
            <a:endParaRPr lang="en-US" sz="1400" dirty="0"/>
          </a:p>
        </p:txBody>
      </p:sp>
      <p:sp>
        <p:nvSpPr>
          <p:cNvPr id="11" name="text-57"/>
          <p:cNvSpPr txBox="1"/>
          <p:nvPr/>
        </p:nvSpPr>
        <p:spPr>
          <a:xfrm>
            <a:off x="5669280" y="5120640"/>
            <a:ext cx="5760720" cy="411480"/>
          </a:xfrm>
          <a:prstGeom prst="rect">
            <a:avLst/>
          </a:prstGeom>
          <a:noFill/>
          <a:ln/>
        </p:spPr>
        <p:txBody>
          <a:bodyPr wrap="square" lIns="0" tIns="0" rIns="0" bIns="0" rtlCol="0" anchor="ctr"/>
          <a:lstStyle/>
          <a:p>
            <a:pPr indent="0" marL="0">
              <a:buNone/>
            </a:pPr>
            <a:r>
              <a:rPr lang="en-US" sz="1400" b="1" dirty="0">
                <a:solidFill>
                  <a:schemeClr val="accent1"/>
                </a:solidFill>
              </a:rPr>
              <a:t>EXCLUSION:  11:30 – 12:00 구간이 겹치므로 차단</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ERD — 1:N · 1:1 · M:N</a:t>
            </a:r>
            <a:endParaRPr lang="en-US" sz="3000" dirty="0"/>
          </a:p>
        </p:txBody>
      </p:sp>
      <p:pic>
        <p:nvPicPr>
          <p:cNvPr id="4" name="erd" descr="/Applications/week01/project01/docs/erd.png">    </p:cNvPr>
          <p:cNvPicPr>
            <a:picLocks noChangeAspect="1"/>
          </p:cNvPicPr>
          <p:nvPr/>
        </p:nvPicPr>
        <p:blipFill>
          <a:blip r:embed="rId1"/>
          <a:srcRect l="0" r="0" t="0" b="30000"/>
          <a:stretch/>
        </p:blipFill>
        <p:spPr>
          <a:xfrm>
            <a:off x="548640" y="1280160"/>
            <a:ext cx="6949440" cy="4864608"/>
          </a:xfrm>
          <a:prstGeom prst="rect">
            <a:avLst/>
          </a:prstGeom>
        </p:spPr>
      </p:pic>
      <p:sp>
        <p:nvSpPr>
          <p:cNvPr id="5" name="text-58"/>
          <p:cNvSpPr txBox="1"/>
          <p:nvPr/>
        </p:nvSpPr>
        <p:spPr>
          <a:xfrm>
            <a:off x="7863840" y="1325880"/>
            <a:ext cx="3749040" cy="411480"/>
          </a:xfrm>
          <a:prstGeom prst="rect">
            <a:avLst/>
          </a:prstGeom>
          <a:noFill/>
          <a:ln/>
        </p:spPr>
        <p:txBody>
          <a:bodyPr wrap="square" lIns="0" tIns="0" rIns="0" bIns="0" rtlCol="0" anchor="t"/>
          <a:lstStyle/>
          <a:p>
            <a:pPr indent="0" marL="0">
              <a:buNone/>
            </a:pPr>
            <a:r>
              <a:rPr lang="en-US" sz="1800" b="1" dirty="0">
                <a:solidFill>
                  <a:schemeClr val="tx1"/>
                </a:solidFill>
              </a:rPr>
              <a:t>관계 유형</a:t>
            </a:r>
            <a:endParaRPr lang="en-US" sz="1800" dirty="0"/>
          </a:p>
        </p:txBody>
      </p:sp>
      <p:sp>
        <p:nvSpPr>
          <p:cNvPr id="6" name="card-59"/>
          <p:cNvSpPr/>
          <p:nvPr/>
        </p:nvSpPr>
        <p:spPr>
          <a:xfrm>
            <a:off x="7863840" y="1874520"/>
            <a:ext cx="3749040" cy="868680"/>
          </a:xfrm>
          <a:prstGeom prst="roundRect">
            <a:avLst>
              <a:gd name="adj" fmla="val 12632"/>
            </a:avLst>
          </a:prstGeom>
          <a:solidFill>
            <a:schemeClr val="bg2"/>
          </a:solidFill>
          <a:ln w="6350">
            <a:solidFill>
              <a:schemeClr val="bg2"/>
            </a:solidFill>
            <a:prstDash val="solid"/>
          </a:ln>
        </p:spPr>
      </p:sp>
      <p:sp>
        <p:nvSpPr>
          <p:cNvPr id="7" name="text-60"/>
          <p:cNvSpPr txBox="1"/>
          <p:nvPr/>
        </p:nvSpPr>
        <p:spPr>
          <a:xfrm>
            <a:off x="8092440" y="1984248"/>
            <a:ext cx="3383280" cy="320040"/>
          </a:xfrm>
          <a:prstGeom prst="rect">
            <a:avLst/>
          </a:prstGeom>
          <a:noFill/>
          <a:ln/>
        </p:spPr>
        <p:txBody>
          <a:bodyPr wrap="square" lIns="0" tIns="0" rIns="0" bIns="0" rtlCol="0" anchor="t"/>
          <a:lstStyle/>
          <a:p>
            <a:pPr indent="0" marL="0">
              <a:buNone/>
            </a:pPr>
            <a:r>
              <a:rPr lang="en-US" sz="1500" b="1" dirty="0">
                <a:solidFill>
                  <a:schemeClr val="tx1"/>
                </a:solidFill>
              </a:rPr>
              <a:t>rooms → reservations   1 : N</a:t>
            </a:r>
            <a:endParaRPr lang="en-US" sz="1500" dirty="0"/>
          </a:p>
        </p:txBody>
      </p:sp>
      <p:sp>
        <p:nvSpPr>
          <p:cNvPr id="8" name="text-61"/>
          <p:cNvSpPr txBox="1"/>
          <p:nvPr/>
        </p:nvSpPr>
        <p:spPr>
          <a:xfrm>
            <a:off x="8092440" y="2331720"/>
            <a:ext cx="3383280" cy="320040"/>
          </a:xfrm>
          <a:prstGeom prst="rect">
            <a:avLst/>
          </a:prstGeom>
          <a:noFill/>
          <a:ln/>
        </p:spPr>
        <p:txBody>
          <a:bodyPr wrap="square" lIns="0" tIns="0" rIns="0" bIns="0" rtlCol="0" anchor="t"/>
          <a:lstStyle/>
          <a:p>
            <a:pPr indent="0" marL="0">
              <a:buNone/>
            </a:pPr>
            <a:r>
              <a:rPr lang="en-US" sz="1200" dirty="0">
                <a:solidFill>
                  <a:schemeClr val="tx2"/>
                </a:solidFill>
              </a:rPr>
              <a:t>회의실 하나에 예약 여러 개</a:t>
            </a:r>
            <a:endParaRPr lang="en-US" sz="1200" dirty="0"/>
          </a:p>
        </p:txBody>
      </p:sp>
      <p:sp>
        <p:nvSpPr>
          <p:cNvPr id="9" name="card-62"/>
          <p:cNvSpPr/>
          <p:nvPr/>
        </p:nvSpPr>
        <p:spPr>
          <a:xfrm>
            <a:off x="7863840" y="2880360"/>
            <a:ext cx="3749040" cy="868680"/>
          </a:xfrm>
          <a:prstGeom prst="roundRect">
            <a:avLst>
              <a:gd name="adj" fmla="val 12632"/>
            </a:avLst>
          </a:prstGeom>
          <a:solidFill>
            <a:schemeClr val="bg2"/>
          </a:solidFill>
          <a:ln w="6350">
            <a:solidFill>
              <a:schemeClr val="bg2"/>
            </a:solidFill>
            <a:prstDash val="solid"/>
          </a:ln>
        </p:spPr>
      </p:sp>
      <p:sp>
        <p:nvSpPr>
          <p:cNvPr id="10" name="text-63"/>
          <p:cNvSpPr txBox="1"/>
          <p:nvPr/>
        </p:nvSpPr>
        <p:spPr>
          <a:xfrm>
            <a:off x="8092440" y="2990088"/>
            <a:ext cx="3383280" cy="320040"/>
          </a:xfrm>
          <a:prstGeom prst="rect">
            <a:avLst/>
          </a:prstGeom>
          <a:noFill/>
          <a:ln/>
        </p:spPr>
        <p:txBody>
          <a:bodyPr wrap="square" lIns="0" tIns="0" rIns="0" bIns="0" rtlCol="0" anchor="t"/>
          <a:lstStyle/>
          <a:p>
            <a:pPr indent="0" marL="0">
              <a:buNone/>
            </a:pPr>
            <a:r>
              <a:rPr lang="en-US" sz="1500" b="1" dirty="0">
                <a:solidFill>
                  <a:schemeClr val="tx1"/>
                </a:solidFill>
              </a:rPr>
              <a:t>auth.users ↔ profiles   1 : 1</a:t>
            </a:r>
            <a:endParaRPr lang="en-US" sz="1500" dirty="0"/>
          </a:p>
        </p:txBody>
      </p:sp>
      <p:sp>
        <p:nvSpPr>
          <p:cNvPr id="11" name="text-64"/>
          <p:cNvSpPr txBox="1"/>
          <p:nvPr/>
        </p:nvSpPr>
        <p:spPr>
          <a:xfrm>
            <a:off x="8092440" y="3337560"/>
            <a:ext cx="3383280" cy="320040"/>
          </a:xfrm>
          <a:prstGeom prst="rect">
            <a:avLst/>
          </a:prstGeom>
          <a:noFill/>
          <a:ln/>
        </p:spPr>
        <p:txBody>
          <a:bodyPr wrap="square" lIns="0" tIns="0" rIns="0" bIns="0" rtlCol="0" anchor="t"/>
          <a:lstStyle/>
          <a:p>
            <a:pPr indent="0" marL="0">
              <a:buNone/>
            </a:pPr>
            <a:r>
              <a:rPr lang="en-US" sz="1200" dirty="0">
                <a:solidFill>
                  <a:schemeClr val="tx2"/>
                </a:solidFill>
              </a:rPr>
              <a:t>PK가 곧 FK, 가입 시 트리거로 자동 생성</a:t>
            </a:r>
            <a:endParaRPr lang="en-US" sz="1200" dirty="0"/>
          </a:p>
        </p:txBody>
      </p:sp>
      <p:sp>
        <p:nvSpPr>
          <p:cNvPr id="12" name="card-65"/>
          <p:cNvSpPr/>
          <p:nvPr/>
        </p:nvSpPr>
        <p:spPr>
          <a:xfrm>
            <a:off x="7863840" y="3886200"/>
            <a:ext cx="3749040" cy="868680"/>
          </a:xfrm>
          <a:prstGeom prst="roundRect">
            <a:avLst>
              <a:gd name="adj" fmla="val 12632"/>
            </a:avLst>
          </a:prstGeom>
          <a:solidFill>
            <a:schemeClr val="bg2"/>
          </a:solidFill>
          <a:ln w="6350">
            <a:solidFill>
              <a:schemeClr val="bg2"/>
            </a:solidFill>
            <a:prstDash val="solid"/>
          </a:ln>
        </p:spPr>
      </p:sp>
      <p:sp>
        <p:nvSpPr>
          <p:cNvPr id="13" name="text-66"/>
          <p:cNvSpPr txBox="1"/>
          <p:nvPr/>
        </p:nvSpPr>
        <p:spPr>
          <a:xfrm>
            <a:off x="8092440" y="3995928"/>
            <a:ext cx="3383280" cy="320040"/>
          </a:xfrm>
          <a:prstGeom prst="rect">
            <a:avLst/>
          </a:prstGeom>
          <a:noFill/>
          <a:ln/>
        </p:spPr>
        <p:txBody>
          <a:bodyPr wrap="square" lIns="0" tIns="0" rIns="0" bIns="0" rtlCol="0" anchor="t"/>
          <a:lstStyle/>
          <a:p>
            <a:pPr indent="0" marL="0">
              <a:buNone/>
            </a:pPr>
            <a:r>
              <a:rPr lang="en-US" sz="1500" b="1" dirty="0">
                <a:solidFill>
                  <a:schemeClr val="tx1"/>
                </a:solidFill>
              </a:rPr>
              <a:t>reservations ↔ profiles   M : N</a:t>
            </a:r>
            <a:endParaRPr lang="en-US" sz="1500" dirty="0"/>
          </a:p>
        </p:txBody>
      </p:sp>
      <p:sp>
        <p:nvSpPr>
          <p:cNvPr id="14" name="text-67"/>
          <p:cNvSpPr txBox="1"/>
          <p:nvPr/>
        </p:nvSpPr>
        <p:spPr>
          <a:xfrm>
            <a:off x="8092440" y="4343400"/>
            <a:ext cx="3383280" cy="320040"/>
          </a:xfrm>
          <a:prstGeom prst="rect">
            <a:avLst/>
          </a:prstGeom>
          <a:noFill/>
          <a:ln/>
        </p:spPr>
        <p:txBody>
          <a:bodyPr wrap="square" lIns="0" tIns="0" rIns="0" bIns="0" rtlCol="0" anchor="t"/>
          <a:lstStyle/>
          <a:p>
            <a:pPr indent="0" marL="0">
              <a:buNone/>
            </a:pPr>
            <a:r>
              <a:rPr lang="en-US" sz="1200" dirty="0">
                <a:solidFill>
                  <a:schemeClr val="tx2"/>
                </a:solidFill>
              </a:rPr>
              <a:t>reservation_participants 조인, 복합 PK</a:t>
            </a:r>
            <a:endParaRPr lang="en-US" sz="1200" dirty="0"/>
          </a:p>
        </p:txBody>
      </p:sp>
      <p:sp>
        <p:nvSpPr>
          <p:cNvPr id="15" name="card-68"/>
          <p:cNvSpPr/>
          <p:nvPr/>
        </p:nvSpPr>
        <p:spPr>
          <a:xfrm>
            <a:off x="7863840" y="4983480"/>
            <a:ext cx="3749040" cy="1005840"/>
          </a:xfrm>
          <a:prstGeom prst="roundRect">
            <a:avLst>
              <a:gd name="adj" fmla="val 10909"/>
            </a:avLst>
          </a:prstGeom>
          <a:solidFill>
            <a:schemeClr val="accent5"/>
          </a:solidFill>
          <a:ln w="6350">
            <a:solidFill>
              <a:schemeClr val="accent5"/>
            </a:solidFill>
            <a:prstDash val="solid"/>
          </a:ln>
        </p:spPr>
      </p:sp>
      <p:sp>
        <p:nvSpPr>
          <p:cNvPr id="16" name="text-69"/>
          <p:cNvSpPr txBox="1"/>
          <p:nvPr/>
        </p:nvSpPr>
        <p:spPr>
          <a:xfrm>
            <a:off x="8092440" y="4983480"/>
            <a:ext cx="3291840" cy="1005840"/>
          </a:xfrm>
          <a:prstGeom prst="rect">
            <a:avLst/>
          </a:prstGeom>
          <a:noFill/>
          <a:ln/>
        </p:spPr>
        <p:txBody>
          <a:bodyPr wrap="square" lIns="0" tIns="0" rIns="0" bIns="0" rtlCol="0" anchor="ctr"/>
          <a:lstStyle/>
          <a:p>
            <a:pPr algn="ctr" indent="0" marL="0">
              <a:buNone/>
            </a:pPr>
            <a:r>
              <a:rPr lang="en-US" sz="1400" b="1" dirty="0">
                <a:solidFill>
                  <a:schemeClr val="tx1"/>
                </a:solidFill>
              </a:rPr>
              <a:t>핵심 제약은 reservations 에</a:t>
            </a:r>
            <a:endParaRPr lang="en-US" sz="1400" dirty="0"/>
          </a:p>
          <a:p>
            <a:pPr algn="ctr" indent="0" marL="0">
              <a:buNone/>
            </a:pPr>
            <a:r>
              <a:rPr lang="en-US" sz="1400" b="1" dirty="0">
                <a:solidFill>
                  <a:schemeClr val="tx1"/>
                </a:solidFill>
              </a:rPr>
              <a:t>EXCLUDE 로 — 그림 아래 노란 상자</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규칙 7가지를 DB가 지킨다</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3931920"/>
                <a:gridCol w="4937760"/>
                <a:gridCol w="2011680"/>
              </a:tblGrid>
              <a:tr h="475488">
                <a:tc>
                  <a:txBody>
                    <a:bodyPr/>
                    <a:lstStyle/>
                    <a:p>
                      <a:pPr indent="0" marL="0">
                        <a:buNone/>
                      </a:pPr>
                      <a:r>
                        <a:rPr lang="en-US" sz="1500" b="1" dirty="0">
                          <a:solidFill>
                            <a:schemeClr val="bg1"/>
                          </a:solidFill>
                        </a:rPr>
                        <a:t>제약</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막는 것</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위반 코드</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475488">
                <a:tc>
                  <a:txBody>
                    <a:bodyPr/>
                    <a:lstStyle/>
                    <a:p>
                      <a:pPr indent="0" marL="0">
                        <a:buNone/>
                      </a:pPr>
                      <a:r>
                        <a:rPr lang="en-US" sz="1500" b="1" dirty="0">
                          <a:solidFill>
                            <a:schemeClr val="tx1"/>
                          </a:solidFill>
                        </a:rPr>
                        <a:t>EXCLUDE (room_id, 시간 구간)</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b="1" dirty="0">
                          <a:solidFill>
                            <a:schemeClr val="tx1"/>
                          </a:solidFill>
                        </a:rPr>
                        <a:t>같은 회의실의 겹치는 예약</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b="1" dirty="0">
                          <a:solidFill>
                            <a:schemeClr val="tx1"/>
                          </a:solidFill>
                        </a:rPr>
                        <a:t>23P01</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b="1" dirty="0">
                          <a:solidFill>
                            <a:schemeClr val="tx1"/>
                          </a:solidFill>
                        </a:rPr>
                        <a:t>EXCLUDE (user_id, 시간 구간)</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b="1" dirty="0">
                          <a:solidFill>
                            <a:schemeClr val="tx1"/>
                          </a:solidFill>
                        </a:rPr>
                        <a:t>한 사람이 같은 시간에 두 예약</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b="1" dirty="0">
                          <a:solidFill>
                            <a:schemeClr val="tx1"/>
                          </a:solidFill>
                        </a:rPr>
                        <a:t>23P01</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dirty="0">
                          <a:solidFill>
                            <a:schemeClr val="tx1"/>
                          </a:solidFill>
                        </a:rPr>
                        <a:t>CHECK  start_at &lt; end_at</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dirty="0">
                          <a:solidFill>
                            <a:schemeClr val="tx1"/>
                          </a:solidFill>
                        </a:rPr>
                        <a:t>끝이 시작보다 빠른 예약</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dirty="0">
                          <a:solidFill>
                            <a:schemeClr val="tx1"/>
                          </a:solidFill>
                        </a:rPr>
                        <a:t>23514</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dirty="0">
                          <a:solidFill>
                            <a:schemeClr val="tx1"/>
                          </a:solidFill>
                        </a:rPr>
                        <a:t>CHECK  길이 ≤ 4시간</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dirty="0">
                          <a:solidFill>
                            <a:schemeClr val="tx1"/>
                          </a:solidFill>
                        </a:rPr>
                        <a:t>회의실을 며칠씩 잡는 예약</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dirty="0">
                          <a:solidFill>
                            <a:schemeClr val="tx1"/>
                          </a:solidFill>
                        </a:rPr>
                        <a:t>23514</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dirty="0">
                          <a:solidFill>
                            <a:schemeClr val="tx1"/>
                          </a:solidFill>
                        </a:rPr>
                        <a:t>복합 PK (reservation_id, user_id)</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dirty="0">
                          <a:solidFill>
                            <a:schemeClr val="tx1"/>
                          </a:solidFill>
                        </a:rPr>
                        <a:t>같은 사람의 중복 참석</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dirty="0">
                          <a:solidFill>
                            <a:schemeClr val="tx1"/>
                          </a:solidFill>
                        </a:rPr>
                        <a:t>23505</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dirty="0">
                          <a:solidFill>
                            <a:schemeClr val="tx1"/>
                          </a:solidFill>
                        </a:rPr>
                        <a:t>FK + ON DELETE CASCADE</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dirty="0">
                          <a:solidFill>
                            <a:schemeClr val="tx1"/>
                          </a:solidFill>
                        </a:rPr>
                        <a:t>없는 방·사람 참조, 고아 데이터</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dirty="0">
                          <a:solidFill>
                            <a:schemeClr val="tx1"/>
                          </a:solidFill>
                        </a:rPr>
                        <a:t>23503</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75488">
                <a:tc>
                  <a:txBody>
                    <a:bodyPr/>
                    <a:lstStyle/>
                    <a:p>
                      <a:pPr indent="0" marL="0">
                        <a:buNone/>
                      </a:pPr>
                      <a:r>
                        <a:rPr lang="en-US" sz="1500" dirty="0">
                          <a:solidFill>
                            <a:schemeClr val="tx1"/>
                          </a:solidFill>
                        </a:rPr>
                        <a:t>RLS 정책</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500" dirty="0">
                          <a:solidFill>
                            <a:schemeClr val="tx1"/>
                          </a:solidFill>
                        </a:rPr>
                        <a:t>남의 예약 수정, 권한 없는 참석자 추가</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500" dirty="0">
                          <a:solidFill>
                            <a:schemeClr val="tx1"/>
                          </a:solidFill>
                        </a:rPr>
                        <a:t>42501</a:t>
                      </a:r>
                      <a:endParaRPr lang="en-US" sz="15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bl>
          </a:graphicData>
        </a:graphic>
      </p:graphicFrame>
      <p:sp>
        <p:nvSpPr>
          <p:cNvPr id="5" name="card-70"/>
          <p:cNvSpPr/>
          <p:nvPr/>
        </p:nvSpPr>
        <p:spPr>
          <a:xfrm>
            <a:off x="640080" y="5486400"/>
            <a:ext cx="10881360" cy="502920"/>
          </a:xfrm>
          <a:prstGeom prst="roundRect">
            <a:avLst>
              <a:gd name="adj" fmla="val 21818"/>
            </a:avLst>
          </a:prstGeom>
          <a:solidFill>
            <a:schemeClr val="accent5"/>
          </a:solidFill>
          <a:ln w="6350">
            <a:solidFill>
              <a:schemeClr val="accent5"/>
            </a:solidFill>
            <a:prstDash val="solid"/>
          </a:ln>
        </p:spPr>
      </p:sp>
      <p:sp>
        <p:nvSpPr>
          <p:cNvPr id="6" name="text-71"/>
          <p:cNvSpPr txBox="1"/>
          <p:nvPr/>
        </p:nvSpPr>
        <p:spPr>
          <a:xfrm>
            <a:off x="868680" y="5486400"/>
            <a:ext cx="10424160" cy="502920"/>
          </a:xfrm>
          <a:prstGeom prst="rect">
            <a:avLst/>
          </a:prstGeom>
          <a:noFill/>
          <a:ln/>
        </p:spPr>
        <p:txBody>
          <a:bodyPr wrap="square" lIns="0" tIns="0" rIns="0" bIns="0" rtlCol="0" anchor="ctr"/>
          <a:lstStyle/>
          <a:p>
            <a:pPr algn="ctr" indent="0" marL="0">
              <a:buNone/>
            </a:pPr>
            <a:r>
              <a:rPr lang="en-US" sz="1500" b="1" dirty="0">
                <a:solidFill>
                  <a:schemeClr val="tx1"/>
                </a:solidFill>
              </a:rPr>
              <a:t>겹침은 EXCLUSION  ·  시간 오류는 CHECK  ·  중복 참석은 복합 키  ·  권한은 RLS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API 설계</a:t>
            </a:r>
            <a:endParaRPr lang="en-US" sz="3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a:tblGrid>
                <a:gridCol w="1005840"/>
                <a:gridCol w="3108960"/>
                <a:gridCol w="914400"/>
                <a:gridCol w="1097280"/>
              </a:tblGrid>
              <a:tr h="457200">
                <a:tc>
                  <a:txBody>
                    <a:bodyPr/>
                    <a:lstStyle/>
                    <a:p>
                      <a:pPr indent="0" marL="0">
                        <a:buNone/>
                      </a:pPr>
                      <a:r>
                        <a:rPr lang="en-US" sz="1300" b="1" dirty="0">
                          <a:solidFill>
                            <a:schemeClr val="bg1"/>
                          </a:solidFill>
                        </a:rPr>
                        <a:t>메서드</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경로</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성공</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실패</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457200">
                <a:tc>
                  <a:txBody>
                    <a:bodyPr/>
                    <a:lstStyle/>
                    <a:p>
                      <a:pPr indent="0" marL="0">
                        <a:buNone/>
                      </a:pPr>
                      <a:r>
                        <a:rPr lang="en-US" sz="1300" dirty="0">
                          <a:solidFill>
                            <a:schemeClr val="tx1"/>
                          </a:solidFill>
                        </a:rPr>
                        <a:t>POST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/api/auth/signup</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201</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400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dirty="0">
                          <a:solidFill>
                            <a:schemeClr val="tx1"/>
                          </a:solidFill>
                        </a:rPr>
                        <a:t>POST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/api/auth/login</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401</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dirty="0">
                          <a:solidFill>
                            <a:schemeClr val="tx1"/>
                          </a:solidFill>
                        </a:rPr>
                        <a:t>GET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/api/rooms</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500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dirty="0">
                          <a:solidFill>
                            <a:schemeClr val="tx1"/>
                          </a:solidFill>
                        </a:rPr>
                        <a:t>GET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/api/reservations</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500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b="1" dirty="0">
                          <a:solidFill>
                            <a:schemeClr val="tx1"/>
                          </a:solidFill>
                        </a:rPr>
                        <a:t>POST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b="1" dirty="0">
                          <a:solidFill>
                            <a:schemeClr val="tx1"/>
                          </a:solidFill>
                        </a:rPr>
                        <a:t>/api/reservations</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b="1" dirty="0">
                          <a:solidFill>
                            <a:schemeClr val="tx1"/>
                          </a:solidFill>
                        </a:rPr>
                        <a:t>201</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b="1" dirty="0">
                          <a:solidFill>
                            <a:schemeClr val="accent4"/>
                          </a:solidFill>
                        </a:rPr>
                        <a:t>409</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dirty="0">
                          <a:solidFill>
                            <a:schemeClr val="tx1"/>
                          </a:solidFill>
                        </a:rPr>
                        <a:t>DELETE</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/api/reservations/:id</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200</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401</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r h="457200">
                <a:tc>
                  <a:txBody>
                    <a:bodyPr/>
                    <a:lstStyle/>
                    <a:p>
                      <a:pPr indent="0" marL="0">
                        <a:buNone/>
                      </a:pPr>
                      <a:r>
                        <a:rPr lang="en-US" sz="1300" dirty="0">
                          <a:solidFill>
                            <a:schemeClr val="tx1"/>
                          </a:solidFill>
                        </a:rPr>
                        <a:t>POST</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indent="0" marL="0">
                        <a:buNone/>
                      </a:pPr>
                      <a:r>
                        <a:rPr lang="en-US" sz="1300" dirty="0">
                          <a:solidFill>
                            <a:schemeClr val="tx1"/>
                          </a:solidFill>
                        </a:rPr>
                        <a:t>/api/reservations/:id/participants</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201</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c>
                  <a:txBody>
                    <a:bodyPr/>
                    <a:lstStyle/>
                    <a:p>
                      <a:pPr algn="ctr" indent="0" marL="0">
                        <a:buNone/>
                      </a:pPr>
                      <a:r>
                        <a:rPr lang="en-US" sz="1300" dirty="0">
                          <a:solidFill>
                            <a:schemeClr val="tx1"/>
                          </a:solidFill>
                        </a:rPr>
                        <a:t>403·409</a:t>
                      </a:r>
                      <a:endParaRPr lang="en-US" sz="1300" dirty="0"/>
                    </a:p>
                  </a:txBody>
                  <a:tcPr marL="73152" marR="73152" marT="73152" marB="73152"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tcPr>
                </a:tc>
              </a:tr>
            </a:tbl>
          </a:graphicData>
        </a:graphic>
      </p:graphicFrame>
      <p:sp>
        <p:nvSpPr>
          <p:cNvPr id="5" name="text-72"/>
          <p:cNvSpPr txBox="1"/>
          <p:nvPr/>
        </p:nvSpPr>
        <p:spPr>
          <a:xfrm>
            <a:off x="548640" y="5394960"/>
            <a:ext cx="6126480" cy="731520"/>
          </a:xfrm>
          <a:prstGeom prst="rect">
            <a:avLst/>
          </a:prstGeom>
          <a:noFill/>
          <a:ln/>
        </p:spPr>
        <p:txBody>
          <a:bodyPr wrap="square" lIns="0" tIns="0" rIns="0" bIns="0" rtlCol="0" anchor="t"/>
          <a:lstStyle/>
          <a:p>
            <a:pPr indent="0" marL="0">
              <a:buNone/>
            </a:pPr>
            <a:r>
              <a:rPr lang="en-US" sz="1300" dirty="0">
                <a:solidFill>
                  <a:schemeClr val="tx2"/>
                </a:solidFill>
              </a:rPr>
              <a:t>주소는 자원(명사), 행동은 HTTP 메서드.</a:t>
            </a:r>
            <a:endParaRPr lang="en-US" sz="1300" dirty="0"/>
          </a:p>
          <a:p>
            <a:pPr indent="0" marL="0">
              <a:buNone/>
            </a:pPr>
            <a:r>
              <a:rPr lang="en-US" sz="1300" dirty="0">
                <a:solidFill>
                  <a:schemeClr val="tx2"/>
                </a:solidFill>
              </a:rPr>
              <a:t>참석자는 예약 아래 하위 자원 → DB 관계가 URL에도 드러난다</a:t>
            </a:r>
            <a:endParaRPr lang="en-US" sz="1300" dirty="0"/>
          </a:p>
        </p:txBody>
      </p:sp>
      <p:sp>
        <p:nvSpPr>
          <p:cNvPr id="6" name="text-73"/>
          <p:cNvSpPr txBox="1"/>
          <p:nvPr/>
        </p:nvSpPr>
        <p:spPr>
          <a:xfrm>
            <a:off x="7040880" y="1325880"/>
            <a:ext cx="4572000" cy="411480"/>
          </a:xfrm>
          <a:prstGeom prst="rect">
            <a:avLst/>
          </a:prstGeom>
          <a:noFill/>
          <a:ln/>
        </p:spPr>
        <p:txBody>
          <a:bodyPr wrap="square" lIns="0" tIns="0" rIns="0" bIns="0" rtlCol="0" anchor="t"/>
          <a:lstStyle/>
          <a:p>
            <a:pPr indent="0" marL="0">
              <a:buNone/>
            </a:pPr>
            <a:r>
              <a:rPr lang="en-US" sz="1800" b="1" dirty="0">
                <a:solidFill>
                  <a:schemeClr val="tx1"/>
                </a:solidFill>
              </a:rPr>
              <a:t>예약 생성 4단계</a:t>
            </a:r>
            <a:endParaRPr lang="en-US" sz="1800" dirty="0"/>
          </a:p>
        </p:txBody>
      </p:sp>
      <p:sp>
        <p:nvSpPr>
          <p:cNvPr id="7" name="circle-74"/>
          <p:cNvSpPr/>
          <p:nvPr/>
        </p:nvSpPr>
        <p:spPr>
          <a:xfrm>
            <a:off x="7040880" y="2011680"/>
            <a:ext cx="502920" cy="502920"/>
          </a:xfrm>
          <a:prstGeom prst="ellipse">
            <a:avLst/>
          </a:prstGeom>
          <a:solidFill>
            <a:schemeClr val="accent1"/>
          </a:solidFill>
          <a:ln w="6350">
            <a:solidFill>
              <a:schemeClr val="accent1"/>
            </a:solidFill>
            <a:prstDash val="solid"/>
          </a:ln>
        </p:spPr>
      </p:sp>
      <p:sp>
        <p:nvSpPr>
          <p:cNvPr id="8" name="text-75"/>
          <p:cNvSpPr txBox="1"/>
          <p:nvPr/>
        </p:nvSpPr>
        <p:spPr>
          <a:xfrm>
            <a:off x="7040880" y="201168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76"/>
          <p:cNvSpPr txBox="1"/>
          <p:nvPr/>
        </p:nvSpPr>
        <p:spPr>
          <a:xfrm>
            <a:off x="7726680" y="1920240"/>
            <a:ext cx="3931920" cy="365760"/>
          </a:xfrm>
          <a:prstGeom prst="rect">
            <a:avLst/>
          </a:prstGeom>
          <a:noFill/>
          <a:ln/>
        </p:spPr>
        <p:txBody>
          <a:bodyPr wrap="square" lIns="0" tIns="0" rIns="0" bIns="0" rtlCol="0" anchor="t"/>
          <a:lstStyle/>
          <a:p>
            <a:pPr indent="0" marL="0">
              <a:buNone/>
            </a:pPr>
            <a:r>
              <a:rPr lang="en-US" sz="1500" b="1" dirty="0">
                <a:solidFill>
                  <a:schemeClr val="tx1"/>
                </a:solidFill>
              </a:rPr>
              <a:t>로그인 확인</a:t>
            </a:r>
            <a:endParaRPr lang="en-US" sz="1500" dirty="0"/>
          </a:p>
        </p:txBody>
      </p:sp>
      <p:sp>
        <p:nvSpPr>
          <p:cNvPr id="10" name="text-77"/>
          <p:cNvSpPr txBox="1"/>
          <p:nvPr/>
        </p:nvSpPr>
        <p:spPr>
          <a:xfrm>
            <a:off x="7726680" y="2304288"/>
            <a:ext cx="3931920" cy="320040"/>
          </a:xfrm>
          <a:prstGeom prst="rect">
            <a:avLst/>
          </a:prstGeom>
          <a:noFill/>
          <a:ln/>
        </p:spPr>
        <p:txBody>
          <a:bodyPr wrap="square" lIns="0" tIns="0" rIns="0" bIns="0" rtlCol="0" anchor="t"/>
          <a:lstStyle/>
          <a:p>
            <a:pPr indent="0" marL="0">
              <a:buNone/>
            </a:pPr>
            <a:r>
              <a:rPr lang="en-US" sz="1200" dirty="0">
                <a:solidFill>
                  <a:schemeClr val="tx2"/>
                </a:solidFill>
              </a:rPr>
              <a:t>세션에서 사용자 확인, 없으면 401</a:t>
            </a:r>
            <a:endParaRPr lang="en-US" sz="1200" dirty="0"/>
          </a:p>
        </p:txBody>
      </p:sp>
      <p:sp>
        <p:nvSpPr>
          <p:cNvPr id="11" name="circle-78"/>
          <p:cNvSpPr/>
          <p:nvPr/>
        </p:nvSpPr>
        <p:spPr>
          <a:xfrm>
            <a:off x="7040880" y="2880360"/>
            <a:ext cx="502920" cy="502920"/>
          </a:xfrm>
          <a:prstGeom prst="ellipse">
            <a:avLst/>
          </a:prstGeom>
          <a:solidFill>
            <a:schemeClr val="accent1"/>
          </a:solidFill>
          <a:ln w="6350">
            <a:solidFill>
              <a:schemeClr val="accent1"/>
            </a:solidFill>
            <a:prstDash val="solid"/>
          </a:ln>
        </p:spPr>
      </p:sp>
      <p:sp>
        <p:nvSpPr>
          <p:cNvPr id="12" name="text-79"/>
          <p:cNvSpPr txBox="1"/>
          <p:nvPr/>
        </p:nvSpPr>
        <p:spPr>
          <a:xfrm>
            <a:off x="7040880" y="2880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80"/>
          <p:cNvSpPr txBox="1"/>
          <p:nvPr/>
        </p:nvSpPr>
        <p:spPr>
          <a:xfrm>
            <a:off x="7726680" y="2788920"/>
            <a:ext cx="3931920" cy="365760"/>
          </a:xfrm>
          <a:prstGeom prst="rect">
            <a:avLst/>
          </a:prstGeom>
          <a:noFill/>
          <a:ln/>
        </p:spPr>
        <p:txBody>
          <a:bodyPr wrap="square" lIns="0" tIns="0" rIns="0" bIns="0" rtlCol="0" anchor="t"/>
          <a:lstStyle/>
          <a:p>
            <a:pPr indent="0" marL="0">
              <a:buNone/>
            </a:pPr>
            <a:r>
              <a:rPr lang="en-US" sz="1500" b="1" dirty="0">
                <a:solidFill>
                  <a:schemeClr val="tx1"/>
                </a:solidFill>
              </a:rPr>
              <a:t>입력 검증</a:t>
            </a:r>
            <a:endParaRPr lang="en-US" sz="1500" dirty="0"/>
          </a:p>
        </p:txBody>
      </p:sp>
      <p:sp>
        <p:nvSpPr>
          <p:cNvPr id="14" name="text-81"/>
          <p:cNvSpPr txBox="1"/>
          <p:nvPr/>
        </p:nvSpPr>
        <p:spPr>
          <a:xfrm>
            <a:off x="7726680" y="3172968"/>
            <a:ext cx="3931920" cy="320040"/>
          </a:xfrm>
          <a:prstGeom prst="rect">
            <a:avLst/>
          </a:prstGeom>
          <a:noFill/>
          <a:ln/>
        </p:spPr>
        <p:txBody>
          <a:bodyPr wrap="square" lIns="0" tIns="0" rIns="0" bIns="0" rtlCol="0" anchor="t"/>
          <a:lstStyle/>
          <a:p>
            <a:pPr indent="0" marL="0">
              <a:buNone/>
            </a:pPr>
            <a:r>
              <a:rPr lang="en-US" sz="1200" dirty="0">
                <a:solidFill>
                  <a:schemeClr val="tx2"/>
                </a:solidFill>
              </a:rPr>
              <a:t>필수값 · 시작 &lt; 종료 · 4시간, 틀리면 400</a:t>
            </a:r>
            <a:endParaRPr lang="en-US" sz="1200" dirty="0"/>
          </a:p>
        </p:txBody>
      </p:sp>
      <p:sp>
        <p:nvSpPr>
          <p:cNvPr id="15" name="circle-82"/>
          <p:cNvSpPr/>
          <p:nvPr/>
        </p:nvSpPr>
        <p:spPr>
          <a:xfrm>
            <a:off x="7040880" y="3749040"/>
            <a:ext cx="502920" cy="502920"/>
          </a:xfrm>
          <a:prstGeom prst="ellipse">
            <a:avLst/>
          </a:prstGeom>
          <a:solidFill>
            <a:schemeClr val="accent2"/>
          </a:solidFill>
          <a:ln w="6350">
            <a:solidFill>
              <a:schemeClr val="accent2"/>
            </a:solidFill>
            <a:prstDash val="solid"/>
          </a:ln>
        </p:spPr>
      </p:sp>
      <p:sp>
        <p:nvSpPr>
          <p:cNvPr id="16" name="text-83"/>
          <p:cNvSpPr txBox="1"/>
          <p:nvPr/>
        </p:nvSpPr>
        <p:spPr>
          <a:xfrm>
            <a:off x="7040880" y="37490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84"/>
          <p:cNvSpPr txBox="1"/>
          <p:nvPr/>
        </p:nvSpPr>
        <p:spPr>
          <a:xfrm>
            <a:off x="7726680" y="3657600"/>
            <a:ext cx="3931920" cy="365760"/>
          </a:xfrm>
          <a:prstGeom prst="rect">
            <a:avLst/>
          </a:prstGeom>
          <a:noFill/>
          <a:ln/>
        </p:spPr>
        <p:txBody>
          <a:bodyPr wrap="square" lIns="0" tIns="0" rIns="0" bIns="0" rtlCol="0" anchor="t"/>
          <a:lstStyle/>
          <a:p>
            <a:pPr indent="0" marL="0">
              <a:buNone/>
            </a:pPr>
            <a:r>
              <a:rPr lang="en-US" sz="1500" b="1" dirty="0">
                <a:solidFill>
                  <a:schemeClr val="tx1"/>
                </a:solidFill>
              </a:rPr>
              <a:t>바로 INSERT</a:t>
            </a:r>
            <a:endParaRPr lang="en-US" sz="1500" dirty="0"/>
          </a:p>
        </p:txBody>
      </p:sp>
      <p:sp>
        <p:nvSpPr>
          <p:cNvPr id="18" name="text-85"/>
          <p:cNvSpPr txBox="1"/>
          <p:nvPr/>
        </p:nvSpPr>
        <p:spPr>
          <a:xfrm>
            <a:off x="7726680" y="4041648"/>
            <a:ext cx="3931920" cy="320040"/>
          </a:xfrm>
          <a:prstGeom prst="rect">
            <a:avLst/>
          </a:prstGeom>
          <a:noFill/>
          <a:ln/>
        </p:spPr>
        <p:txBody>
          <a:bodyPr wrap="square" lIns="0" tIns="0" rIns="0" bIns="0" rtlCol="0" anchor="t"/>
          <a:lstStyle/>
          <a:p>
            <a:pPr indent="0" marL="0">
              <a:buNone/>
            </a:pPr>
            <a:r>
              <a:rPr lang="en-US" sz="1200" dirty="0">
                <a:solidFill>
                  <a:schemeClr val="tx2"/>
                </a:solidFill>
              </a:rPr>
              <a:t>겹침을 미리 조회하지 않는다</a:t>
            </a:r>
            <a:endParaRPr lang="en-US" sz="1200" dirty="0"/>
          </a:p>
        </p:txBody>
      </p:sp>
      <p:sp>
        <p:nvSpPr>
          <p:cNvPr id="19" name="circle-86"/>
          <p:cNvSpPr/>
          <p:nvPr/>
        </p:nvSpPr>
        <p:spPr>
          <a:xfrm>
            <a:off x="7040880" y="4617720"/>
            <a:ext cx="502920" cy="502920"/>
          </a:xfrm>
          <a:prstGeom prst="ellipse">
            <a:avLst/>
          </a:prstGeom>
          <a:solidFill>
            <a:schemeClr val="accent1"/>
          </a:solidFill>
          <a:ln w="6350">
            <a:solidFill>
              <a:schemeClr val="accent1"/>
            </a:solidFill>
            <a:prstDash val="solid"/>
          </a:ln>
        </p:spPr>
      </p:sp>
      <p:sp>
        <p:nvSpPr>
          <p:cNvPr id="20" name="text-87"/>
          <p:cNvSpPr txBox="1"/>
          <p:nvPr/>
        </p:nvSpPr>
        <p:spPr>
          <a:xfrm>
            <a:off x="7040880" y="46177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88"/>
          <p:cNvSpPr txBox="1"/>
          <p:nvPr/>
        </p:nvSpPr>
        <p:spPr>
          <a:xfrm>
            <a:off x="7726680" y="4526280"/>
            <a:ext cx="3931920" cy="365760"/>
          </a:xfrm>
          <a:prstGeom prst="rect">
            <a:avLst/>
          </a:prstGeom>
          <a:noFill/>
          <a:ln/>
        </p:spPr>
        <p:txBody>
          <a:bodyPr wrap="square" lIns="0" tIns="0" rIns="0" bIns="0" rtlCol="0" anchor="t"/>
          <a:lstStyle/>
          <a:p>
            <a:pPr indent="0" marL="0">
              <a:buNone/>
            </a:pPr>
            <a:r>
              <a:rPr lang="en-US" sz="1500" b="1" dirty="0">
                <a:solidFill>
                  <a:schemeClr val="tx1"/>
                </a:solidFill>
              </a:rPr>
              <a:t>DB 판정을 번역</a:t>
            </a:r>
            <a:endParaRPr lang="en-US" sz="1500" dirty="0"/>
          </a:p>
        </p:txBody>
      </p:sp>
      <p:sp>
        <p:nvSpPr>
          <p:cNvPr id="22" name="text-89"/>
          <p:cNvSpPr txBox="1"/>
          <p:nvPr/>
        </p:nvSpPr>
        <p:spPr>
          <a:xfrm>
            <a:off x="7726680" y="4910328"/>
            <a:ext cx="3931920" cy="320040"/>
          </a:xfrm>
          <a:prstGeom prst="rect">
            <a:avLst/>
          </a:prstGeom>
          <a:noFill/>
          <a:ln/>
        </p:spPr>
        <p:txBody>
          <a:bodyPr wrap="square" lIns="0" tIns="0" rIns="0" bIns="0" rtlCol="0" anchor="t"/>
          <a:lstStyle/>
          <a:p>
            <a:pPr indent="0" marL="0">
              <a:buNone/>
            </a:pPr>
            <a:r>
              <a:rPr lang="en-US" sz="1200" dirty="0">
                <a:solidFill>
                  <a:schemeClr val="tx2"/>
                </a:solidFill>
              </a:rPr>
              <a:t>23P01 → 409 Conflict, 성공 → 201</a:t>
            </a:r>
            <a:endParaRPr lang="en-US" sz="1200" dirty="0"/>
          </a:p>
        </p:txBody>
      </p:sp>
      <p:sp>
        <p:nvSpPr>
          <p:cNvPr id="23" name="card-90"/>
          <p:cNvSpPr/>
          <p:nvPr/>
        </p:nvSpPr>
        <p:spPr>
          <a:xfrm>
            <a:off x="7040880" y="5486400"/>
            <a:ext cx="4572000" cy="594360"/>
          </a:xfrm>
          <a:prstGeom prst="roundRect">
            <a:avLst>
              <a:gd name="adj" fmla="val 18462"/>
            </a:avLst>
          </a:prstGeom>
          <a:solidFill>
            <a:schemeClr val="accent5"/>
          </a:solidFill>
          <a:ln w="6350">
            <a:solidFill>
              <a:schemeClr val="accent5"/>
            </a:solidFill>
            <a:prstDash val="solid"/>
          </a:ln>
        </p:spPr>
      </p:sp>
      <p:sp>
        <p:nvSpPr>
          <p:cNvPr id="24" name="text-91"/>
          <p:cNvSpPr txBox="1"/>
          <p:nvPr/>
        </p:nvSpPr>
        <p:spPr>
          <a:xfrm>
            <a:off x="7269480" y="5486400"/>
            <a:ext cx="4114800" cy="594360"/>
          </a:xfrm>
          <a:prstGeom prst="rect">
            <a:avLst/>
          </a:prstGeom>
          <a:noFill/>
          <a:ln/>
        </p:spPr>
        <p:txBody>
          <a:bodyPr wrap="square" lIns="0" tIns="0" rIns="0" bIns="0" rtlCol="0" anchor="ctr"/>
          <a:lstStyle/>
          <a:p>
            <a:pPr algn="ctr" indent="0" marL="0">
              <a:buNone/>
            </a:pPr>
            <a:r>
              <a:rPr lang="en-US" sz="1300" b="1" dirty="0">
                <a:solidFill>
                  <a:schemeClr val="tx1"/>
                </a:solidFill>
              </a:rPr>
              <a:t>예약자 ID는 본문이 아니라 세션에서</a:t>
            </a:r>
            <a:endParaRPr lang="en-US" sz="1300" dirty="0"/>
          </a:p>
          <a:p>
            <a:pPr algn="ctr" indent="0" marL="0">
              <a:buNone/>
            </a:pPr>
            <a:r>
              <a:rPr lang="en-US" sz="1300" b="1" dirty="0">
                <a:solidFill>
                  <a:schemeClr val="tx1"/>
                </a:solidFill>
              </a:rPr>
              <a:t>→ 남의 이름으로 예약 불가</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DB 에러 코드 → HTTP 상태 코드</a:t>
            </a:r>
            <a:endParaRPr lang="en-US" sz="3000" dirty="0"/>
          </a:p>
        </p:txBody>
      </p:sp>
      <p:sp>
        <p:nvSpPr>
          <p:cNvPr id="4" name="card-92"/>
          <p:cNvSpPr/>
          <p:nvPr/>
        </p:nvSpPr>
        <p:spPr>
          <a:xfrm>
            <a:off x="548640" y="1463040"/>
            <a:ext cx="2057400" cy="3566160"/>
          </a:xfrm>
          <a:prstGeom prst="roundRect">
            <a:avLst>
              <a:gd name="adj" fmla="val 5333"/>
            </a:avLst>
          </a:prstGeom>
          <a:solidFill>
            <a:schemeClr val="bg2"/>
          </a:solidFill>
          <a:ln w="6350">
            <a:solidFill>
              <a:schemeClr val="bg2"/>
            </a:solidFill>
            <a:prstDash val="solid"/>
          </a:ln>
        </p:spPr>
      </p:sp>
      <p:sp>
        <p:nvSpPr>
          <p:cNvPr id="5" name="text-93"/>
          <p:cNvSpPr txBox="1"/>
          <p:nvPr/>
        </p:nvSpPr>
        <p:spPr>
          <a:xfrm>
            <a:off x="548640" y="1691640"/>
            <a:ext cx="2057400" cy="274320"/>
          </a:xfrm>
          <a:prstGeom prst="rect">
            <a:avLst/>
          </a:prstGeom>
          <a:noFill/>
          <a:ln/>
        </p:spPr>
        <p:txBody>
          <a:bodyPr wrap="square" lIns="0" tIns="0" rIns="0" bIns="0" rtlCol="0" anchor="t"/>
          <a:lstStyle/>
          <a:p>
            <a:pPr algn="ctr" indent="0" marL="0">
              <a:buNone/>
            </a:pPr>
            <a:r>
              <a:rPr lang="en-US" sz="1100" dirty="0">
                <a:solidFill>
                  <a:schemeClr val="tx2"/>
                </a:solidFill>
              </a:rPr>
              <a:t>PostgreSQL</a:t>
            </a:r>
            <a:endParaRPr lang="en-US" sz="1100" dirty="0"/>
          </a:p>
        </p:txBody>
      </p:sp>
      <p:sp>
        <p:nvSpPr>
          <p:cNvPr id="6" name="text-94"/>
          <p:cNvSpPr txBox="1"/>
          <p:nvPr/>
        </p:nvSpPr>
        <p:spPr>
          <a:xfrm>
            <a:off x="548640" y="1965960"/>
            <a:ext cx="20574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23P01</a:t>
            </a:r>
            <a:endParaRPr lang="en-US" sz="1800" dirty="0"/>
          </a:p>
        </p:txBody>
      </p:sp>
      <p:sp>
        <p:nvSpPr>
          <p:cNvPr id="7" name="text-95"/>
          <p:cNvSpPr txBox="1"/>
          <p:nvPr/>
        </p:nvSpPr>
        <p:spPr>
          <a:xfrm>
            <a:off x="548640" y="2468880"/>
            <a:ext cx="2057400" cy="365760"/>
          </a:xfrm>
          <a:prstGeom prst="rect">
            <a:avLst/>
          </a:prstGeom>
          <a:noFill/>
          <a:ln/>
        </p:spPr>
        <p:txBody>
          <a:bodyPr wrap="square" lIns="0" tIns="0" rIns="0" bIns="0" rtlCol="0" anchor="t"/>
          <a:lstStyle/>
          <a:p>
            <a:pPr algn="ctr" indent="0" marL="0">
              <a:buNone/>
            </a:pPr>
            <a:r>
              <a:rPr lang="en-US" sz="2000" dirty="0">
                <a:solidFill>
                  <a:schemeClr val="tx2"/>
                </a:solidFill>
              </a:rPr>
              <a:t>↓</a:t>
            </a:r>
            <a:endParaRPr lang="en-US" sz="2000" dirty="0"/>
          </a:p>
        </p:txBody>
      </p:sp>
      <p:sp>
        <p:nvSpPr>
          <p:cNvPr id="8" name="text-96"/>
          <p:cNvSpPr txBox="1"/>
          <p:nvPr/>
        </p:nvSpPr>
        <p:spPr>
          <a:xfrm>
            <a:off x="548640" y="2880360"/>
            <a:ext cx="2057400" cy="822960"/>
          </a:xfrm>
          <a:prstGeom prst="rect">
            <a:avLst/>
          </a:prstGeom>
          <a:noFill/>
          <a:ln/>
        </p:spPr>
        <p:txBody>
          <a:bodyPr wrap="square" lIns="0" tIns="0" rIns="0" bIns="0" rtlCol="0" anchor="ctr"/>
          <a:lstStyle/>
          <a:p>
            <a:pPr algn="ctr" indent="0" marL="0">
              <a:buNone/>
            </a:pPr>
            <a:r>
              <a:rPr lang="en-US" sz="4400" b="1" dirty="0">
                <a:solidFill>
                  <a:schemeClr val="accent1"/>
                </a:solidFill>
              </a:rPr>
              <a:t>409</a:t>
            </a:r>
            <a:endParaRPr lang="en-US" sz="4400" dirty="0"/>
          </a:p>
        </p:txBody>
      </p:sp>
      <p:sp>
        <p:nvSpPr>
          <p:cNvPr id="9" name="text-97"/>
          <p:cNvSpPr txBox="1"/>
          <p:nvPr/>
        </p:nvSpPr>
        <p:spPr>
          <a:xfrm>
            <a:off x="548640" y="3931920"/>
            <a:ext cx="2057400" cy="320040"/>
          </a:xfrm>
          <a:prstGeom prst="rect">
            <a:avLst/>
          </a:prstGeom>
          <a:noFill/>
          <a:ln/>
        </p:spPr>
        <p:txBody>
          <a:bodyPr wrap="square" lIns="0" tIns="0" rIns="0" bIns="0" rtlCol="0" anchor="t"/>
          <a:lstStyle/>
          <a:p>
            <a:pPr algn="ctr" indent="0" marL="0">
              <a:buNone/>
            </a:pPr>
            <a:r>
              <a:rPr lang="en-US" sz="1400" b="1" dirty="0">
                <a:solidFill>
                  <a:schemeClr val="tx1"/>
                </a:solidFill>
              </a:rPr>
              <a:t>시간 겹침</a:t>
            </a:r>
            <a:endParaRPr lang="en-US" sz="1400" dirty="0"/>
          </a:p>
        </p:txBody>
      </p:sp>
      <p:sp>
        <p:nvSpPr>
          <p:cNvPr id="10" name="text-98"/>
          <p:cNvSpPr txBox="1"/>
          <p:nvPr/>
        </p:nvSpPr>
        <p:spPr>
          <a:xfrm>
            <a:off x="548640" y="4251960"/>
            <a:ext cx="2057400" cy="320040"/>
          </a:xfrm>
          <a:prstGeom prst="rect">
            <a:avLst/>
          </a:prstGeom>
          <a:noFill/>
          <a:ln/>
        </p:spPr>
        <p:txBody>
          <a:bodyPr wrap="square" lIns="0" tIns="0" rIns="0" bIns="0" rtlCol="0" anchor="t"/>
          <a:lstStyle/>
          <a:p>
            <a:pPr algn="ctr" indent="0" marL="0">
              <a:buNone/>
            </a:pPr>
            <a:r>
              <a:rPr lang="en-US" sz="1200" dirty="0">
                <a:solidFill>
                  <a:schemeClr val="tx2"/>
                </a:solidFill>
              </a:rPr>
              <a:t>배타 제약 위반</a:t>
            </a:r>
            <a:endParaRPr lang="en-US" sz="1200" dirty="0"/>
          </a:p>
        </p:txBody>
      </p:sp>
      <p:sp>
        <p:nvSpPr>
          <p:cNvPr id="11" name="card-99"/>
          <p:cNvSpPr/>
          <p:nvPr/>
        </p:nvSpPr>
        <p:spPr>
          <a:xfrm>
            <a:off x="2807208" y="1463040"/>
            <a:ext cx="2057400" cy="3566160"/>
          </a:xfrm>
          <a:prstGeom prst="roundRect">
            <a:avLst>
              <a:gd name="adj" fmla="val 5333"/>
            </a:avLst>
          </a:prstGeom>
          <a:solidFill>
            <a:schemeClr val="bg2"/>
          </a:solidFill>
          <a:ln w="6350">
            <a:solidFill>
              <a:schemeClr val="bg2"/>
            </a:solidFill>
            <a:prstDash val="solid"/>
          </a:ln>
        </p:spPr>
      </p:sp>
      <p:sp>
        <p:nvSpPr>
          <p:cNvPr id="12" name="text-100"/>
          <p:cNvSpPr txBox="1"/>
          <p:nvPr/>
        </p:nvSpPr>
        <p:spPr>
          <a:xfrm>
            <a:off x="2807208" y="1691640"/>
            <a:ext cx="2057400" cy="274320"/>
          </a:xfrm>
          <a:prstGeom prst="rect">
            <a:avLst/>
          </a:prstGeom>
          <a:noFill/>
          <a:ln/>
        </p:spPr>
        <p:txBody>
          <a:bodyPr wrap="square" lIns="0" tIns="0" rIns="0" bIns="0" rtlCol="0" anchor="t"/>
          <a:lstStyle/>
          <a:p>
            <a:pPr algn="ctr" indent="0" marL="0">
              <a:buNone/>
            </a:pPr>
            <a:r>
              <a:rPr lang="en-US" sz="1100" dirty="0">
                <a:solidFill>
                  <a:schemeClr val="tx2"/>
                </a:solidFill>
              </a:rPr>
              <a:t>PostgreSQL</a:t>
            </a:r>
            <a:endParaRPr lang="en-US" sz="1100" dirty="0"/>
          </a:p>
        </p:txBody>
      </p:sp>
      <p:sp>
        <p:nvSpPr>
          <p:cNvPr id="13" name="text-101"/>
          <p:cNvSpPr txBox="1"/>
          <p:nvPr/>
        </p:nvSpPr>
        <p:spPr>
          <a:xfrm>
            <a:off x="2807208" y="1965960"/>
            <a:ext cx="20574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23505</a:t>
            </a:r>
            <a:endParaRPr lang="en-US" sz="1800" dirty="0"/>
          </a:p>
        </p:txBody>
      </p:sp>
      <p:sp>
        <p:nvSpPr>
          <p:cNvPr id="14" name="text-102"/>
          <p:cNvSpPr txBox="1"/>
          <p:nvPr/>
        </p:nvSpPr>
        <p:spPr>
          <a:xfrm>
            <a:off x="2807208" y="2468880"/>
            <a:ext cx="2057400" cy="365760"/>
          </a:xfrm>
          <a:prstGeom prst="rect">
            <a:avLst/>
          </a:prstGeom>
          <a:noFill/>
          <a:ln/>
        </p:spPr>
        <p:txBody>
          <a:bodyPr wrap="square" lIns="0" tIns="0" rIns="0" bIns="0" rtlCol="0" anchor="t"/>
          <a:lstStyle/>
          <a:p>
            <a:pPr algn="ctr" indent="0" marL="0">
              <a:buNone/>
            </a:pPr>
            <a:r>
              <a:rPr lang="en-US" sz="2000" dirty="0">
                <a:solidFill>
                  <a:schemeClr val="tx2"/>
                </a:solidFill>
              </a:rPr>
              <a:t>↓</a:t>
            </a:r>
            <a:endParaRPr lang="en-US" sz="2000" dirty="0"/>
          </a:p>
        </p:txBody>
      </p:sp>
      <p:sp>
        <p:nvSpPr>
          <p:cNvPr id="15" name="text-103"/>
          <p:cNvSpPr txBox="1"/>
          <p:nvPr/>
        </p:nvSpPr>
        <p:spPr>
          <a:xfrm>
            <a:off x="2807208" y="2880360"/>
            <a:ext cx="2057400" cy="822960"/>
          </a:xfrm>
          <a:prstGeom prst="rect">
            <a:avLst/>
          </a:prstGeom>
          <a:noFill/>
          <a:ln/>
        </p:spPr>
        <p:txBody>
          <a:bodyPr wrap="square" lIns="0" tIns="0" rIns="0" bIns="0" rtlCol="0" anchor="ctr"/>
          <a:lstStyle/>
          <a:p>
            <a:pPr algn="ctr" indent="0" marL="0">
              <a:buNone/>
            </a:pPr>
            <a:r>
              <a:rPr lang="en-US" sz="4400" b="1" dirty="0">
                <a:solidFill>
                  <a:schemeClr val="accent1"/>
                </a:solidFill>
              </a:rPr>
              <a:t>409</a:t>
            </a:r>
            <a:endParaRPr lang="en-US" sz="4400" dirty="0"/>
          </a:p>
        </p:txBody>
      </p:sp>
      <p:sp>
        <p:nvSpPr>
          <p:cNvPr id="16" name="text-104"/>
          <p:cNvSpPr txBox="1"/>
          <p:nvPr/>
        </p:nvSpPr>
        <p:spPr>
          <a:xfrm>
            <a:off x="2807208" y="3931920"/>
            <a:ext cx="2057400" cy="320040"/>
          </a:xfrm>
          <a:prstGeom prst="rect">
            <a:avLst/>
          </a:prstGeom>
          <a:noFill/>
          <a:ln/>
        </p:spPr>
        <p:txBody>
          <a:bodyPr wrap="square" lIns="0" tIns="0" rIns="0" bIns="0" rtlCol="0" anchor="t"/>
          <a:lstStyle/>
          <a:p>
            <a:pPr algn="ctr" indent="0" marL="0">
              <a:buNone/>
            </a:pPr>
            <a:r>
              <a:rPr lang="en-US" sz="1400" b="1" dirty="0">
                <a:solidFill>
                  <a:schemeClr val="tx1"/>
                </a:solidFill>
              </a:rPr>
              <a:t>중복 참석</a:t>
            </a:r>
            <a:endParaRPr lang="en-US" sz="1400" dirty="0"/>
          </a:p>
        </p:txBody>
      </p:sp>
      <p:sp>
        <p:nvSpPr>
          <p:cNvPr id="17" name="text-105"/>
          <p:cNvSpPr txBox="1"/>
          <p:nvPr/>
        </p:nvSpPr>
        <p:spPr>
          <a:xfrm>
            <a:off x="2807208" y="4251960"/>
            <a:ext cx="2057400" cy="320040"/>
          </a:xfrm>
          <a:prstGeom prst="rect">
            <a:avLst/>
          </a:prstGeom>
          <a:noFill/>
          <a:ln/>
        </p:spPr>
        <p:txBody>
          <a:bodyPr wrap="square" lIns="0" tIns="0" rIns="0" bIns="0" rtlCol="0" anchor="t"/>
          <a:lstStyle/>
          <a:p>
            <a:pPr algn="ctr" indent="0" marL="0">
              <a:buNone/>
            </a:pPr>
            <a:r>
              <a:rPr lang="en-US" sz="1200" dirty="0">
                <a:solidFill>
                  <a:schemeClr val="tx2"/>
                </a:solidFill>
              </a:rPr>
              <a:t>고유 제약 위반</a:t>
            </a:r>
            <a:endParaRPr lang="en-US" sz="1200" dirty="0"/>
          </a:p>
        </p:txBody>
      </p:sp>
      <p:sp>
        <p:nvSpPr>
          <p:cNvPr id="18" name="card-106"/>
          <p:cNvSpPr/>
          <p:nvPr/>
        </p:nvSpPr>
        <p:spPr>
          <a:xfrm>
            <a:off x="5065776" y="1463040"/>
            <a:ext cx="2057400" cy="3566160"/>
          </a:xfrm>
          <a:prstGeom prst="roundRect">
            <a:avLst>
              <a:gd name="adj" fmla="val 5333"/>
            </a:avLst>
          </a:prstGeom>
          <a:solidFill>
            <a:schemeClr val="bg2"/>
          </a:solidFill>
          <a:ln w="6350">
            <a:solidFill>
              <a:schemeClr val="bg2"/>
            </a:solidFill>
            <a:prstDash val="solid"/>
          </a:ln>
        </p:spPr>
      </p:sp>
      <p:sp>
        <p:nvSpPr>
          <p:cNvPr id="19" name="text-107"/>
          <p:cNvSpPr txBox="1"/>
          <p:nvPr/>
        </p:nvSpPr>
        <p:spPr>
          <a:xfrm>
            <a:off x="5065776" y="1691640"/>
            <a:ext cx="2057400" cy="274320"/>
          </a:xfrm>
          <a:prstGeom prst="rect">
            <a:avLst/>
          </a:prstGeom>
          <a:noFill/>
          <a:ln/>
        </p:spPr>
        <p:txBody>
          <a:bodyPr wrap="square" lIns="0" tIns="0" rIns="0" bIns="0" rtlCol="0" anchor="t"/>
          <a:lstStyle/>
          <a:p>
            <a:pPr algn="ctr" indent="0" marL="0">
              <a:buNone/>
            </a:pPr>
            <a:r>
              <a:rPr lang="en-US" sz="1100" dirty="0">
                <a:solidFill>
                  <a:schemeClr val="tx2"/>
                </a:solidFill>
              </a:rPr>
              <a:t>PostgreSQL</a:t>
            </a:r>
            <a:endParaRPr lang="en-US" sz="1100" dirty="0"/>
          </a:p>
        </p:txBody>
      </p:sp>
      <p:sp>
        <p:nvSpPr>
          <p:cNvPr id="20" name="text-108"/>
          <p:cNvSpPr txBox="1"/>
          <p:nvPr/>
        </p:nvSpPr>
        <p:spPr>
          <a:xfrm>
            <a:off x="5065776" y="1965960"/>
            <a:ext cx="20574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23514</a:t>
            </a:r>
            <a:endParaRPr lang="en-US" sz="1800" dirty="0"/>
          </a:p>
        </p:txBody>
      </p:sp>
      <p:sp>
        <p:nvSpPr>
          <p:cNvPr id="21" name="text-109"/>
          <p:cNvSpPr txBox="1"/>
          <p:nvPr/>
        </p:nvSpPr>
        <p:spPr>
          <a:xfrm>
            <a:off x="5065776" y="2468880"/>
            <a:ext cx="2057400" cy="365760"/>
          </a:xfrm>
          <a:prstGeom prst="rect">
            <a:avLst/>
          </a:prstGeom>
          <a:noFill/>
          <a:ln/>
        </p:spPr>
        <p:txBody>
          <a:bodyPr wrap="square" lIns="0" tIns="0" rIns="0" bIns="0" rtlCol="0" anchor="t"/>
          <a:lstStyle/>
          <a:p>
            <a:pPr algn="ctr" indent="0" marL="0">
              <a:buNone/>
            </a:pPr>
            <a:r>
              <a:rPr lang="en-US" sz="2000" dirty="0">
                <a:solidFill>
                  <a:schemeClr val="tx2"/>
                </a:solidFill>
              </a:rPr>
              <a:t>↓</a:t>
            </a:r>
            <a:endParaRPr lang="en-US" sz="2000" dirty="0"/>
          </a:p>
        </p:txBody>
      </p:sp>
      <p:sp>
        <p:nvSpPr>
          <p:cNvPr id="22" name="text-110"/>
          <p:cNvSpPr txBox="1"/>
          <p:nvPr/>
        </p:nvSpPr>
        <p:spPr>
          <a:xfrm>
            <a:off x="5065776" y="2880360"/>
            <a:ext cx="2057400" cy="822960"/>
          </a:xfrm>
          <a:prstGeom prst="rect">
            <a:avLst/>
          </a:prstGeom>
          <a:noFill/>
          <a:ln/>
        </p:spPr>
        <p:txBody>
          <a:bodyPr wrap="square" lIns="0" tIns="0" rIns="0" bIns="0" rtlCol="0" anchor="ctr"/>
          <a:lstStyle/>
          <a:p>
            <a:pPr algn="ctr" indent="0" marL="0">
              <a:buNone/>
            </a:pPr>
            <a:r>
              <a:rPr lang="en-US" sz="4400" b="1" dirty="0">
                <a:solidFill>
                  <a:schemeClr val="accent1"/>
                </a:solidFill>
              </a:rPr>
              <a:t>400</a:t>
            </a:r>
            <a:endParaRPr lang="en-US" sz="4400" dirty="0"/>
          </a:p>
        </p:txBody>
      </p:sp>
      <p:sp>
        <p:nvSpPr>
          <p:cNvPr id="23" name="text-111"/>
          <p:cNvSpPr txBox="1"/>
          <p:nvPr/>
        </p:nvSpPr>
        <p:spPr>
          <a:xfrm>
            <a:off x="5065776" y="3931920"/>
            <a:ext cx="2057400" cy="320040"/>
          </a:xfrm>
          <a:prstGeom prst="rect">
            <a:avLst/>
          </a:prstGeom>
          <a:noFill/>
          <a:ln/>
        </p:spPr>
        <p:txBody>
          <a:bodyPr wrap="square" lIns="0" tIns="0" rIns="0" bIns="0" rtlCol="0" anchor="t"/>
          <a:lstStyle/>
          <a:p>
            <a:pPr algn="ctr" indent="0" marL="0">
              <a:buNone/>
            </a:pPr>
            <a:r>
              <a:rPr lang="en-US" sz="1400" b="1" dirty="0">
                <a:solidFill>
                  <a:schemeClr val="tx1"/>
                </a:solidFill>
              </a:rPr>
              <a:t>시간 값 오류</a:t>
            </a:r>
            <a:endParaRPr lang="en-US" sz="1400" dirty="0"/>
          </a:p>
        </p:txBody>
      </p:sp>
      <p:sp>
        <p:nvSpPr>
          <p:cNvPr id="24" name="text-112"/>
          <p:cNvSpPr txBox="1"/>
          <p:nvPr/>
        </p:nvSpPr>
        <p:spPr>
          <a:xfrm>
            <a:off x="5065776" y="4251960"/>
            <a:ext cx="2057400" cy="320040"/>
          </a:xfrm>
          <a:prstGeom prst="rect">
            <a:avLst/>
          </a:prstGeom>
          <a:noFill/>
          <a:ln/>
        </p:spPr>
        <p:txBody>
          <a:bodyPr wrap="square" lIns="0" tIns="0" rIns="0" bIns="0" rtlCol="0" anchor="t"/>
          <a:lstStyle/>
          <a:p>
            <a:pPr algn="ctr" indent="0" marL="0">
              <a:buNone/>
            </a:pPr>
            <a:r>
              <a:rPr lang="en-US" sz="1200" dirty="0">
                <a:solidFill>
                  <a:schemeClr val="tx2"/>
                </a:solidFill>
              </a:rPr>
              <a:t>CHECK 위반</a:t>
            </a:r>
            <a:endParaRPr lang="en-US" sz="1200" dirty="0"/>
          </a:p>
        </p:txBody>
      </p:sp>
      <p:sp>
        <p:nvSpPr>
          <p:cNvPr id="25" name="card-113"/>
          <p:cNvSpPr/>
          <p:nvPr/>
        </p:nvSpPr>
        <p:spPr>
          <a:xfrm>
            <a:off x="7324344" y="1463040"/>
            <a:ext cx="2057400" cy="3566160"/>
          </a:xfrm>
          <a:prstGeom prst="roundRect">
            <a:avLst>
              <a:gd name="adj" fmla="val 5333"/>
            </a:avLst>
          </a:prstGeom>
          <a:solidFill>
            <a:schemeClr val="bg2"/>
          </a:solidFill>
          <a:ln w="6350">
            <a:solidFill>
              <a:schemeClr val="bg2"/>
            </a:solidFill>
            <a:prstDash val="solid"/>
          </a:ln>
        </p:spPr>
      </p:sp>
      <p:sp>
        <p:nvSpPr>
          <p:cNvPr id="26" name="text-114"/>
          <p:cNvSpPr txBox="1"/>
          <p:nvPr/>
        </p:nvSpPr>
        <p:spPr>
          <a:xfrm>
            <a:off x="7324344" y="1691640"/>
            <a:ext cx="2057400" cy="274320"/>
          </a:xfrm>
          <a:prstGeom prst="rect">
            <a:avLst/>
          </a:prstGeom>
          <a:noFill/>
          <a:ln/>
        </p:spPr>
        <p:txBody>
          <a:bodyPr wrap="square" lIns="0" tIns="0" rIns="0" bIns="0" rtlCol="0" anchor="t"/>
          <a:lstStyle/>
          <a:p>
            <a:pPr algn="ctr" indent="0" marL="0">
              <a:buNone/>
            </a:pPr>
            <a:r>
              <a:rPr lang="en-US" sz="1100" dirty="0">
                <a:solidFill>
                  <a:schemeClr val="tx2"/>
                </a:solidFill>
              </a:rPr>
              <a:t>PostgreSQL</a:t>
            </a:r>
            <a:endParaRPr lang="en-US" sz="1100" dirty="0"/>
          </a:p>
        </p:txBody>
      </p:sp>
      <p:sp>
        <p:nvSpPr>
          <p:cNvPr id="27" name="text-115"/>
          <p:cNvSpPr txBox="1"/>
          <p:nvPr/>
        </p:nvSpPr>
        <p:spPr>
          <a:xfrm>
            <a:off x="7324344" y="1965960"/>
            <a:ext cx="20574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23503</a:t>
            </a:r>
            <a:endParaRPr lang="en-US" sz="1800" dirty="0"/>
          </a:p>
        </p:txBody>
      </p:sp>
      <p:sp>
        <p:nvSpPr>
          <p:cNvPr id="28" name="text-116"/>
          <p:cNvSpPr txBox="1"/>
          <p:nvPr/>
        </p:nvSpPr>
        <p:spPr>
          <a:xfrm>
            <a:off x="7324344" y="2468880"/>
            <a:ext cx="2057400" cy="365760"/>
          </a:xfrm>
          <a:prstGeom prst="rect">
            <a:avLst/>
          </a:prstGeom>
          <a:noFill/>
          <a:ln/>
        </p:spPr>
        <p:txBody>
          <a:bodyPr wrap="square" lIns="0" tIns="0" rIns="0" bIns="0" rtlCol="0" anchor="t"/>
          <a:lstStyle/>
          <a:p>
            <a:pPr algn="ctr" indent="0" marL="0">
              <a:buNone/>
            </a:pPr>
            <a:r>
              <a:rPr lang="en-US" sz="2000" dirty="0">
                <a:solidFill>
                  <a:schemeClr val="tx2"/>
                </a:solidFill>
              </a:rPr>
              <a:t>↓</a:t>
            </a:r>
            <a:endParaRPr lang="en-US" sz="2000" dirty="0"/>
          </a:p>
        </p:txBody>
      </p:sp>
      <p:sp>
        <p:nvSpPr>
          <p:cNvPr id="29" name="text-117"/>
          <p:cNvSpPr txBox="1"/>
          <p:nvPr/>
        </p:nvSpPr>
        <p:spPr>
          <a:xfrm>
            <a:off x="7324344" y="2880360"/>
            <a:ext cx="2057400" cy="822960"/>
          </a:xfrm>
          <a:prstGeom prst="rect">
            <a:avLst/>
          </a:prstGeom>
          <a:noFill/>
          <a:ln/>
        </p:spPr>
        <p:txBody>
          <a:bodyPr wrap="square" lIns="0" tIns="0" rIns="0" bIns="0" rtlCol="0" anchor="ctr"/>
          <a:lstStyle/>
          <a:p>
            <a:pPr algn="ctr" indent="0" marL="0">
              <a:buNone/>
            </a:pPr>
            <a:r>
              <a:rPr lang="en-US" sz="4400" b="1" dirty="0">
                <a:solidFill>
                  <a:schemeClr val="accent1"/>
                </a:solidFill>
              </a:rPr>
              <a:t>404</a:t>
            </a:r>
            <a:endParaRPr lang="en-US" sz="4400" dirty="0"/>
          </a:p>
        </p:txBody>
      </p:sp>
      <p:sp>
        <p:nvSpPr>
          <p:cNvPr id="30" name="text-118"/>
          <p:cNvSpPr txBox="1"/>
          <p:nvPr/>
        </p:nvSpPr>
        <p:spPr>
          <a:xfrm>
            <a:off x="7324344" y="3931920"/>
            <a:ext cx="2057400" cy="320040"/>
          </a:xfrm>
          <a:prstGeom prst="rect">
            <a:avLst/>
          </a:prstGeom>
          <a:noFill/>
          <a:ln/>
        </p:spPr>
        <p:txBody>
          <a:bodyPr wrap="square" lIns="0" tIns="0" rIns="0" bIns="0" rtlCol="0" anchor="t"/>
          <a:lstStyle/>
          <a:p>
            <a:pPr algn="ctr" indent="0" marL="0">
              <a:buNone/>
            </a:pPr>
            <a:r>
              <a:rPr lang="en-US" sz="1400" b="1" dirty="0">
                <a:solidFill>
                  <a:schemeClr val="tx1"/>
                </a:solidFill>
              </a:rPr>
              <a:t>대상 없음</a:t>
            </a:r>
            <a:endParaRPr lang="en-US" sz="1400" dirty="0"/>
          </a:p>
        </p:txBody>
      </p:sp>
      <p:sp>
        <p:nvSpPr>
          <p:cNvPr id="31" name="text-119"/>
          <p:cNvSpPr txBox="1"/>
          <p:nvPr/>
        </p:nvSpPr>
        <p:spPr>
          <a:xfrm>
            <a:off x="7324344" y="4251960"/>
            <a:ext cx="2057400" cy="320040"/>
          </a:xfrm>
          <a:prstGeom prst="rect">
            <a:avLst/>
          </a:prstGeom>
          <a:noFill/>
          <a:ln/>
        </p:spPr>
        <p:txBody>
          <a:bodyPr wrap="square" lIns="0" tIns="0" rIns="0" bIns="0" rtlCol="0" anchor="t"/>
          <a:lstStyle/>
          <a:p>
            <a:pPr algn="ctr" indent="0" marL="0">
              <a:buNone/>
            </a:pPr>
            <a:r>
              <a:rPr lang="en-US" sz="1200" dirty="0">
                <a:solidFill>
                  <a:schemeClr val="tx2"/>
                </a:solidFill>
              </a:rPr>
              <a:t>FK 위반</a:t>
            </a:r>
            <a:endParaRPr lang="en-US" sz="1200" dirty="0"/>
          </a:p>
        </p:txBody>
      </p:sp>
      <p:sp>
        <p:nvSpPr>
          <p:cNvPr id="32" name="card-120"/>
          <p:cNvSpPr/>
          <p:nvPr/>
        </p:nvSpPr>
        <p:spPr>
          <a:xfrm>
            <a:off x="9582912" y="1463040"/>
            <a:ext cx="2057400" cy="3566160"/>
          </a:xfrm>
          <a:prstGeom prst="roundRect">
            <a:avLst>
              <a:gd name="adj" fmla="val 5333"/>
            </a:avLst>
          </a:prstGeom>
          <a:solidFill>
            <a:schemeClr val="bg2"/>
          </a:solidFill>
          <a:ln w="6350">
            <a:solidFill>
              <a:schemeClr val="bg2"/>
            </a:solidFill>
            <a:prstDash val="solid"/>
          </a:ln>
        </p:spPr>
      </p:sp>
      <p:sp>
        <p:nvSpPr>
          <p:cNvPr id="33" name="text-121"/>
          <p:cNvSpPr txBox="1"/>
          <p:nvPr/>
        </p:nvSpPr>
        <p:spPr>
          <a:xfrm>
            <a:off x="9582912" y="1691640"/>
            <a:ext cx="2057400" cy="274320"/>
          </a:xfrm>
          <a:prstGeom prst="rect">
            <a:avLst/>
          </a:prstGeom>
          <a:noFill/>
          <a:ln/>
        </p:spPr>
        <p:txBody>
          <a:bodyPr wrap="square" lIns="0" tIns="0" rIns="0" bIns="0" rtlCol="0" anchor="t"/>
          <a:lstStyle/>
          <a:p>
            <a:pPr algn="ctr" indent="0" marL="0">
              <a:buNone/>
            </a:pPr>
            <a:r>
              <a:rPr lang="en-US" sz="1100" dirty="0">
                <a:solidFill>
                  <a:schemeClr val="tx2"/>
                </a:solidFill>
              </a:rPr>
              <a:t>PostgreSQL</a:t>
            </a:r>
            <a:endParaRPr lang="en-US" sz="1100" dirty="0"/>
          </a:p>
        </p:txBody>
      </p:sp>
      <p:sp>
        <p:nvSpPr>
          <p:cNvPr id="34" name="text-122"/>
          <p:cNvSpPr txBox="1"/>
          <p:nvPr/>
        </p:nvSpPr>
        <p:spPr>
          <a:xfrm>
            <a:off x="9582912" y="1965960"/>
            <a:ext cx="2057400" cy="411480"/>
          </a:xfrm>
          <a:prstGeom prst="rect">
            <a:avLst/>
          </a:prstGeom>
          <a:noFill/>
          <a:ln/>
        </p:spPr>
        <p:txBody>
          <a:bodyPr wrap="square" lIns="0" tIns="0" rIns="0" bIns="0" rtlCol="0" anchor="t"/>
          <a:lstStyle/>
          <a:p>
            <a:pPr algn="ctr" indent="0" marL="0">
              <a:buNone/>
            </a:pPr>
            <a:r>
              <a:rPr lang="en-US" sz="1800" b="1" dirty="0">
                <a:solidFill>
                  <a:schemeClr val="tx1"/>
                </a:solidFill>
                <a:latin typeface="Courier New" pitchFamily="34" charset="0"/>
                <a:ea typeface="Courier New" pitchFamily="34" charset="-122"/>
                <a:cs typeface="Courier New" pitchFamily="34" charset="-120"/>
              </a:rPr>
              <a:t>42501</a:t>
            </a:r>
            <a:endParaRPr lang="en-US" sz="1800" dirty="0"/>
          </a:p>
        </p:txBody>
      </p:sp>
      <p:sp>
        <p:nvSpPr>
          <p:cNvPr id="35" name="text-123"/>
          <p:cNvSpPr txBox="1"/>
          <p:nvPr/>
        </p:nvSpPr>
        <p:spPr>
          <a:xfrm>
            <a:off x="9582912" y="2468880"/>
            <a:ext cx="2057400" cy="365760"/>
          </a:xfrm>
          <a:prstGeom prst="rect">
            <a:avLst/>
          </a:prstGeom>
          <a:noFill/>
          <a:ln/>
        </p:spPr>
        <p:txBody>
          <a:bodyPr wrap="square" lIns="0" tIns="0" rIns="0" bIns="0" rtlCol="0" anchor="t"/>
          <a:lstStyle/>
          <a:p>
            <a:pPr algn="ctr" indent="0" marL="0">
              <a:buNone/>
            </a:pPr>
            <a:r>
              <a:rPr lang="en-US" sz="2000" dirty="0">
                <a:solidFill>
                  <a:schemeClr val="tx2"/>
                </a:solidFill>
              </a:rPr>
              <a:t>↓</a:t>
            </a:r>
            <a:endParaRPr lang="en-US" sz="2000" dirty="0"/>
          </a:p>
        </p:txBody>
      </p:sp>
      <p:sp>
        <p:nvSpPr>
          <p:cNvPr id="36" name="text-124"/>
          <p:cNvSpPr txBox="1"/>
          <p:nvPr/>
        </p:nvSpPr>
        <p:spPr>
          <a:xfrm>
            <a:off x="9582912" y="2880360"/>
            <a:ext cx="2057400" cy="822960"/>
          </a:xfrm>
          <a:prstGeom prst="rect">
            <a:avLst/>
          </a:prstGeom>
          <a:noFill/>
          <a:ln/>
        </p:spPr>
        <p:txBody>
          <a:bodyPr wrap="square" lIns="0" tIns="0" rIns="0" bIns="0" rtlCol="0" anchor="ctr"/>
          <a:lstStyle/>
          <a:p>
            <a:pPr algn="ctr" indent="0" marL="0">
              <a:buNone/>
            </a:pPr>
            <a:r>
              <a:rPr lang="en-US" sz="4400" b="1" dirty="0">
                <a:solidFill>
                  <a:schemeClr val="accent1"/>
                </a:solidFill>
              </a:rPr>
              <a:t>403</a:t>
            </a:r>
            <a:endParaRPr lang="en-US" sz="4400" dirty="0"/>
          </a:p>
        </p:txBody>
      </p:sp>
      <p:sp>
        <p:nvSpPr>
          <p:cNvPr id="37" name="text-125"/>
          <p:cNvSpPr txBox="1"/>
          <p:nvPr/>
        </p:nvSpPr>
        <p:spPr>
          <a:xfrm>
            <a:off x="9582912" y="3931920"/>
            <a:ext cx="2057400" cy="320040"/>
          </a:xfrm>
          <a:prstGeom prst="rect">
            <a:avLst/>
          </a:prstGeom>
          <a:noFill/>
          <a:ln/>
        </p:spPr>
        <p:txBody>
          <a:bodyPr wrap="square" lIns="0" tIns="0" rIns="0" bIns="0" rtlCol="0" anchor="t"/>
          <a:lstStyle/>
          <a:p>
            <a:pPr algn="ctr" indent="0" marL="0">
              <a:buNone/>
            </a:pPr>
            <a:r>
              <a:rPr lang="en-US" sz="1400" b="1" dirty="0">
                <a:solidFill>
                  <a:schemeClr val="tx1"/>
                </a:solidFill>
              </a:rPr>
              <a:t>권한 없음</a:t>
            </a:r>
            <a:endParaRPr lang="en-US" sz="1400" dirty="0"/>
          </a:p>
        </p:txBody>
      </p:sp>
      <p:sp>
        <p:nvSpPr>
          <p:cNvPr id="38" name="text-126"/>
          <p:cNvSpPr txBox="1"/>
          <p:nvPr/>
        </p:nvSpPr>
        <p:spPr>
          <a:xfrm>
            <a:off x="9582912" y="4251960"/>
            <a:ext cx="2057400" cy="320040"/>
          </a:xfrm>
          <a:prstGeom prst="rect">
            <a:avLst/>
          </a:prstGeom>
          <a:noFill/>
          <a:ln/>
        </p:spPr>
        <p:txBody>
          <a:bodyPr wrap="square" lIns="0" tIns="0" rIns="0" bIns="0" rtlCol="0" anchor="t"/>
          <a:lstStyle/>
          <a:p>
            <a:pPr algn="ctr" indent="0" marL="0">
              <a:buNone/>
            </a:pPr>
            <a:r>
              <a:rPr lang="en-US" sz="1200" dirty="0">
                <a:solidFill>
                  <a:schemeClr val="tx2"/>
                </a:solidFill>
              </a:rPr>
              <a:t>RLS 위반</a:t>
            </a:r>
            <a:endParaRPr lang="en-US" sz="1200" dirty="0"/>
          </a:p>
        </p:txBody>
      </p:sp>
      <p:sp>
        <p:nvSpPr>
          <p:cNvPr id="39" name="card-127"/>
          <p:cNvSpPr/>
          <p:nvPr/>
        </p:nvSpPr>
        <p:spPr>
          <a:xfrm>
            <a:off x="548640" y="5394960"/>
            <a:ext cx="11064240" cy="731520"/>
          </a:xfrm>
          <a:prstGeom prst="roundRect">
            <a:avLst>
              <a:gd name="adj" fmla="val 15000"/>
            </a:avLst>
          </a:prstGeom>
          <a:solidFill>
            <a:schemeClr val="accent5"/>
          </a:solidFill>
          <a:ln w="6350">
            <a:solidFill>
              <a:schemeClr val="accent5"/>
            </a:solidFill>
            <a:prstDash val="solid"/>
          </a:ln>
        </p:spPr>
      </p:sp>
      <p:sp>
        <p:nvSpPr>
          <p:cNvPr id="40" name="text-128"/>
          <p:cNvSpPr txBox="1"/>
          <p:nvPr/>
        </p:nvSpPr>
        <p:spPr>
          <a:xfrm>
            <a:off x="777240" y="5394960"/>
            <a:ext cx="10607040" cy="731520"/>
          </a:xfrm>
          <a:prstGeom prst="rect">
            <a:avLst/>
          </a:prstGeom>
          <a:noFill/>
          <a:ln/>
        </p:spPr>
        <p:txBody>
          <a:bodyPr wrap="square" lIns="0" tIns="0" rIns="0" bIns="0" rtlCol="0" anchor="ctr"/>
          <a:lstStyle/>
          <a:p>
            <a:pPr algn="ctr" indent="0" marL="0">
              <a:buNone/>
            </a:pPr>
            <a:r>
              <a:rPr lang="en-US" sz="1600" b="1" dirty="0">
                <a:solidFill>
                  <a:schemeClr val="tx1"/>
                </a:solidFill>
              </a:rPr>
              <a:t>같은 409라도 '방 겹침'과 '내 다른 예약 겹침'은 제약 이름으로 구분해 다른 메시지를 준다</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문제 해결 경험</a:t>
            </a:r>
            <a:endParaRPr lang="en-US" sz="3000" dirty="0"/>
          </a:p>
        </p:txBody>
      </p:sp>
      <p:sp>
        <p:nvSpPr>
          <p:cNvPr id="4" name="card-129"/>
          <p:cNvSpPr/>
          <p:nvPr/>
        </p:nvSpPr>
        <p:spPr>
          <a:xfrm>
            <a:off x="548640" y="1371600"/>
            <a:ext cx="3566160" cy="4754880"/>
          </a:xfrm>
          <a:prstGeom prst="roundRect">
            <a:avLst>
              <a:gd name="adj" fmla="val 3077"/>
            </a:avLst>
          </a:prstGeom>
          <a:solidFill>
            <a:schemeClr val="bg2"/>
          </a:solidFill>
          <a:ln w="6350">
            <a:solidFill>
              <a:schemeClr val="bg2"/>
            </a:solidFill>
            <a:prstDash val="solid"/>
          </a:ln>
        </p:spPr>
      </p:sp>
      <p:sp>
        <p:nvSpPr>
          <p:cNvPr id="5" name="circle-130"/>
          <p:cNvSpPr/>
          <p:nvPr/>
        </p:nvSpPr>
        <p:spPr>
          <a:xfrm>
            <a:off x="822960" y="1645920"/>
            <a:ext cx="457200" cy="457200"/>
          </a:xfrm>
          <a:prstGeom prst="ellipse">
            <a:avLst/>
          </a:prstGeom>
          <a:solidFill>
            <a:schemeClr val="accent1"/>
          </a:solidFill>
          <a:ln w="6350">
            <a:solidFill>
              <a:schemeClr val="accent1"/>
            </a:solidFill>
            <a:prstDash val="solid"/>
          </a:ln>
        </p:spPr>
      </p:sp>
      <p:sp>
        <p:nvSpPr>
          <p:cNvPr id="6" name="text-131"/>
          <p:cNvSpPr txBox="1"/>
          <p:nvPr/>
        </p:nvSpPr>
        <p:spPr>
          <a:xfrm>
            <a:off x="822960" y="1645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132"/>
          <p:cNvSpPr txBox="1"/>
          <p:nvPr/>
        </p:nvSpPr>
        <p:spPr>
          <a:xfrm>
            <a:off x="1417320" y="1572768"/>
            <a:ext cx="2468880" cy="685800"/>
          </a:xfrm>
          <a:prstGeom prst="rect">
            <a:avLst/>
          </a:prstGeom>
          <a:noFill/>
          <a:ln/>
        </p:spPr>
        <p:txBody>
          <a:bodyPr wrap="square" lIns="0" tIns="0" rIns="0" bIns="0" rtlCol="0" anchor="ctr"/>
          <a:lstStyle/>
          <a:p>
            <a:pPr indent="0" marL="0">
              <a:buNone/>
            </a:pPr>
            <a:r>
              <a:rPr lang="en-US" sz="1600" b="1" dirty="0">
                <a:solidFill>
                  <a:schemeClr val="tx1"/>
                </a:solidFill>
              </a:rPr>
              <a:t>permission denied for table</a:t>
            </a:r>
            <a:endParaRPr lang="en-US" sz="1600" dirty="0"/>
          </a:p>
        </p:txBody>
      </p:sp>
      <p:sp>
        <p:nvSpPr>
          <p:cNvPr id="8" name="text-133"/>
          <p:cNvSpPr txBox="1"/>
          <p:nvPr/>
        </p:nvSpPr>
        <p:spPr>
          <a:xfrm>
            <a:off x="822960" y="2514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원인</a:t>
            </a:r>
            <a:endParaRPr lang="en-US" sz="1100" dirty="0"/>
          </a:p>
        </p:txBody>
      </p:sp>
      <p:sp>
        <p:nvSpPr>
          <p:cNvPr id="9" name="text-134"/>
          <p:cNvSpPr txBox="1"/>
          <p:nvPr/>
        </p:nvSpPr>
        <p:spPr>
          <a:xfrm>
            <a:off x="822960" y="2807208"/>
            <a:ext cx="3017520" cy="777240"/>
          </a:xfrm>
          <a:prstGeom prst="rect">
            <a:avLst/>
          </a:prstGeom>
          <a:noFill/>
          <a:ln/>
        </p:spPr>
        <p:txBody>
          <a:bodyPr wrap="square" lIns="0" tIns="0" rIns="0" bIns="0" rtlCol="0" anchor="t"/>
          <a:lstStyle/>
          <a:p>
            <a:pPr indent="0" marL="0">
              <a:buNone/>
            </a:pPr>
            <a:r>
              <a:rPr lang="en-US" sz="1300" dirty="0">
                <a:solidFill>
                  <a:schemeClr val="tx1"/>
                </a:solidFill>
              </a:rPr>
              <a:t>역할에 테이블 권한과 RLS 정책이 없었다</a:t>
            </a:r>
            <a:endParaRPr lang="en-US" sz="1300" dirty="0"/>
          </a:p>
        </p:txBody>
      </p:sp>
      <p:sp>
        <p:nvSpPr>
          <p:cNvPr id="10" name="text-135"/>
          <p:cNvSpPr txBox="1"/>
          <p:nvPr/>
        </p:nvSpPr>
        <p:spPr>
          <a:xfrm>
            <a:off x="822960" y="3657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해결</a:t>
            </a:r>
            <a:endParaRPr lang="en-US" sz="1100" dirty="0"/>
          </a:p>
        </p:txBody>
      </p:sp>
      <p:sp>
        <p:nvSpPr>
          <p:cNvPr id="11" name="text-136"/>
          <p:cNvSpPr txBox="1"/>
          <p:nvPr/>
        </p:nvSpPr>
        <p:spPr>
          <a:xfrm>
            <a:off x="822960" y="3950208"/>
            <a:ext cx="3017520" cy="777240"/>
          </a:xfrm>
          <a:prstGeom prst="rect">
            <a:avLst/>
          </a:prstGeom>
          <a:noFill/>
          <a:ln/>
        </p:spPr>
        <p:txBody>
          <a:bodyPr wrap="square" lIns="0" tIns="0" rIns="0" bIns="0" rtlCol="0" anchor="t"/>
          <a:lstStyle/>
          <a:p>
            <a:pPr indent="0" marL="0">
              <a:buNone/>
            </a:pPr>
            <a:r>
              <a:rPr lang="en-US" sz="1300" dirty="0">
                <a:solidFill>
                  <a:schemeClr val="tx1"/>
                </a:solidFill>
              </a:rPr>
              <a:t>GRANT + RLS 정책 추가</a:t>
            </a:r>
            <a:endParaRPr lang="en-US" sz="1300" dirty="0"/>
          </a:p>
        </p:txBody>
      </p:sp>
      <p:sp>
        <p:nvSpPr>
          <p:cNvPr id="12" name="text-137"/>
          <p:cNvSpPr txBox="1"/>
          <p:nvPr/>
        </p:nvSpPr>
        <p:spPr>
          <a:xfrm>
            <a:off x="822960" y="4800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배운 점</a:t>
            </a:r>
            <a:endParaRPr lang="en-US" sz="1100" dirty="0"/>
          </a:p>
        </p:txBody>
      </p:sp>
      <p:sp>
        <p:nvSpPr>
          <p:cNvPr id="13" name="text-138"/>
          <p:cNvSpPr txBox="1"/>
          <p:nvPr/>
        </p:nvSpPr>
        <p:spPr>
          <a:xfrm>
            <a:off x="822960" y="5093208"/>
            <a:ext cx="3017520" cy="777240"/>
          </a:xfrm>
          <a:prstGeom prst="rect">
            <a:avLst/>
          </a:prstGeom>
          <a:noFill/>
          <a:ln/>
        </p:spPr>
        <p:txBody>
          <a:bodyPr wrap="square" lIns="0" tIns="0" rIns="0" bIns="0" rtlCol="0" anchor="t"/>
          <a:lstStyle/>
          <a:p>
            <a:pPr indent="0" marL="0">
              <a:buNone/>
            </a:pPr>
            <a:r>
              <a:rPr lang="en-US" sz="1300" dirty="0">
                <a:solidFill>
                  <a:schemeClr val="tx1"/>
                </a:solidFill>
              </a:rPr>
              <a:t>Supabase는 명시적으로 허용하기 전엔 막는다</a:t>
            </a:r>
            <a:endParaRPr lang="en-US" sz="1300" dirty="0"/>
          </a:p>
        </p:txBody>
      </p:sp>
      <p:sp>
        <p:nvSpPr>
          <p:cNvPr id="14" name="card-139"/>
          <p:cNvSpPr/>
          <p:nvPr/>
        </p:nvSpPr>
        <p:spPr>
          <a:xfrm>
            <a:off x="4434840" y="1371600"/>
            <a:ext cx="3566160" cy="4754880"/>
          </a:xfrm>
          <a:prstGeom prst="roundRect">
            <a:avLst>
              <a:gd name="adj" fmla="val 3077"/>
            </a:avLst>
          </a:prstGeom>
          <a:solidFill>
            <a:schemeClr val="bg2"/>
          </a:solidFill>
          <a:ln w="6350">
            <a:solidFill>
              <a:schemeClr val="bg2"/>
            </a:solidFill>
            <a:prstDash val="solid"/>
          </a:ln>
        </p:spPr>
      </p:sp>
      <p:sp>
        <p:nvSpPr>
          <p:cNvPr id="15" name="circle-140"/>
          <p:cNvSpPr/>
          <p:nvPr/>
        </p:nvSpPr>
        <p:spPr>
          <a:xfrm>
            <a:off x="4709160" y="1645920"/>
            <a:ext cx="457200" cy="457200"/>
          </a:xfrm>
          <a:prstGeom prst="ellipse">
            <a:avLst/>
          </a:prstGeom>
          <a:solidFill>
            <a:schemeClr val="accent1"/>
          </a:solidFill>
          <a:ln w="6350">
            <a:solidFill>
              <a:schemeClr val="accent1"/>
            </a:solidFill>
            <a:prstDash val="solid"/>
          </a:ln>
        </p:spPr>
      </p:sp>
      <p:sp>
        <p:nvSpPr>
          <p:cNvPr id="16" name="text-141"/>
          <p:cNvSpPr txBox="1"/>
          <p:nvPr/>
        </p:nvSpPr>
        <p:spPr>
          <a:xfrm>
            <a:off x="4709160" y="1645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text-142"/>
          <p:cNvSpPr txBox="1"/>
          <p:nvPr/>
        </p:nvSpPr>
        <p:spPr>
          <a:xfrm>
            <a:off x="5303520" y="1572768"/>
            <a:ext cx="2468880" cy="685800"/>
          </a:xfrm>
          <a:prstGeom prst="rect">
            <a:avLst/>
          </a:prstGeom>
          <a:noFill/>
          <a:ln/>
        </p:spPr>
        <p:txBody>
          <a:bodyPr wrap="square" lIns="0" tIns="0" rIns="0" bIns="0" rtlCol="0" anchor="ctr"/>
          <a:lstStyle/>
          <a:p>
            <a:pPr indent="0" marL="0">
              <a:buNone/>
            </a:pPr>
            <a:r>
              <a:rPr lang="en-US" sz="1600" b="1" dirty="0">
                <a:solidFill>
                  <a:schemeClr val="tx1"/>
                </a:solidFill>
              </a:rPr>
              <a:t>참석자 추가 시 FK 위반</a:t>
            </a:r>
            <a:endParaRPr lang="en-US" sz="1600" dirty="0"/>
          </a:p>
        </p:txBody>
      </p:sp>
      <p:sp>
        <p:nvSpPr>
          <p:cNvPr id="18" name="text-143"/>
          <p:cNvSpPr txBox="1"/>
          <p:nvPr/>
        </p:nvSpPr>
        <p:spPr>
          <a:xfrm>
            <a:off x="4709160" y="2514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원인</a:t>
            </a:r>
            <a:endParaRPr lang="en-US" sz="1100" dirty="0"/>
          </a:p>
        </p:txBody>
      </p:sp>
      <p:sp>
        <p:nvSpPr>
          <p:cNvPr id="19" name="text-144"/>
          <p:cNvSpPr txBox="1"/>
          <p:nvPr/>
        </p:nvSpPr>
        <p:spPr>
          <a:xfrm>
            <a:off x="4709160" y="2807208"/>
            <a:ext cx="3017520" cy="777240"/>
          </a:xfrm>
          <a:prstGeom prst="rect">
            <a:avLst/>
          </a:prstGeom>
          <a:noFill/>
          <a:ln/>
        </p:spPr>
        <p:txBody>
          <a:bodyPr wrap="square" lIns="0" tIns="0" rIns="0" bIns="0" rtlCol="0" anchor="t"/>
          <a:lstStyle/>
          <a:p>
            <a:pPr indent="0" marL="0">
              <a:buNone/>
            </a:pPr>
            <a:r>
              <a:rPr lang="en-US" sz="1300" dirty="0">
                <a:solidFill>
                  <a:schemeClr val="tx1"/>
                </a:solidFill>
              </a:rPr>
              <a:t>트리거는 적용 이후 가입자에게만 profiles를 만든다</a:t>
            </a:r>
            <a:endParaRPr lang="en-US" sz="1300" dirty="0"/>
          </a:p>
        </p:txBody>
      </p:sp>
      <p:sp>
        <p:nvSpPr>
          <p:cNvPr id="20" name="text-145"/>
          <p:cNvSpPr txBox="1"/>
          <p:nvPr/>
        </p:nvSpPr>
        <p:spPr>
          <a:xfrm>
            <a:off x="4709160" y="3657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해결</a:t>
            </a:r>
            <a:endParaRPr lang="en-US" sz="1100" dirty="0"/>
          </a:p>
        </p:txBody>
      </p:sp>
      <p:sp>
        <p:nvSpPr>
          <p:cNvPr id="21" name="text-146"/>
          <p:cNvSpPr txBox="1"/>
          <p:nvPr/>
        </p:nvSpPr>
        <p:spPr>
          <a:xfrm>
            <a:off x="4709160" y="3950208"/>
            <a:ext cx="3017520" cy="777240"/>
          </a:xfrm>
          <a:prstGeom prst="rect">
            <a:avLst/>
          </a:prstGeom>
          <a:noFill/>
          <a:ln/>
        </p:spPr>
        <p:txBody>
          <a:bodyPr wrap="square" lIns="0" tIns="0" rIns="0" bIns="0" rtlCol="0" anchor="t"/>
          <a:lstStyle/>
          <a:p>
            <a:pPr indent="0" marL="0">
              <a:buNone/>
            </a:pPr>
            <a:r>
              <a:rPr lang="en-US" sz="1300" dirty="0">
                <a:solidFill>
                  <a:schemeClr val="tx1"/>
                </a:solidFill>
              </a:rPr>
              <a:t>기존 사용자 backfill 마이그레이션</a:t>
            </a:r>
            <a:endParaRPr lang="en-US" sz="1300" dirty="0"/>
          </a:p>
        </p:txBody>
      </p:sp>
      <p:sp>
        <p:nvSpPr>
          <p:cNvPr id="22" name="text-147"/>
          <p:cNvSpPr txBox="1"/>
          <p:nvPr/>
        </p:nvSpPr>
        <p:spPr>
          <a:xfrm>
            <a:off x="4709160" y="4800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배운 점</a:t>
            </a:r>
            <a:endParaRPr lang="en-US" sz="1100" dirty="0"/>
          </a:p>
        </p:txBody>
      </p:sp>
      <p:sp>
        <p:nvSpPr>
          <p:cNvPr id="23" name="text-148"/>
          <p:cNvSpPr txBox="1"/>
          <p:nvPr/>
        </p:nvSpPr>
        <p:spPr>
          <a:xfrm>
            <a:off x="4709160" y="5093208"/>
            <a:ext cx="3017520" cy="777240"/>
          </a:xfrm>
          <a:prstGeom prst="rect">
            <a:avLst/>
          </a:prstGeom>
          <a:noFill/>
          <a:ln/>
        </p:spPr>
        <p:txBody>
          <a:bodyPr wrap="square" lIns="0" tIns="0" rIns="0" bIns="0" rtlCol="0" anchor="t"/>
          <a:lstStyle/>
          <a:p>
            <a:pPr indent="0" marL="0">
              <a:buNone/>
            </a:pPr>
            <a:r>
              <a:rPr lang="en-US" sz="1300" dirty="0">
                <a:solidFill>
                  <a:schemeClr val="tx1"/>
                </a:solidFill>
              </a:rPr>
              <a:t>트리거는 과거 데이터를 건드리지 않는다</a:t>
            </a:r>
            <a:endParaRPr lang="en-US" sz="1300" dirty="0"/>
          </a:p>
        </p:txBody>
      </p:sp>
      <p:sp>
        <p:nvSpPr>
          <p:cNvPr id="24" name="card-149"/>
          <p:cNvSpPr/>
          <p:nvPr/>
        </p:nvSpPr>
        <p:spPr>
          <a:xfrm>
            <a:off x="8321040" y="1371600"/>
            <a:ext cx="3566160" cy="4754880"/>
          </a:xfrm>
          <a:prstGeom prst="roundRect">
            <a:avLst>
              <a:gd name="adj" fmla="val 3077"/>
            </a:avLst>
          </a:prstGeom>
          <a:solidFill>
            <a:schemeClr val="bg2"/>
          </a:solidFill>
          <a:ln w="6350">
            <a:solidFill>
              <a:schemeClr val="bg2"/>
            </a:solidFill>
            <a:prstDash val="solid"/>
          </a:ln>
        </p:spPr>
      </p:sp>
      <p:sp>
        <p:nvSpPr>
          <p:cNvPr id="25" name="circle-150"/>
          <p:cNvSpPr/>
          <p:nvPr/>
        </p:nvSpPr>
        <p:spPr>
          <a:xfrm>
            <a:off x="8595360" y="1645920"/>
            <a:ext cx="457200" cy="457200"/>
          </a:xfrm>
          <a:prstGeom prst="ellipse">
            <a:avLst/>
          </a:prstGeom>
          <a:solidFill>
            <a:schemeClr val="accent1"/>
          </a:solidFill>
          <a:ln w="6350">
            <a:solidFill>
              <a:schemeClr val="accent1"/>
            </a:solidFill>
            <a:prstDash val="solid"/>
          </a:ln>
        </p:spPr>
      </p:sp>
      <p:sp>
        <p:nvSpPr>
          <p:cNvPr id="26" name="text-151"/>
          <p:cNvSpPr txBox="1"/>
          <p:nvPr/>
        </p:nvSpPr>
        <p:spPr>
          <a:xfrm>
            <a:off x="8595360" y="164592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7" name="text-152"/>
          <p:cNvSpPr txBox="1"/>
          <p:nvPr/>
        </p:nvSpPr>
        <p:spPr>
          <a:xfrm>
            <a:off x="9189720" y="1572768"/>
            <a:ext cx="2468880" cy="685800"/>
          </a:xfrm>
          <a:prstGeom prst="rect">
            <a:avLst/>
          </a:prstGeom>
          <a:noFill/>
          <a:ln/>
        </p:spPr>
        <p:txBody>
          <a:bodyPr wrap="square" lIns="0" tIns="0" rIns="0" bIns="0" rtlCol="0" anchor="ctr"/>
          <a:lstStyle/>
          <a:p>
            <a:pPr indent="0" marL="0">
              <a:buNone/>
            </a:pPr>
            <a:r>
              <a:rPr lang="en-US" sz="1600" b="1" dirty="0">
                <a:solidFill>
                  <a:schemeClr val="tx1"/>
                </a:solidFill>
              </a:rPr>
              <a:t>빌드에서만 드러난</a:t>
            </a:r>
            <a:endParaRPr lang="en-US" sz="1600" dirty="0"/>
          </a:p>
          <a:p>
            <a:pPr indent="0" marL="0">
              <a:buNone/>
            </a:pPr>
            <a:r>
              <a:rPr lang="en-US" sz="1600" b="1" dirty="0">
                <a:solidFill>
                  <a:schemeClr val="tx1"/>
                </a:solidFill>
              </a:rPr>
              <a:t>프리렌더 오류</a:t>
            </a:r>
            <a:endParaRPr lang="en-US" sz="1600" dirty="0"/>
          </a:p>
        </p:txBody>
      </p:sp>
      <p:sp>
        <p:nvSpPr>
          <p:cNvPr id="28" name="text-153"/>
          <p:cNvSpPr txBox="1"/>
          <p:nvPr/>
        </p:nvSpPr>
        <p:spPr>
          <a:xfrm>
            <a:off x="8595360" y="2514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원인</a:t>
            </a:r>
            <a:endParaRPr lang="en-US" sz="1100" dirty="0"/>
          </a:p>
        </p:txBody>
      </p:sp>
      <p:sp>
        <p:nvSpPr>
          <p:cNvPr id="29" name="text-154"/>
          <p:cNvSpPr txBox="1"/>
          <p:nvPr/>
        </p:nvSpPr>
        <p:spPr>
          <a:xfrm>
            <a:off x="8595360" y="2807208"/>
            <a:ext cx="3017520" cy="777240"/>
          </a:xfrm>
          <a:prstGeom prst="rect">
            <a:avLst/>
          </a:prstGeom>
          <a:noFill/>
          <a:ln/>
        </p:spPr>
        <p:txBody>
          <a:bodyPr wrap="square" lIns="0" tIns="0" rIns="0" bIns="0" rtlCol="0" anchor="t"/>
          <a:lstStyle/>
          <a:p>
            <a:pPr indent="0" marL="0">
              <a:buNone/>
            </a:pPr>
            <a:r>
              <a:rPr lang="en-US" sz="1300" dirty="0">
                <a:solidFill>
                  <a:schemeClr val="tx1"/>
                </a:solidFill>
              </a:rPr>
              <a:t>현재 시각에 의존하는 화면을 미리 만들려 했다</a:t>
            </a:r>
            <a:endParaRPr lang="en-US" sz="1300" dirty="0"/>
          </a:p>
        </p:txBody>
      </p:sp>
      <p:sp>
        <p:nvSpPr>
          <p:cNvPr id="30" name="text-155"/>
          <p:cNvSpPr txBox="1"/>
          <p:nvPr/>
        </p:nvSpPr>
        <p:spPr>
          <a:xfrm>
            <a:off x="8595360" y="3657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해결</a:t>
            </a:r>
            <a:endParaRPr lang="en-US" sz="1100" dirty="0"/>
          </a:p>
        </p:txBody>
      </p:sp>
      <p:sp>
        <p:nvSpPr>
          <p:cNvPr id="31" name="text-156"/>
          <p:cNvSpPr txBox="1"/>
          <p:nvPr/>
        </p:nvSpPr>
        <p:spPr>
          <a:xfrm>
            <a:off x="8595360" y="3950208"/>
            <a:ext cx="3017520" cy="777240"/>
          </a:xfrm>
          <a:prstGeom prst="rect">
            <a:avLst/>
          </a:prstGeom>
          <a:noFill/>
          <a:ln/>
        </p:spPr>
        <p:txBody>
          <a:bodyPr wrap="square" lIns="0" tIns="0" rIns="0" bIns="0" rtlCol="0" anchor="t"/>
          <a:lstStyle/>
          <a:p>
            <a:pPr indent="0" marL="0">
              <a:buNone/>
            </a:pPr>
            <a:r>
              <a:rPr lang="en-US" sz="1300" dirty="0">
                <a:solidFill>
                  <a:schemeClr val="tx1"/>
                </a:solidFill>
              </a:rPr>
              <a:t>connection() + instant = false</a:t>
            </a:r>
            <a:endParaRPr lang="en-US" sz="1300" dirty="0"/>
          </a:p>
        </p:txBody>
      </p:sp>
      <p:sp>
        <p:nvSpPr>
          <p:cNvPr id="32" name="text-157"/>
          <p:cNvSpPr txBox="1"/>
          <p:nvPr/>
        </p:nvSpPr>
        <p:spPr>
          <a:xfrm>
            <a:off x="8595360" y="4800600"/>
            <a:ext cx="3017520" cy="274320"/>
          </a:xfrm>
          <a:prstGeom prst="rect">
            <a:avLst/>
          </a:prstGeom>
          <a:noFill/>
          <a:ln/>
        </p:spPr>
        <p:txBody>
          <a:bodyPr wrap="square" lIns="0" tIns="0" rIns="0" bIns="0" rtlCol="0" anchor="t"/>
          <a:lstStyle/>
          <a:p>
            <a:pPr indent="0" marL="0">
              <a:buNone/>
            </a:pPr>
            <a:r>
              <a:rPr lang="en-US" sz="1100" b="1" dirty="0">
                <a:solidFill>
                  <a:schemeClr val="accent1"/>
                </a:solidFill>
              </a:rPr>
              <a:t>배운 점</a:t>
            </a:r>
            <a:endParaRPr lang="en-US" sz="1100" dirty="0"/>
          </a:p>
        </p:txBody>
      </p:sp>
      <p:sp>
        <p:nvSpPr>
          <p:cNvPr id="33" name="text-158"/>
          <p:cNvSpPr txBox="1"/>
          <p:nvPr/>
        </p:nvSpPr>
        <p:spPr>
          <a:xfrm>
            <a:off x="8595360" y="5093208"/>
            <a:ext cx="3017520" cy="777240"/>
          </a:xfrm>
          <a:prstGeom prst="rect">
            <a:avLst/>
          </a:prstGeom>
          <a:noFill/>
          <a:ln/>
        </p:spPr>
        <p:txBody>
          <a:bodyPr wrap="square" lIns="0" tIns="0" rIns="0" bIns="0" rtlCol="0" anchor="t"/>
          <a:lstStyle/>
          <a:p>
            <a:pPr indent="0" marL="0">
              <a:buNone/>
            </a:pPr>
            <a:r>
              <a:rPr lang="en-US" sz="1300" dirty="0">
                <a:solidFill>
                  <a:schemeClr val="tx1"/>
                </a:solidFill>
              </a:rPr>
              <a:t>캐시 가능한 화면과 요청마다 다른 화면의 경계를 명시</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라이브 데모</a:t>
            </a:r>
            <a:endParaRPr lang="en-US" sz="4000" dirty="0"/>
          </a:p>
        </p:txBody>
      </p:sp>
      <p:sp>
        <p:nvSpPr>
          <p:cNvPr id="4" name="circle-159"/>
          <p:cNvSpPr/>
          <p:nvPr/>
        </p:nvSpPr>
        <p:spPr>
          <a:xfrm>
            <a:off x="822960" y="3794760"/>
            <a:ext cx="384048" cy="384048"/>
          </a:xfrm>
          <a:prstGeom prst="ellipse">
            <a:avLst/>
          </a:prstGeom>
          <a:solidFill>
            <a:schemeClr val="accent1"/>
          </a:solidFill>
          <a:ln w="6350">
            <a:solidFill>
              <a:schemeClr val="accent1"/>
            </a:solidFill>
            <a:prstDash val="solid"/>
          </a:ln>
        </p:spPr>
      </p:sp>
      <p:sp>
        <p:nvSpPr>
          <p:cNvPr id="5" name="text-160"/>
          <p:cNvSpPr txBox="1"/>
          <p:nvPr/>
        </p:nvSpPr>
        <p:spPr>
          <a:xfrm>
            <a:off x="822960" y="37947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161"/>
          <p:cNvSpPr txBox="1"/>
          <p:nvPr/>
        </p:nvSpPr>
        <p:spPr>
          <a:xfrm>
            <a:off x="1371600" y="3749040"/>
            <a:ext cx="10058400" cy="457200"/>
          </a:xfrm>
          <a:prstGeom prst="rect">
            <a:avLst/>
          </a:prstGeom>
          <a:noFill/>
          <a:ln/>
        </p:spPr>
        <p:txBody>
          <a:bodyPr wrap="square" lIns="0" tIns="0" rIns="0" bIns="0" rtlCol="0" anchor="ctr"/>
          <a:lstStyle/>
          <a:p>
            <a:pPr indent="0" marL="0">
              <a:buNone/>
            </a:pPr>
            <a:r>
              <a:rPr lang="en-US" sz="2000" dirty="0">
                <a:solidFill>
                  <a:schemeClr val="bg1"/>
                </a:solidFill>
              </a:rPr>
              <a:t>11:00 – 12:00 예약  →  성공</a:t>
            </a:r>
            <a:endParaRPr lang="en-US" sz="2000" dirty="0"/>
          </a:p>
        </p:txBody>
      </p:sp>
      <p:sp>
        <p:nvSpPr>
          <p:cNvPr id="7" name="circle-162"/>
          <p:cNvSpPr/>
          <p:nvPr/>
        </p:nvSpPr>
        <p:spPr>
          <a:xfrm>
            <a:off x="822960" y="4343400"/>
            <a:ext cx="384048" cy="384048"/>
          </a:xfrm>
          <a:prstGeom prst="ellipse">
            <a:avLst/>
          </a:prstGeom>
          <a:solidFill>
            <a:schemeClr val="accent1"/>
          </a:solidFill>
          <a:ln w="6350">
            <a:solidFill>
              <a:schemeClr val="accent1"/>
            </a:solidFill>
            <a:prstDash val="solid"/>
          </a:ln>
        </p:spPr>
      </p:sp>
      <p:sp>
        <p:nvSpPr>
          <p:cNvPr id="8" name="text-163"/>
          <p:cNvSpPr txBox="1"/>
          <p:nvPr/>
        </p:nvSpPr>
        <p:spPr>
          <a:xfrm>
            <a:off x="822960" y="43434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164"/>
          <p:cNvSpPr txBox="1"/>
          <p:nvPr/>
        </p:nvSpPr>
        <p:spPr>
          <a:xfrm>
            <a:off x="1371600" y="4297680"/>
            <a:ext cx="10058400" cy="457200"/>
          </a:xfrm>
          <a:prstGeom prst="rect">
            <a:avLst/>
          </a:prstGeom>
          <a:noFill/>
          <a:ln/>
        </p:spPr>
        <p:txBody>
          <a:bodyPr wrap="square" lIns="0" tIns="0" rIns="0" bIns="0" rtlCol="0" anchor="ctr"/>
          <a:lstStyle/>
          <a:p>
            <a:pPr indent="0" marL="0">
              <a:buNone/>
            </a:pPr>
            <a:r>
              <a:rPr lang="en-US" sz="2000" dirty="0">
                <a:solidFill>
                  <a:schemeClr val="bg1"/>
                </a:solidFill>
              </a:rPr>
              <a:t>같은 방 11:30 – 12:30  →  차단  (방 겹침)</a:t>
            </a:r>
            <a:endParaRPr lang="en-US" sz="2000" dirty="0"/>
          </a:p>
        </p:txBody>
      </p:sp>
      <p:sp>
        <p:nvSpPr>
          <p:cNvPr id="10" name="circle-165"/>
          <p:cNvSpPr/>
          <p:nvPr/>
        </p:nvSpPr>
        <p:spPr>
          <a:xfrm>
            <a:off x="822960" y="4892040"/>
            <a:ext cx="384048" cy="384048"/>
          </a:xfrm>
          <a:prstGeom prst="ellipse">
            <a:avLst/>
          </a:prstGeom>
          <a:solidFill>
            <a:schemeClr val="accent1"/>
          </a:solidFill>
          <a:ln w="6350">
            <a:solidFill>
              <a:schemeClr val="accent1"/>
            </a:solidFill>
            <a:prstDash val="solid"/>
          </a:ln>
        </p:spPr>
      </p:sp>
      <p:sp>
        <p:nvSpPr>
          <p:cNvPr id="11" name="text-166"/>
          <p:cNvSpPr txBox="1"/>
          <p:nvPr/>
        </p:nvSpPr>
        <p:spPr>
          <a:xfrm>
            <a:off x="822960" y="4892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167"/>
          <p:cNvSpPr txBox="1"/>
          <p:nvPr/>
        </p:nvSpPr>
        <p:spPr>
          <a:xfrm>
            <a:off x="1371600" y="4846320"/>
            <a:ext cx="10058400" cy="457200"/>
          </a:xfrm>
          <a:prstGeom prst="rect">
            <a:avLst/>
          </a:prstGeom>
          <a:noFill/>
          <a:ln/>
        </p:spPr>
        <p:txBody>
          <a:bodyPr wrap="square" lIns="0" tIns="0" rIns="0" bIns="0" rtlCol="0" anchor="ctr"/>
          <a:lstStyle/>
          <a:p>
            <a:pPr indent="0" marL="0">
              <a:buNone/>
            </a:pPr>
            <a:r>
              <a:rPr lang="en-US" sz="2000" dirty="0">
                <a:solidFill>
                  <a:schemeClr val="bg1"/>
                </a:solidFill>
              </a:rPr>
              <a:t>다른 방 11:30 – 12:30  →  차단  (내 예약 겹침)</a:t>
            </a:r>
            <a:endParaRPr lang="en-US" sz="2000" dirty="0"/>
          </a:p>
        </p:txBody>
      </p:sp>
      <p:sp>
        <p:nvSpPr>
          <p:cNvPr id="13" name="circle-168"/>
          <p:cNvSpPr/>
          <p:nvPr/>
        </p:nvSpPr>
        <p:spPr>
          <a:xfrm>
            <a:off x="822960" y="5440680"/>
            <a:ext cx="384048" cy="384048"/>
          </a:xfrm>
          <a:prstGeom prst="ellipse">
            <a:avLst/>
          </a:prstGeom>
          <a:solidFill>
            <a:schemeClr val="accent1"/>
          </a:solidFill>
          <a:ln w="6350">
            <a:solidFill>
              <a:schemeClr val="accent1"/>
            </a:solidFill>
            <a:prstDash val="solid"/>
          </a:ln>
        </p:spPr>
      </p:sp>
      <p:sp>
        <p:nvSpPr>
          <p:cNvPr id="14" name="text-169"/>
          <p:cNvSpPr txBox="1"/>
          <p:nvPr/>
        </p:nvSpPr>
        <p:spPr>
          <a:xfrm>
            <a:off x="822960" y="544068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170"/>
          <p:cNvSpPr txBox="1"/>
          <p:nvPr/>
        </p:nvSpPr>
        <p:spPr>
          <a:xfrm>
            <a:off x="1371600" y="5394960"/>
            <a:ext cx="10058400" cy="457200"/>
          </a:xfrm>
          <a:prstGeom prst="rect">
            <a:avLst/>
          </a:prstGeom>
          <a:noFill/>
          <a:ln/>
        </p:spPr>
        <p:txBody>
          <a:bodyPr wrap="square" lIns="0" tIns="0" rIns="0" bIns="0" rtlCol="0" anchor="ctr"/>
          <a:lstStyle/>
          <a:p>
            <a:pPr indent="0" marL="0">
              <a:buNone/>
            </a:pPr>
            <a:r>
              <a:rPr lang="en-US" sz="2000" dirty="0">
                <a:solidFill>
                  <a:schemeClr val="bg1"/>
                </a:solidFill>
              </a:rPr>
              <a:t>예약 취소 후 다시 ②  →  성공  (시간이 다시 열림)</a:t>
            </a:r>
            <a:endParaRPr lang="en-US" sz="2000" dirty="0"/>
          </a:p>
        </p:txBody>
      </p:sp>
      <p:sp>
        <p:nvSpPr>
          <p:cNvPr id="16" name="text-171"/>
          <p:cNvSpPr txBox="1"/>
          <p:nvPr/>
        </p:nvSpPr>
        <p:spPr>
          <a:xfrm>
            <a:off x="822960" y="6126480"/>
            <a:ext cx="10058400" cy="320040"/>
          </a:xfrm>
          <a:prstGeom prst="rect">
            <a:avLst/>
          </a:prstGeom>
          <a:noFill/>
          <a:ln/>
        </p:spPr>
        <p:txBody>
          <a:bodyPr wrap="square" lIns="0" tIns="0" rIns="0" bIns="0" rtlCol="0" anchor="t"/>
          <a:lstStyle/>
          <a:p>
            <a:pPr indent="0" marL="0">
              <a:buNone/>
            </a:pPr>
            <a:r>
              <a:rPr lang="en-US" sz="1400" dirty="0">
                <a:solidFill>
                  <a:schemeClr val="bg2"/>
                </a:solidFill>
              </a:rPr>
              <a:t>브라우저로 전환  ·  로그인된 상태로 미리 준비</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한계와 개선 방향</a:t>
            </a:r>
            <a:endParaRPr lang="en-US" sz="3000" dirty="0"/>
          </a:p>
        </p:txBody>
      </p:sp>
      <p:sp>
        <p:nvSpPr>
          <p:cNvPr id="4" name="card-172"/>
          <p:cNvSpPr/>
          <p:nvPr/>
        </p:nvSpPr>
        <p:spPr>
          <a:xfrm>
            <a:off x="548640" y="1371600"/>
            <a:ext cx="3566160" cy="3291840"/>
          </a:xfrm>
          <a:prstGeom prst="roundRect">
            <a:avLst>
              <a:gd name="adj" fmla="val 3333"/>
            </a:avLst>
          </a:prstGeom>
          <a:solidFill>
            <a:schemeClr val="bg2"/>
          </a:solidFill>
          <a:ln w="6350">
            <a:solidFill>
              <a:schemeClr val="bg2"/>
            </a:solidFill>
            <a:prstDash val="solid"/>
          </a:ln>
        </p:spPr>
      </p:sp>
      <p:sp>
        <p:nvSpPr>
          <p:cNvPr id="5" name="text-173"/>
          <p:cNvSpPr txBox="1"/>
          <p:nvPr/>
        </p:nvSpPr>
        <p:spPr>
          <a:xfrm>
            <a:off x="822960" y="164592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참석자의 시간 겹침은</a:t>
            </a:r>
            <a:endParaRPr lang="en-US" sz="1600" dirty="0"/>
          </a:p>
          <a:p>
            <a:pPr indent="0" marL="0">
              <a:buNone/>
            </a:pPr>
            <a:r>
              <a:rPr lang="en-US" sz="1600" b="1" dirty="0">
                <a:solidFill>
                  <a:schemeClr val="tx1"/>
                </a:solidFill>
              </a:rPr>
              <a:t>아직 허용</a:t>
            </a:r>
            <a:endParaRPr lang="en-US" sz="1600" dirty="0"/>
          </a:p>
        </p:txBody>
      </p:sp>
      <p:sp>
        <p:nvSpPr>
          <p:cNvPr id="6" name="text-174"/>
          <p:cNvSpPr txBox="1"/>
          <p:nvPr/>
        </p:nvSpPr>
        <p:spPr>
          <a:xfrm>
            <a:off x="822960" y="2514600"/>
            <a:ext cx="3017520" cy="1097280"/>
          </a:xfrm>
          <a:prstGeom prst="rect">
            <a:avLst/>
          </a:prstGeom>
          <a:noFill/>
          <a:ln/>
        </p:spPr>
        <p:txBody>
          <a:bodyPr wrap="square" lIns="0" tIns="0" rIns="0" bIns="0" rtlCol="0" anchor="t"/>
          <a:lstStyle/>
          <a:p>
            <a:pPr indent="0" marL="0">
              <a:buNone/>
            </a:pPr>
            <a:r>
              <a:rPr lang="en-US" sz="1400" dirty="0">
                <a:solidFill>
                  <a:schemeClr val="tx2"/>
                </a:solidFill>
              </a:rPr>
              <a:t>시간이 다른 테이블(reservations)에 있어 제약으로는 표현 불가</a:t>
            </a:r>
            <a:endParaRPr lang="en-US" sz="1400" dirty="0"/>
          </a:p>
        </p:txBody>
      </p:sp>
      <p:sp>
        <p:nvSpPr>
          <p:cNvPr id="7" name="text-175"/>
          <p:cNvSpPr txBox="1"/>
          <p:nvPr/>
        </p:nvSpPr>
        <p:spPr>
          <a:xfrm>
            <a:off x="822960" y="3749040"/>
            <a:ext cx="3017520" cy="457200"/>
          </a:xfrm>
          <a:prstGeom prst="rect">
            <a:avLst/>
          </a:prstGeom>
          <a:noFill/>
          <a:ln/>
        </p:spPr>
        <p:txBody>
          <a:bodyPr wrap="square" lIns="0" tIns="0" rIns="0" bIns="0" rtlCol="0" anchor="t"/>
          <a:lstStyle/>
          <a:p>
            <a:pPr indent="0" marL="0">
              <a:buNone/>
            </a:pPr>
            <a:r>
              <a:rPr lang="en-US" sz="1500" b="1" dirty="0">
                <a:solidFill>
                  <a:schemeClr val="accent1"/>
                </a:solidFill>
              </a:rPr>
              <a:t>→  트리거로 처리</a:t>
            </a:r>
            <a:endParaRPr lang="en-US" sz="1500" dirty="0"/>
          </a:p>
        </p:txBody>
      </p:sp>
      <p:sp>
        <p:nvSpPr>
          <p:cNvPr id="8" name="card-176"/>
          <p:cNvSpPr/>
          <p:nvPr/>
        </p:nvSpPr>
        <p:spPr>
          <a:xfrm>
            <a:off x="4434840" y="1371600"/>
            <a:ext cx="3566160" cy="3291840"/>
          </a:xfrm>
          <a:prstGeom prst="roundRect">
            <a:avLst>
              <a:gd name="adj" fmla="val 3333"/>
            </a:avLst>
          </a:prstGeom>
          <a:solidFill>
            <a:schemeClr val="bg2"/>
          </a:solidFill>
          <a:ln w="6350">
            <a:solidFill>
              <a:schemeClr val="bg2"/>
            </a:solidFill>
            <a:prstDash val="solid"/>
          </a:ln>
        </p:spPr>
      </p:sp>
      <p:sp>
        <p:nvSpPr>
          <p:cNvPr id="9" name="text-177"/>
          <p:cNvSpPr txBox="1"/>
          <p:nvPr/>
        </p:nvSpPr>
        <p:spPr>
          <a:xfrm>
            <a:off x="4709160" y="164592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과거 시간 예약 금지 없음</a:t>
            </a:r>
            <a:endParaRPr lang="en-US" sz="1600" dirty="0"/>
          </a:p>
        </p:txBody>
      </p:sp>
      <p:sp>
        <p:nvSpPr>
          <p:cNvPr id="10" name="text-178"/>
          <p:cNvSpPr txBox="1"/>
          <p:nvPr/>
        </p:nvSpPr>
        <p:spPr>
          <a:xfrm>
            <a:off x="4709160" y="2514600"/>
            <a:ext cx="3017520" cy="1097280"/>
          </a:xfrm>
          <a:prstGeom prst="rect">
            <a:avLst/>
          </a:prstGeom>
          <a:noFill/>
          <a:ln/>
        </p:spPr>
        <p:txBody>
          <a:bodyPr wrap="square" lIns="0" tIns="0" rIns="0" bIns="0" rtlCol="0" anchor="t"/>
          <a:lstStyle/>
          <a:p>
            <a:pPr indent="0" marL="0">
              <a:buNone/>
            </a:pPr>
            <a:r>
              <a:rPr lang="en-US" sz="1400" dirty="0">
                <a:solidFill>
                  <a:schemeClr val="tx2"/>
                </a:solidFill>
              </a:rPr>
              <a:t>now()는 값이 변하는 함수라 CHECK 제약에 쓸 수 없다</a:t>
            </a:r>
            <a:endParaRPr lang="en-US" sz="1400" dirty="0"/>
          </a:p>
        </p:txBody>
      </p:sp>
      <p:sp>
        <p:nvSpPr>
          <p:cNvPr id="11" name="text-179"/>
          <p:cNvSpPr txBox="1"/>
          <p:nvPr/>
        </p:nvSpPr>
        <p:spPr>
          <a:xfrm>
            <a:off x="4709160" y="3749040"/>
            <a:ext cx="3017520" cy="457200"/>
          </a:xfrm>
          <a:prstGeom prst="rect">
            <a:avLst/>
          </a:prstGeom>
          <a:noFill/>
          <a:ln/>
        </p:spPr>
        <p:txBody>
          <a:bodyPr wrap="square" lIns="0" tIns="0" rIns="0" bIns="0" rtlCol="0" anchor="t"/>
          <a:lstStyle/>
          <a:p>
            <a:pPr indent="0" marL="0">
              <a:buNone/>
            </a:pPr>
            <a:r>
              <a:rPr lang="en-US" sz="1500" b="1" dirty="0">
                <a:solidFill>
                  <a:schemeClr val="accent1"/>
                </a:solidFill>
              </a:rPr>
              <a:t>→  트리거 또는 API 검증</a:t>
            </a:r>
            <a:endParaRPr lang="en-US" sz="1500" dirty="0"/>
          </a:p>
        </p:txBody>
      </p:sp>
      <p:sp>
        <p:nvSpPr>
          <p:cNvPr id="12" name="card-180"/>
          <p:cNvSpPr/>
          <p:nvPr/>
        </p:nvSpPr>
        <p:spPr>
          <a:xfrm>
            <a:off x="8321040" y="1371600"/>
            <a:ext cx="3566160" cy="3291840"/>
          </a:xfrm>
          <a:prstGeom prst="roundRect">
            <a:avLst>
              <a:gd name="adj" fmla="val 3333"/>
            </a:avLst>
          </a:prstGeom>
          <a:solidFill>
            <a:schemeClr val="bg2"/>
          </a:solidFill>
          <a:ln w="6350">
            <a:solidFill>
              <a:schemeClr val="bg2"/>
            </a:solidFill>
            <a:prstDash val="solid"/>
          </a:ln>
        </p:spPr>
      </p:sp>
      <p:sp>
        <p:nvSpPr>
          <p:cNvPr id="13" name="text-181"/>
          <p:cNvSpPr txBox="1"/>
          <p:nvPr/>
        </p:nvSpPr>
        <p:spPr>
          <a:xfrm>
            <a:off x="8595360" y="1645920"/>
            <a:ext cx="3017520" cy="731520"/>
          </a:xfrm>
          <a:prstGeom prst="rect">
            <a:avLst/>
          </a:prstGeom>
          <a:noFill/>
          <a:ln/>
        </p:spPr>
        <p:txBody>
          <a:bodyPr wrap="square" lIns="0" tIns="0" rIns="0" bIns="0" rtlCol="0" anchor="ctr"/>
          <a:lstStyle/>
          <a:p>
            <a:pPr indent="0" marL="0">
              <a:buNone/>
            </a:pPr>
            <a:r>
              <a:rPr lang="en-US" sz="1600" b="1" dirty="0">
                <a:solidFill>
                  <a:schemeClr val="tx1"/>
                </a:solidFill>
              </a:rPr>
              <a:t>예약 취소가</a:t>
            </a:r>
            <a:endParaRPr lang="en-US" sz="1600" dirty="0"/>
          </a:p>
          <a:p>
            <a:pPr indent="0" marL="0">
              <a:buNone/>
            </a:pPr>
            <a:r>
              <a:rPr lang="en-US" sz="1600" b="1" dirty="0">
                <a:solidFill>
                  <a:schemeClr val="tx1"/>
                </a:solidFill>
              </a:rPr>
              <a:t>403·404를 구분 못 함</a:t>
            </a:r>
            <a:endParaRPr lang="en-US" sz="1600" dirty="0"/>
          </a:p>
        </p:txBody>
      </p:sp>
      <p:sp>
        <p:nvSpPr>
          <p:cNvPr id="14" name="text-182"/>
          <p:cNvSpPr txBox="1"/>
          <p:nvPr/>
        </p:nvSpPr>
        <p:spPr>
          <a:xfrm>
            <a:off x="8595360" y="2514600"/>
            <a:ext cx="3017520" cy="1097280"/>
          </a:xfrm>
          <a:prstGeom prst="rect">
            <a:avLst/>
          </a:prstGeom>
          <a:noFill/>
          <a:ln/>
        </p:spPr>
        <p:txBody>
          <a:bodyPr wrap="square" lIns="0" tIns="0" rIns="0" bIns="0" rtlCol="0" anchor="t"/>
          <a:lstStyle/>
          <a:p>
            <a:pPr indent="0" marL="0">
              <a:buNone/>
            </a:pPr>
            <a:r>
              <a:rPr lang="en-US" sz="1400" dirty="0">
                <a:solidFill>
                  <a:schemeClr val="tx2"/>
                </a:solidFill>
              </a:rPr>
              <a:t>없는 예약·남의 예약에도 200을 돌려준다</a:t>
            </a:r>
            <a:endParaRPr lang="en-US" sz="1400" dirty="0"/>
          </a:p>
        </p:txBody>
      </p:sp>
      <p:sp>
        <p:nvSpPr>
          <p:cNvPr id="15" name="text-183"/>
          <p:cNvSpPr txBox="1"/>
          <p:nvPr/>
        </p:nvSpPr>
        <p:spPr>
          <a:xfrm>
            <a:off x="8595360" y="3749040"/>
            <a:ext cx="3017520" cy="457200"/>
          </a:xfrm>
          <a:prstGeom prst="rect">
            <a:avLst/>
          </a:prstGeom>
          <a:noFill/>
          <a:ln/>
        </p:spPr>
        <p:txBody>
          <a:bodyPr wrap="square" lIns="0" tIns="0" rIns="0" bIns="0" rtlCol="0" anchor="t"/>
          <a:lstStyle/>
          <a:p>
            <a:pPr indent="0" marL="0">
              <a:buNone/>
            </a:pPr>
            <a:r>
              <a:rPr lang="en-US" sz="1500" b="1" dirty="0">
                <a:solidFill>
                  <a:schemeClr val="accent1"/>
                </a:solidFill>
              </a:rPr>
              <a:t>→  바뀐 행 수로 구분</a:t>
            </a:r>
            <a:endParaRPr lang="en-US" sz="1500" dirty="0"/>
          </a:p>
        </p:txBody>
      </p:sp>
      <p:sp>
        <p:nvSpPr>
          <p:cNvPr id="16" name="card-184"/>
          <p:cNvSpPr/>
          <p:nvPr/>
        </p:nvSpPr>
        <p:spPr>
          <a:xfrm>
            <a:off x="548640" y="5029200"/>
            <a:ext cx="11064240" cy="640080"/>
          </a:xfrm>
          <a:prstGeom prst="roundRect">
            <a:avLst>
              <a:gd name="adj" fmla="val 17143"/>
            </a:avLst>
          </a:prstGeom>
          <a:solidFill>
            <a:schemeClr val="accent5"/>
          </a:solidFill>
          <a:ln w="6350">
            <a:solidFill>
              <a:schemeClr val="accent5"/>
            </a:solidFill>
            <a:prstDash val="solid"/>
          </a:ln>
        </p:spPr>
      </p:sp>
      <p:sp>
        <p:nvSpPr>
          <p:cNvPr id="17" name="text-185"/>
          <p:cNvSpPr txBox="1"/>
          <p:nvPr/>
        </p:nvSpPr>
        <p:spPr>
          <a:xfrm>
            <a:off x="777240" y="5029200"/>
            <a:ext cx="10607040" cy="640080"/>
          </a:xfrm>
          <a:prstGeom prst="rect">
            <a:avLst/>
          </a:prstGeom>
          <a:noFill/>
          <a:ln/>
        </p:spPr>
        <p:txBody>
          <a:bodyPr wrap="square" lIns="0" tIns="0" rIns="0" bIns="0" rtlCol="0" anchor="ctr"/>
          <a:lstStyle/>
          <a:p>
            <a:pPr algn="ctr" indent="0" marL="0">
              <a:buNone/>
            </a:pPr>
            <a:r>
              <a:rPr lang="en-US" sz="1500" b="1" dirty="0">
                <a:solidFill>
                  <a:schemeClr val="tx1"/>
                </a:solidFill>
              </a:rPr>
              <a:t>제약으로 되는 것과 안 되는 것의 경계를 아는 것이 다음 단계</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194560"/>
            <a:ext cx="10515600" cy="1371600"/>
          </a:xfrm>
          <a:prstGeom prst="rect">
            <a:avLst/>
          </a:prstGeom>
          <a:noFill/>
          <a:ln/>
        </p:spPr>
        <p:txBody>
          <a:bodyPr wrap="square" lIns="0" tIns="0" rIns="0" bIns="0" rtlCol="0" anchor="ctr"/>
          <a:lstStyle/>
          <a:p>
            <a:pPr algn="l" indent="0" marL="0">
              <a:buNone/>
            </a:pPr>
            <a:r>
              <a:rPr lang="en-US" sz="4000" b="1" dirty="0">
                <a:solidFill>
                  <a:schemeClr val="bg1"/>
                </a:solidFill>
              </a:rPr>
              <a:t>규칙은 애플리케이션이 아니라 DB가 지킨다</a:t>
            </a:r>
            <a:endParaRPr lang="en-US" sz="4000" dirty="0"/>
          </a:p>
        </p:txBody>
      </p:sp>
      <p:sp>
        <p:nvSpPr>
          <p:cNvPr id="4" name="text-186"/>
          <p:cNvSpPr txBox="1"/>
          <p:nvPr/>
        </p:nvSpPr>
        <p:spPr>
          <a:xfrm>
            <a:off x="822960" y="3840480"/>
            <a:ext cx="10515600" cy="457200"/>
          </a:xfrm>
          <a:prstGeom prst="rect">
            <a:avLst/>
          </a:prstGeom>
          <a:noFill/>
          <a:ln/>
        </p:spPr>
        <p:txBody>
          <a:bodyPr wrap="square" lIns="0" tIns="0" rIns="0" bIns="0" rtlCol="0" anchor="t"/>
          <a:lstStyle/>
          <a:p>
            <a:pPr indent="0" marL="0">
              <a:buNone/>
            </a:pPr>
            <a:r>
              <a:rPr lang="en-US" sz="2200" dirty="0">
                <a:solidFill>
                  <a:schemeClr val="bg2"/>
                </a:solidFill>
              </a:rPr>
              <a:t>감사합니다  ·  질문 받겠습니다</a:t>
            </a:r>
            <a:endParaRPr lang="en-US" sz="2200" dirty="0"/>
          </a:p>
        </p:txBody>
      </p:sp>
      <p:sp>
        <p:nvSpPr>
          <p:cNvPr id="5" name="text-187"/>
          <p:cNvSpPr txBox="1"/>
          <p:nvPr/>
        </p:nvSpPr>
        <p:spPr>
          <a:xfrm>
            <a:off x="822960" y="4937760"/>
            <a:ext cx="10515600" cy="365760"/>
          </a:xfrm>
          <a:prstGeom prst="rect">
            <a:avLst/>
          </a:prstGeom>
          <a:noFill/>
          <a:ln/>
        </p:spPr>
        <p:txBody>
          <a:bodyPr wrap="square" lIns="0" tIns="0" rIns="0" bIns="0" rtlCol="0" anchor="t"/>
          <a:lstStyle/>
          <a:p>
            <a:pPr indent="0" marL="0">
              <a:buNone/>
            </a:pPr>
            <a:r>
              <a:rPr lang="en-US" sz="1400" dirty="0">
                <a:solidFill>
                  <a:schemeClr val="bg2"/>
                </a:solidFill>
              </a:rPr>
              <a:t>github.com/chansoek-avatye/avatye-week01</a:t>
            </a:r>
            <a:endParaRPr lang="en-US" sz="1400" dirty="0"/>
          </a:p>
        </p:txBody>
      </p:sp>
    </p:spTree>
  </p:cSld>
  <p:clrMapOvr>
    <a:masterClrMapping/>
  </p:clrMapOvr>
</p:sld>
</file>

<file path=ppt/theme/theme1.xml><?xml version="1.0" encoding="utf-8"?>
<a:theme xmlns:a="http://schemas.openxmlformats.org/drawingml/2006/main" name="RoomBooking">
  <a:themeElements>
    <a:clrScheme name="RoomBooking">
      <a:dk1>
        <a:srgbClr val="1B1D2B"/>
      </a:dk1>
      <a:lt1>
        <a:srgbClr val="FFFFFF"/>
      </a:lt1>
      <a:dk2>
        <a:srgbClr val="646A78"/>
      </a:dk2>
      <a:lt2>
        <a:srgbClr val="F3F4FA"/>
      </a:lt2>
      <a:accent1>
        <a:srgbClr val="5856D6"/>
      </a:accent1>
      <a:accent2>
        <a:srgbClr val="F59E0B"/>
      </a:accent2>
      <a:accent3>
        <a:srgbClr val="10B981"/>
      </a:accent3>
      <a:accent4>
        <a:srgbClr val="EF4444"/>
      </a:accent4>
      <a:accent5>
        <a:srgbClr val="ECECFB"/>
      </a:accent5>
      <a:accent6>
        <a:srgbClr val="0EA5E9"/>
      </a:accent6>
      <a:hlink>
        <a:srgbClr val="5856D6"/>
      </a:hlink>
      <a:folHlink>
        <a:srgbClr val="4644C0"/>
      </a:folHlink>
    </a:clrScheme>
    <a:fontScheme name="RoomBook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회의실 예약 서비스</dc:title>
  <dc:subject>PptxGenJS Presentation</dc:subject>
  <dc:creator>이찬석</dc:creator>
  <cp:lastModifiedBy>이찬석</cp:lastModifiedBy>
  <cp:revision>1</cp:revision>
  <dcterms:created xsi:type="dcterms:W3CDTF">2026-10-13T10:29:34Z</dcterms:created>
  <dcterms:modified xsi:type="dcterms:W3CDTF">2026-10-13T10:29:34Z</dcterms:modified>
</cp:coreProperties>
</file>