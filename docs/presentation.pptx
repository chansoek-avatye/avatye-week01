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15be6412-f1fa-881e-7819-3ba5e62bf143}">
          <p14:sldIdLst>
            <p14:sldId id="256"/>
            <p14:sldId id="257"/>
          </p14:sldIdLst>
        </p14:section>
        <p14:section name="① DB 모델링 설계" id="{378422ba-7a4f-d8b0-dfcb-95891c29b7f3}">
          <p14:sldIdLst>
            <p14:sldId id="258"/>
            <p14:sldId id="259"/>
            <p14:sldId id="260"/>
            <p14:sldId id="261"/>
          </p14:sldIdLst>
        </p14:section>
        <p14:section name="② API 웹서버 구축" id="{28f56959-179a-dcf5-68ca-95714bae00e9}">
          <p14:sldIdLst>
            <p14:sldId id="262"/>
            <p14:sldId id="263"/>
            <p14:sldId id="264"/>
          </p14:sldIdLst>
        </p14:section>
        <p14:section name="③ 회원가입" id="{615d690e-2917-3d7e-a6fc-a4bb45ec98a7}">
          <p14:sldIdLst>
            <p14:sldId id="265"/>
            <p14:sldId id="266"/>
            <p14:sldId id="267"/>
          </p14:sldIdLst>
        </p14:section>
        <p14:section name="데모와 마무리" id="{e1376e65-ead2-238f-f85d-294a01917536}">
          <p14:sldIdLst>
            <p14:sldId id="268"/>
            <p14:sldId id="269"/>
          </p14:sldIdLst>
        </p14:section>
        <p14:section name="부록" id="{a2375a02-a2ea-7eb1-4970-4e62d4838ffb}">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안녕하세요, 이찬석입니다. 첫 과제로 회의실 예약 서비스를 만들었습니다. 과제의 필수 요구사항은 DB 모델링 설계, API 웹서버 구축, 회원가입 세 가지였고, 오늘은 이 세 가지를 어떻게 했는지 순서대로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1:00] 서비스는 간단합니다. 회의실을 고르고, 시작과 끝 시간을 정해 예약합니다. 이미 겹치는 예약이 있으면 거부됩니다. 기술은 Next.js 와 Supabase 를 썼습니다. Supabase 는 PostgreSQL 데이터베이스와 로그인 기능을 함께 제공하는 서비스입니다. 필수 요구사항 세 가지는 이렇게 했습니다. DB 모델링은 테이블 4개를 설계하고 규칙은 DB 제약으로 걸었습니다. API 서버는 Next.js 의 Route Handler 로 주소 11개를 만들었습니다. 회원가입은 Supabase Auth 에 맡기고, 가입하면 프로필이 자동으로 만들어지게 했습니다. 지금부터 하나씩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DB 모델링입니다. 테이블 네 개를 만들었고, 핵심은 '규칙을 코드가 아니라 DB가 지키게 했다'는 점입니다. 왜 그렇게 했는지까지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2:30] 테이블은 네 개입니다. rooms 는 회의실, reservations 는 예약입니다. 예약에는 어느 방인지, 누가, 언제부터 언제까지, 상태가 들어갑니다. profiles 는 사용자의 이름과 부서입니다. 회원 테이블인 auth.users 는 Supabase 가 관리해서 제가 컬럼을 추가할 수 없기 때문에, 1:1 로 붙는 profiles 를 따로 만들었습니다. reservation_participants 는 참석자입니다. 한 예약에 여러 명이 참석하고 한 사람이 여러 예약에 참석하니 다대다 관계라서, 둘을 연결하는 테이블을 둔 겁니다. 관계를 읽는 법은 간단합니다. 1:N 은 하나가 여럿을 가진다, 1:1 은 하나에 하나, M:N 은 여럿과 여럿이라 연결 테이블이 필요하다, 이렇게 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3:30] 이 서비스에서 꼭 지켜야 하는 규칙은 하나입니다. 같은 회의실의 겹치는 시간에는 예약이 하나만 있어야 합니다. 왼쪽처럼 11시부터 12시 예약이 있는데 11시 반부터 12시 반 요청이 오면 30분이 겹치니 막아야 합니다. 가장 단순한 방법은 코드에서 '겹치는 예약이 있나 조회하고, 없으면 저장'하는 겁니다. 그런데 오른쪽처럼 두 요청이 거의 동시에 오면, 둘 다 조회에서 '없음'을 보고 둘 다 저장해 버립니다. 조회와 저장, 두 번에 나눠서 하면 그 사이에 틈이 생기는 거죠. 그래서 판정을 두 번이 아니라 한 번에, 저장하는 순간 DB 가 하게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4:30] 그 역할을 하는 게 PostgreSQL 의 EXCLUSION 제약입니다. 어렵게 들리지만 읽어보면 세 줄입니다. 첫째 줄, room_id 가 같은가. 둘째 줄, 시작부터 끝까지의 시간 구간이 겹치는가. 셋째 줄, 확정 상태인 예약끼리만. 이 세 조건을 모두 만족하는 예약 두 개는 함께 존재할 수 없다는 규칙입니다. 저장하는 순간 DB 가 검사해서 걸리면 거부하기 때문에, 동시에 두 요청이 들어와도 하나만 통과합니다. 셋째 줄 덕분에 취소된 예약은 검사에서 빠져서, 취소하면 그 시간이 다시 열립니다. 같은 방식으로 한 사람이 같은 시간에 두 예약을 못 하게 하는 제약, 4시간 제한, 중복 참석 금지도 전부 DB 에 걸었습니다.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두 번째, API 서버입니다. Next.js 의 Route Handler 로 만들었고, 주소를 어떻게 설계했는지, 그리고 예약 생성 API 가 어떤 순서로 동작하는지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5:30] API 는 Next.js 안의 app/api 폴더에 route.ts 파일을 두면 그 경로가 주소가 됩니다. 별도 서버 없이 화면과 API 가 한 프로젝트에 있습니다. 주소를 정할 때 원칙은 세 가지였습니다. 첫째, 주소는 자원의 이름입니다. rooms, reservations 처럼요. 둘째, 무엇을 할지는 HTTP 메서드로 표현합니다. 같은 주소에 GET 이면 조회, POST 면 생성, DELETE 면 취소입니다. 셋째, 참석자처럼 예약에 속한 것은 예약 주소 아래에 붙였습니다. 결과는 상태 코드로 돌려줍니다. 201 은 만들어졌다, 401 은 로그인이 필요하다, 409 는 충돌, 즉 시간이 겹친다는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 7:00] 가장 중요한 예약 생성 API 는 네 단계입니다. 첫째, 로그인 확인. 요청에 담긴 세션 쿠키로 누가 요청했는지 확인하고, 없으면 401 입니다. 여기서 예약자 ID 는 요청 본문이 아니라 세션에서 확인한 값만 씁니다. 그래야 남의 이름으로 예약을 못 합니다. 둘째, 입력 검증. 필수값이 있는지, 시작이 끝보다 빠른지, 4시간을 넘지 않는지 보고 틀리면 400 입니다. 셋째, 바로 INSERT 합니다. 겹치는 예약이 있는지 미리 조회하지 않습니다. 아까 본 것처럼 조회와 저장 사이에 틈이 생기기 때문입니다. 넷째, DB 의 판정을 번역합니다. 겹치면 DB 가 23P01 이라는 에러 코드를 주는데, 이걸 HTTP 409 Conflict 로 바꿔서 응답합니다. 정리하면 API 는 확인하고, 거르고, 번역합니다. 판정은 DB 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세 번째, 회원가입입니다. 비밀번호 저장이나 로그인 상태 관리는 직접 만들면 틀리기 쉬운 부분이라, 검증된 Supabase Auth 에 맡겼습니다.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 8:00] 흐름은 다섯 단계입니다. 사용자가 가입 폼에 이메일, 비밀번호, 이름, 부서를 넣으면, 제 API 인 /api/auth/signup 으로 보냅니다. API 는 Supabase Auth 에 가입을 요청하고, Supabase 가 회원 테이블 auth.users 에 사용자를 만듭니다. 비밀번호 암호화는 Supabase 가 합니다. 그 직후 DB 트리거가 자동으로 profiles 테이블에 이름과 부서를 저장합니다. 트리거는 '어떤 일이 일어나면 자동으로 실행되는 DB 함수'입니다. 가입과 프로필 생성이 항상 같이 일어나게 하려고 썼습니다. 마지막으로 세션 쿠키가 발급돼서 로그인 상태가 유지되고, 예약 화면으로 이동합니다. 직접 만들지 않은 이유는, 비밀번호 저장과 세션 관리는 틀리면 사고가 나는 영역이라 검증된 서비스에 맡기는 게 낫다고 판단했기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 8:30] 가입 이후 권한은 두 겹으로 막았습니다. 첫째, API 에서 세션을 확인합니다. 로그인 안 했으면 401 이고, 예약자 ID 는 세션에서 가져오니 남의 이름으로 예약할 수 없습니다. 둘째, DB 에서 RLS 로 한 번 더 막습니다. RLS 는 '행 단위 권한 규칙'인데, 'user_id 가 나인 행만 수정할 수 있다' 같은 규칙을 DB 에 적어두는 겁니다. 그래서 API 를 거치지 않고 DB 에 직접 요청해도 남의 예약은 못 고칩니다. 시간이 부족하면 이 장은 한 문장으로 넘어가도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9:30] 브라우저로 전환합니다. 1번, 11시부터 12시 예약, 성공. 2번, 같은 방에 11시 반부터 12시 반, 빨간 알림으로 막힙니다. 3번, 다른 방이라도 제 다른 예약과 겹치면 막힙니다. 4번, 예약을 취소하면 그 시간이 다시 열려서 성공합니다. 시간이 남으면 캘린더에서 한 열 안의 블록이 절대 겹치지 않는 것을 보여드립니다. 시간이 부족하면 1번과 2번만 보여드리고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10:00] 한계도 말씀드리겠습니다. 참석자의 시간 겹침은 아직 못 막습니다. 시간이 다른 테이블에 있어서 제약으로는 안 되고 트리거가 필요합니다. 과거 시간 예약 금지도 아직 없습니다. 배운 점은 두 가지입니다. 규칙은 코드가 아니라 DB 가 지키게 하면 동시 요청에도 안전하다는 것, 그리고 제약으로 되는 것과 안 되는 것의 경계를 알아야 한다는 것입니다. 정리하면, 규칙은 코드가 아니라 DB 가 지킨다.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숨김 슬라이드입니다. 발표 전 용어를 한 번 더 확인하는 용도입니다.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회의실 예약 서비스 — DB 모델링 · API 웹서버 · 회원가입</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1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회의실 예약 서비스</a:t>
            </a:r>
            <a:endParaRPr lang="en-US" sz="4000" dirty="0"/>
          </a:p>
        </p:txBody>
      </p:sp>
      <p:sp>
        <p:nvSpPr>
          <p:cNvPr id="4" name="card-1"/>
          <p:cNvSpPr/>
          <p:nvPr/>
        </p:nvSpPr>
        <p:spPr>
          <a:xfrm>
            <a:off x="822960" y="1463040"/>
            <a:ext cx="4754880" cy="457200"/>
          </a:xfrm>
          <a:prstGeom prst="roundRect">
            <a:avLst>
              <a:gd name="adj" fmla="val 24000"/>
            </a:avLst>
          </a:prstGeom>
          <a:solidFill>
            <a:schemeClr val="accent1"/>
          </a:solidFill>
          <a:ln w="6350">
            <a:solidFill>
              <a:schemeClr val="accent1"/>
            </a:solidFill>
            <a:prstDash val="solid"/>
          </a:ln>
        </p:spPr>
      </p:sp>
      <p:sp>
        <p:nvSpPr>
          <p:cNvPr id="5" name="text-2"/>
          <p:cNvSpPr txBox="1"/>
          <p:nvPr/>
        </p:nvSpPr>
        <p:spPr>
          <a:xfrm>
            <a:off x="822960" y="1463040"/>
            <a:ext cx="4754880" cy="457200"/>
          </a:xfrm>
          <a:prstGeom prst="rect">
            <a:avLst/>
          </a:prstGeom>
          <a:noFill/>
          <a:ln/>
        </p:spPr>
        <p:txBody>
          <a:bodyPr wrap="square" lIns="0" tIns="0" rIns="0" bIns="0" rtlCol="0" anchor="ctr"/>
          <a:lstStyle/>
          <a:p>
            <a:pPr algn="ctr" indent="0" marL="0">
              <a:buNone/>
            </a:pPr>
            <a:r>
              <a:rPr lang="en-US" sz="1400" b="1" dirty="0">
                <a:solidFill>
                  <a:schemeClr val="bg1"/>
                </a:solidFill>
              </a:rPr>
              <a:t>DB 모델링 설계 · API 웹서버 구축 · 회원가입</a:t>
            </a:r>
            <a:endParaRPr lang="en-US" sz="1400" dirty="0"/>
          </a:p>
        </p:txBody>
      </p:sp>
      <p:sp>
        <p:nvSpPr>
          <p:cNvPr id="6" name="text-3"/>
          <p:cNvSpPr txBox="1"/>
          <p:nvPr/>
        </p:nvSpPr>
        <p:spPr>
          <a:xfrm>
            <a:off x="822960" y="3611880"/>
            <a:ext cx="10515600" cy="548640"/>
          </a:xfrm>
          <a:prstGeom prst="rect">
            <a:avLst/>
          </a:prstGeom>
          <a:noFill/>
          <a:ln/>
        </p:spPr>
        <p:txBody>
          <a:bodyPr wrap="square" lIns="0" tIns="0" rIns="0" bIns="0" rtlCol="0" anchor="t"/>
          <a:lstStyle/>
          <a:p>
            <a:pPr indent="0" marL="0">
              <a:buNone/>
            </a:pPr>
            <a:r>
              <a:rPr lang="en-US" sz="2400" dirty="0">
                <a:solidFill>
                  <a:schemeClr val="bg2"/>
                </a:solidFill>
              </a:rPr>
              <a:t>같은 회의실의 겹치는 예약을 코드가 아니라 DB가 막는다</a:t>
            </a:r>
            <a:endParaRPr lang="en-US" sz="2400" dirty="0"/>
          </a:p>
        </p:txBody>
      </p:sp>
      <p:sp>
        <p:nvSpPr>
          <p:cNvPr id="7" name="text-4"/>
          <p:cNvSpPr txBox="1"/>
          <p:nvPr/>
        </p:nvSpPr>
        <p:spPr>
          <a:xfrm>
            <a:off x="822960" y="5120640"/>
            <a:ext cx="7315200" cy="365760"/>
          </a:xfrm>
          <a:prstGeom prst="rect">
            <a:avLst/>
          </a:prstGeom>
          <a:noFill/>
          <a:ln/>
        </p:spPr>
        <p:txBody>
          <a:bodyPr wrap="square" lIns="0" tIns="0" rIns="0" bIns="0" rtlCol="0" anchor="t"/>
          <a:lstStyle/>
          <a:p>
            <a:pPr indent="0" marL="0">
              <a:buNone/>
            </a:pPr>
            <a:r>
              <a:rPr lang="en-US" sz="1600" dirty="0">
                <a:solidFill>
                  <a:schemeClr val="bg2"/>
                </a:solidFill>
              </a:rPr>
              <a:t>이찬석  ·  2026. 10. 14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서비스 소개와 과제 요구사항</a:t>
            </a:r>
            <a:endParaRPr lang="en-US" sz="3000" dirty="0"/>
          </a:p>
        </p:txBody>
      </p:sp>
      <p:sp>
        <p:nvSpPr>
          <p:cNvPr id="4" name="card-5"/>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6"/>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1:00</a:t>
            </a:r>
            <a:endParaRPr lang="en-US" sz="1200" dirty="0"/>
          </a:p>
        </p:txBody>
      </p:sp>
      <p:sp>
        <p:nvSpPr>
          <p:cNvPr id="6" name="card-7"/>
          <p:cNvSpPr/>
          <p:nvPr/>
        </p:nvSpPr>
        <p:spPr>
          <a:xfrm>
            <a:off x="548640" y="1371600"/>
            <a:ext cx="4206240" cy="4572000"/>
          </a:xfrm>
          <a:prstGeom prst="roundRect">
            <a:avLst>
              <a:gd name="adj" fmla="val 2609"/>
            </a:avLst>
          </a:prstGeom>
          <a:solidFill>
            <a:schemeClr val="bg2"/>
          </a:solidFill>
          <a:ln w="6350">
            <a:solidFill>
              <a:schemeClr val="bg2"/>
            </a:solidFill>
            <a:prstDash val="solid"/>
          </a:ln>
        </p:spPr>
      </p:sp>
      <p:sp>
        <p:nvSpPr>
          <p:cNvPr id="7" name="text-8"/>
          <p:cNvSpPr txBox="1"/>
          <p:nvPr/>
        </p:nvSpPr>
        <p:spPr>
          <a:xfrm>
            <a:off x="822960" y="1554480"/>
            <a:ext cx="3657600" cy="365760"/>
          </a:xfrm>
          <a:prstGeom prst="rect">
            <a:avLst/>
          </a:prstGeom>
          <a:noFill/>
          <a:ln/>
        </p:spPr>
        <p:txBody>
          <a:bodyPr wrap="square" lIns="0" tIns="0" rIns="0" bIns="0" rtlCol="0" anchor="t"/>
          <a:lstStyle/>
          <a:p>
            <a:pPr indent="0" marL="0">
              <a:buNone/>
            </a:pPr>
            <a:r>
              <a:rPr lang="en-US" sz="1600" b="1" dirty="0">
                <a:solidFill>
                  <a:schemeClr val="tx1"/>
                </a:solidFill>
              </a:rPr>
              <a:t>무엇을 만들었나</a:t>
            </a:r>
            <a:endParaRPr lang="en-US" sz="1600" dirty="0"/>
          </a:p>
        </p:txBody>
      </p:sp>
      <p:sp>
        <p:nvSpPr>
          <p:cNvPr id="8" name="text-9"/>
          <p:cNvSpPr txBox="1"/>
          <p:nvPr/>
        </p:nvSpPr>
        <p:spPr>
          <a:xfrm>
            <a:off x="822960" y="1965960"/>
            <a:ext cx="3657600" cy="914400"/>
          </a:xfrm>
          <a:prstGeom prst="rect">
            <a:avLst/>
          </a:prstGeom>
          <a:noFill/>
          <a:ln/>
        </p:spPr>
        <p:txBody>
          <a:bodyPr wrap="square" lIns="0" tIns="0" rIns="0" bIns="0" rtlCol="0" anchor="t"/>
          <a:lstStyle/>
          <a:p>
            <a:pPr indent="0" marL="0">
              <a:buNone/>
            </a:pPr>
            <a:r>
              <a:rPr lang="en-US" sz="1400" dirty="0">
                <a:solidFill>
                  <a:schemeClr val="tx2"/>
                </a:solidFill>
              </a:rPr>
              <a:t>회의실을 고르고 시간을 정해 예약한다.</a:t>
            </a:r>
            <a:endParaRPr lang="en-US" sz="1400" dirty="0"/>
          </a:p>
          <a:p>
            <a:pPr indent="0" marL="0">
              <a:buNone/>
            </a:pPr>
            <a:r>
              <a:rPr lang="en-US" sz="1400" dirty="0">
                <a:solidFill>
                  <a:schemeClr val="tx2"/>
                </a:solidFill>
              </a:rPr>
              <a:t>이미 겹치는 예약이 있으면 거부한다.</a:t>
            </a:r>
            <a:endParaRPr lang="en-US" sz="1400" dirty="0"/>
          </a:p>
        </p:txBody>
      </p:sp>
      <p:sp>
        <p:nvSpPr>
          <p:cNvPr id="9" name="text-10"/>
          <p:cNvSpPr txBox="1"/>
          <p:nvPr/>
        </p:nvSpPr>
        <p:spPr>
          <a:xfrm>
            <a:off x="822960" y="3108960"/>
            <a:ext cx="3657600" cy="365760"/>
          </a:xfrm>
          <a:prstGeom prst="rect">
            <a:avLst/>
          </a:prstGeom>
          <a:noFill/>
          <a:ln/>
        </p:spPr>
        <p:txBody>
          <a:bodyPr wrap="square" lIns="0" tIns="0" rIns="0" bIns="0" rtlCol="0" anchor="t"/>
          <a:lstStyle/>
          <a:p>
            <a:pPr indent="0" marL="0">
              <a:buNone/>
            </a:pPr>
            <a:r>
              <a:rPr lang="en-US" sz="1600" b="1" dirty="0">
                <a:solidFill>
                  <a:schemeClr val="tx1"/>
                </a:solidFill>
              </a:rPr>
              <a:t>기술</a:t>
            </a:r>
            <a:endParaRPr lang="en-US" sz="1600" dirty="0"/>
          </a:p>
        </p:txBody>
      </p:sp>
      <p:sp>
        <p:nvSpPr>
          <p:cNvPr id="10" name="text-11"/>
          <p:cNvSpPr txBox="1"/>
          <p:nvPr/>
        </p:nvSpPr>
        <p:spPr>
          <a:xfrm>
            <a:off x="822960" y="3520440"/>
            <a:ext cx="3657600" cy="914400"/>
          </a:xfrm>
          <a:prstGeom prst="rect">
            <a:avLst/>
          </a:prstGeom>
          <a:noFill/>
          <a:ln/>
        </p:spPr>
        <p:txBody>
          <a:bodyPr wrap="square" lIns="0" tIns="0" rIns="0" bIns="0" rtlCol="0" anchor="t"/>
          <a:lstStyle/>
          <a:p>
            <a:pPr indent="0" marL="0">
              <a:buNone/>
            </a:pPr>
            <a:r>
              <a:rPr lang="en-US" sz="1400" dirty="0">
                <a:solidFill>
                  <a:schemeClr val="tx2"/>
                </a:solidFill>
              </a:rPr>
              <a:t>Next.js — 화면 + API 서버 (한 프로젝트)</a:t>
            </a:r>
            <a:endParaRPr lang="en-US" sz="1400" dirty="0"/>
          </a:p>
          <a:p>
            <a:pPr indent="0" marL="0">
              <a:buNone/>
            </a:pPr>
            <a:r>
              <a:rPr lang="en-US" sz="1400" dirty="0">
                <a:solidFill>
                  <a:schemeClr val="tx2"/>
                </a:solidFill>
              </a:rPr>
              <a:t>Supabase — PostgreSQL DB + 로그인(Auth)</a:t>
            </a:r>
            <a:endParaRPr lang="en-US" sz="1400" dirty="0"/>
          </a:p>
        </p:txBody>
      </p:sp>
      <p:sp>
        <p:nvSpPr>
          <p:cNvPr id="11" name="text-12"/>
          <p:cNvSpPr txBox="1"/>
          <p:nvPr/>
        </p:nvSpPr>
        <p:spPr>
          <a:xfrm>
            <a:off x="822960" y="4663440"/>
            <a:ext cx="3657600" cy="365760"/>
          </a:xfrm>
          <a:prstGeom prst="rect">
            <a:avLst/>
          </a:prstGeom>
          <a:noFill/>
          <a:ln/>
        </p:spPr>
        <p:txBody>
          <a:bodyPr wrap="square" lIns="0" tIns="0" rIns="0" bIns="0" rtlCol="0" anchor="t"/>
          <a:lstStyle/>
          <a:p>
            <a:pPr indent="0" marL="0">
              <a:buNone/>
            </a:pPr>
            <a:r>
              <a:rPr lang="en-US" sz="1300" dirty="0">
                <a:solidFill>
                  <a:schemeClr val="tx2"/>
                </a:solidFill>
              </a:rPr>
              <a:t>화면: 로그인 · 회원가입 · 예약 · 캘린더</a:t>
            </a:r>
            <a:endParaRPr lang="en-US" sz="1300" dirty="0"/>
          </a:p>
        </p:txBody>
      </p:sp>
      <p:sp>
        <p:nvSpPr>
          <p:cNvPr id="12" name="card-13"/>
          <p:cNvSpPr/>
          <p:nvPr/>
        </p:nvSpPr>
        <p:spPr>
          <a:xfrm>
            <a:off x="5029200" y="1371600"/>
            <a:ext cx="6583680" cy="1371600"/>
          </a:xfrm>
          <a:prstGeom prst="roundRect">
            <a:avLst>
              <a:gd name="adj" fmla="val 8000"/>
            </a:avLst>
          </a:prstGeom>
          <a:solidFill>
            <a:schemeClr val="bg2"/>
          </a:solidFill>
          <a:ln w="6350">
            <a:solidFill>
              <a:schemeClr val="bg2"/>
            </a:solidFill>
            <a:prstDash val="solid"/>
          </a:ln>
        </p:spPr>
      </p:sp>
      <p:sp>
        <p:nvSpPr>
          <p:cNvPr id="13" name="circle-14"/>
          <p:cNvSpPr/>
          <p:nvPr/>
        </p:nvSpPr>
        <p:spPr>
          <a:xfrm>
            <a:off x="5303520" y="1783080"/>
            <a:ext cx="548640" cy="548640"/>
          </a:xfrm>
          <a:prstGeom prst="ellipse">
            <a:avLst/>
          </a:prstGeom>
          <a:solidFill>
            <a:schemeClr val="accent1"/>
          </a:solidFill>
          <a:ln w="6350">
            <a:solidFill>
              <a:schemeClr val="accent1"/>
            </a:solidFill>
            <a:prstDash val="solid"/>
          </a:ln>
        </p:spPr>
      </p:sp>
      <p:sp>
        <p:nvSpPr>
          <p:cNvPr id="14" name="text-15"/>
          <p:cNvSpPr txBox="1"/>
          <p:nvPr/>
        </p:nvSpPr>
        <p:spPr>
          <a:xfrm>
            <a:off x="5303520" y="17830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①</a:t>
            </a:r>
            <a:endParaRPr lang="en-US" sz="1600" dirty="0"/>
          </a:p>
        </p:txBody>
      </p:sp>
      <p:sp>
        <p:nvSpPr>
          <p:cNvPr id="15" name="text-16"/>
          <p:cNvSpPr txBox="1"/>
          <p:nvPr/>
        </p:nvSpPr>
        <p:spPr>
          <a:xfrm>
            <a:off x="6035040" y="1572768"/>
            <a:ext cx="4206240" cy="365760"/>
          </a:xfrm>
          <a:prstGeom prst="rect">
            <a:avLst/>
          </a:prstGeom>
          <a:noFill/>
          <a:ln/>
        </p:spPr>
        <p:txBody>
          <a:bodyPr wrap="square" lIns="0" tIns="0" rIns="0" bIns="0" rtlCol="0" anchor="t"/>
          <a:lstStyle/>
          <a:p>
            <a:pPr indent="0" marL="0">
              <a:buNone/>
            </a:pPr>
            <a:r>
              <a:rPr lang="en-US" sz="1700" b="1" dirty="0">
                <a:solidFill>
                  <a:schemeClr val="tx1"/>
                </a:solidFill>
              </a:rPr>
              <a:t>DB 모델링 설계</a:t>
            </a:r>
            <a:endParaRPr lang="en-US" sz="1700" dirty="0"/>
          </a:p>
        </p:txBody>
      </p:sp>
      <p:sp>
        <p:nvSpPr>
          <p:cNvPr id="16" name="text-17"/>
          <p:cNvSpPr txBox="1"/>
          <p:nvPr/>
        </p:nvSpPr>
        <p:spPr>
          <a:xfrm>
            <a:off x="6035040" y="1993392"/>
            <a:ext cx="5303520" cy="640080"/>
          </a:xfrm>
          <a:prstGeom prst="rect">
            <a:avLst/>
          </a:prstGeom>
          <a:noFill/>
          <a:ln/>
        </p:spPr>
        <p:txBody>
          <a:bodyPr wrap="square" lIns="0" tIns="0" rIns="0" bIns="0" rtlCol="0" anchor="t"/>
          <a:lstStyle/>
          <a:p>
            <a:pPr indent="0" marL="0">
              <a:buNone/>
            </a:pPr>
            <a:r>
              <a:rPr lang="en-US" sz="1300" dirty="0">
                <a:solidFill>
                  <a:schemeClr val="tx2"/>
                </a:solidFill>
              </a:rPr>
              <a:t>테이블 4개를 설계하고, 지켜야 할 규칙은 DB 제약으로</a:t>
            </a:r>
            <a:endParaRPr lang="en-US" sz="1300" dirty="0"/>
          </a:p>
        </p:txBody>
      </p:sp>
      <p:sp>
        <p:nvSpPr>
          <p:cNvPr id="17" name="text-18"/>
          <p:cNvSpPr txBox="1"/>
          <p:nvPr/>
        </p:nvSpPr>
        <p:spPr>
          <a:xfrm>
            <a:off x="10241280" y="1572768"/>
            <a:ext cx="1188720" cy="365760"/>
          </a:xfrm>
          <a:prstGeom prst="rect">
            <a:avLst/>
          </a:prstGeom>
          <a:noFill/>
          <a:ln/>
        </p:spPr>
        <p:txBody>
          <a:bodyPr wrap="square" lIns="0" tIns="0" rIns="0" bIns="0" rtlCol="0" anchor="t"/>
          <a:lstStyle/>
          <a:p>
            <a:pPr algn="r" indent="0" marL="0">
              <a:buNone/>
            </a:pPr>
            <a:r>
              <a:rPr lang="en-US" sz="1200" b="1" dirty="0">
                <a:solidFill>
                  <a:schemeClr val="accent1"/>
                </a:solidFill>
              </a:rPr>
              <a:t>⏱ 3분 30초</a:t>
            </a:r>
            <a:endParaRPr lang="en-US" sz="1200" dirty="0"/>
          </a:p>
        </p:txBody>
      </p:sp>
      <p:sp>
        <p:nvSpPr>
          <p:cNvPr id="18" name="card-19"/>
          <p:cNvSpPr/>
          <p:nvPr/>
        </p:nvSpPr>
        <p:spPr>
          <a:xfrm>
            <a:off x="5029200" y="2926080"/>
            <a:ext cx="6583680" cy="1371600"/>
          </a:xfrm>
          <a:prstGeom prst="roundRect">
            <a:avLst>
              <a:gd name="adj" fmla="val 8000"/>
            </a:avLst>
          </a:prstGeom>
          <a:solidFill>
            <a:schemeClr val="bg2"/>
          </a:solidFill>
          <a:ln w="6350">
            <a:solidFill>
              <a:schemeClr val="bg2"/>
            </a:solidFill>
            <a:prstDash val="solid"/>
          </a:ln>
        </p:spPr>
      </p:sp>
      <p:sp>
        <p:nvSpPr>
          <p:cNvPr id="19" name="circle-20"/>
          <p:cNvSpPr/>
          <p:nvPr/>
        </p:nvSpPr>
        <p:spPr>
          <a:xfrm>
            <a:off x="5303520" y="3337560"/>
            <a:ext cx="548640" cy="548640"/>
          </a:xfrm>
          <a:prstGeom prst="ellipse">
            <a:avLst/>
          </a:prstGeom>
          <a:solidFill>
            <a:schemeClr val="accent1"/>
          </a:solidFill>
          <a:ln w="6350">
            <a:solidFill>
              <a:schemeClr val="accent1"/>
            </a:solidFill>
            <a:prstDash val="solid"/>
          </a:ln>
        </p:spPr>
      </p:sp>
      <p:sp>
        <p:nvSpPr>
          <p:cNvPr id="20" name="text-21"/>
          <p:cNvSpPr txBox="1"/>
          <p:nvPr/>
        </p:nvSpPr>
        <p:spPr>
          <a:xfrm>
            <a:off x="5303520" y="33375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②</a:t>
            </a:r>
            <a:endParaRPr lang="en-US" sz="1600" dirty="0"/>
          </a:p>
        </p:txBody>
      </p:sp>
      <p:sp>
        <p:nvSpPr>
          <p:cNvPr id="21" name="text-22"/>
          <p:cNvSpPr txBox="1"/>
          <p:nvPr/>
        </p:nvSpPr>
        <p:spPr>
          <a:xfrm>
            <a:off x="6035040" y="3127248"/>
            <a:ext cx="4206240" cy="365760"/>
          </a:xfrm>
          <a:prstGeom prst="rect">
            <a:avLst/>
          </a:prstGeom>
          <a:noFill/>
          <a:ln/>
        </p:spPr>
        <p:txBody>
          <a:bodyPr wrap="square" lIns="0" tIns="0" rIns="0" bIns="0" rtlCol="0" anchor="t"/>
          <a:lstStyle/>
          <a:p>
            <a:pPr indent="0" marL="0">
              <a:buNone/>
            </a:pPr>
            <a:r>
              <a:rPr lang="en-US" sz="1700" b="1" dirty="0">
                <a:solidFill>
                  <a:schemeClr val="tx1"/>
                </a:solidFill>
              </a:rPr>
              <a:t>API 웹서버 구축</a:t>
            </a:r>
            <a:endParaRPr lang="en-US" sz="1700" dirty="0"/>
          </a:p>
        </p:txBody>
      </p:sp>
      <p:sp>
        <p:nvSpPr>
          <p:cNvPr id="22" name="text-23"/>
          <p:cNvSpPr txBox="1"/>
          <p:nvPr/>
        </p:nvSpPr>
        <p:spPr>
          <a:xfrm>
            <a:off x="6035040" y="3547872"/>
            <a:ext cx="5303520" cy="640080"/>
          </a:xfrm>
          <a:prstGeom prst="rect">
            <a:avLst/>
          </a:prstGeom>
          <a:noFill/>
          <a:ln/>
        </p:spPr>
        <p:txBody>
          <a:bodyPr wrap="square" lIns="0" tIns="0" rIns="0" bIns="0" rtlCol="0" anchor="t"/>
          <a:lstStyle/>
          <a:p>
            <a:pPr indent="0" marL="0">
              <a:buNone/>
            </a:pPr>
            <a:r>
              <a:rPr lang="en-US" sz="1300" dirty="0">
                <a:solidFill>
                  <a:schemeClr val="tx2"/>
                </a:solidFill>
              </a:rPr>
              <a:t>Next.js Route Handler 로 API 11개 — 주소는 명사, 행동은 메서드</a:t>
            </a:r>
            <a:endParaRPr lang="en-US" sz="1300" dirty="0"/>
          </a:p>
        </p:txBody>
      </p:sp>
      <p:sp>
        <p:nvSpPr>
          <p:cNvPr id="23" name="text-24"/>
          <p:cNvSpPr txBox="1"/>
          <p:nvPr/>
        </p:nvSpPr>
        <p:spPr>
          <a:xfrm>
            <a:off x="10241280" y="3127248"/>
            <a:ext cx="1188720" cy="365760"/>
          </a:xfrm>
          <a:prstGeom prst="rect">
            <a:avLst/>
          </a:prstGeom>
          <a:noFill/>
          <a:ln/>
        </p:spPr>
        <p:txBody>
          <a:bodyPr wrap="square" lIns="0" tIns="0" rIns="0" bIns="0" rtlCol="0" anchor="t"/>
          <a:lstStyle/>
          <a:p>
            <a:pPr algn="r" indent="0" marL="0">
              <a:buNone/>
            </a:pPr>
            <a:r>
              <a:rPr lang="en-US" sz="1200" b="1" dirty="0">
                <a:solidFill>
                  <a:schemeClr val="accent1"/>
                </a:solidFill>
              </a:rPr>
              <a:t>⏱ 2분 30초</a:t>
            </a:r>
            <a:endParaRPr lang="en-US" sz="1200" dirty="0"/>
          </a:p>
        </p:txBody>
      </p:sp>
      <p:sp>
        <p:nvSpPr>
          <p:cNvPr id="24" name="card-25"/>
          <p:cNvSpPr/>
          <p:nvPr/>
        </p:nvSpPr>
        <p:spPr>
          <a:xfrm>
            <a:off x="5029200" y="4480560"/>
            <a:ext cx="6583680" cy="1371600"/>
          </a:xfrm>
          <a:prstGeom prst="roundRect">
            <a:avLst>
              <a:gd name="adj" fmla="val 8000"/>
            </a:avLst>
          </a:prstGeom>
          <a:solidFill>
            <a:schemeClr val="bg2"/>
          </a:solidFill>
          <a:ln w="6350">
            <a:solidFill>
              <a:schemeClr val="bg2"/>
            </a:solidFill>
            <a:prstDash val="solid"/>
          </a:ln>
        </p:spPr>
      </p:sp>
      <p:sp>
        <p:nvSpPr>
          <p:cNvPr id="25" name="circle-26"/>
          <p:cNvSpPr/>
          <p:nvPr/>
        </p:nvSpPr>
        <p:spPr>
          <a:xfrm>
            <a:off x="5303520" y="4892040"/>
            <a:ext cx="548640" cy="548640"/>
          </a:xfrm>
          <a:prstGeom prst="ellipse">
            <a:avLst/>
          </a:prstGeom>
          <a:solidFill>
            <a:schemeClr val="accent1"/>
          </a:solidFill>
          <a:ln w="6350">
            <a:solidFill>
              <a:schemeClr val="accent1"/>
            </a:solidFill>
            <a:prstDash val="solid"/>
          </a:ln>
        </p:spPr>
      </p:sp>
      <p:sp>
        <p:nvSpPr>
          <p:cNvPr id="26" name="text-27"/>
          <p:cNvSpPr txBox="1"/>
          <p:nvPr/>
        </p:nvSpPr>
        <p:spPr>
          <a:xfrm>
            <a:off x="5303520" y="4892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③</a:t>
            </a:r>
            <a:endParaRPr lang="en-US" sz="1600" dirty="0"/>
          </a:p>
        </p:txBody>
      </p:sp>
      <p:sp>
        <p:nvSpPr>
          <p:cNvPr id="27" name="text-28"/>
          <p:cNvSpPr txBox="1"/>
          <p:nvPr/>
        </p:nvSpPr>
        <p:spPr>
          <a:xfrm>
            <a:off x="6035040" y="4681728"/>
            <a:ext cx="4206240" cy="365760"/>
          </a:xfrm>
          <a:prstGeom prst="rect">
            <a:avLst/>
          </a:prstGeom>
          <a:noFill/>
          <a:ln/>
        </p:spPr>
        <p:txBody>
          <a:bodyPr wrap="square" lIns="0" tIns="0" rIns="0" bIns="0" rtlCol="0" anchor="t"/>
          <a:lstStyle/>
          <a:p>
            <a:pPr indent="0" marL="0">
              <a:buNone/>
            </a:pPr>
            <a:r>
              <a:rPr lang="en-US" sz="1700" b="1" dirty="0">
                <a:solidFill>
                  <a:schemeClr val="tx1"/>
                </a:solidFill>
              </a:rPr>
              <a:t>회원가입</a:t>
            </a:r>
            <a:endParaRPr lang="en-US" sz="1700" dirty="0"/>
          </a:p>
        </p:txBody>
      </p:sp>
      <p:sp>
        <p:nvSpPr>
          <p:cNvPr id="28" name="text-29"/>
          <p:cNvSpPr txBox="1"/>
          <p:nvPr/>
        </p:nvSpPr>
        <p:spPr>
          <a:xfrm>
            <a:off x="6035040" y="5102352"/>
            <a:ext cx="5303520" cy="640080"/>
          </a:xfrm>
          <a:prstGeom prst="rect">
            <a:avLst/>
          </a:prstGeom>
          <a:noFill/>
          <a:ln/>
        </p:spPr>
        <p:txBody>
          <a:bodyPr wrap="square" lIns="0" tIns="0" rIns="0" bIns="0" rtlCol="0" anchor="t"/>
          <a:lstStyle/>
          <a:p>
            <a:pPr indent="0" marL="0">
              <a:buNone/>
            </a:pPr>
            <a:r>
              <a:rPr lang="en-US" sz="1300" dirty="0">
                <a:solidFill>
                  <a:schemeClr val="tx2"/>
                </a:solidFill>
              </a:rPr>
              <a:t>Supabase Auth 에 맡기고, 가입하면 프로필 자동 생성</a:t>
            </a:r>
            <a:endParaRPr lang="en-US" sz="1300" dirty="0"/>
          </a:p>
        </p:txBody>
      </p:sp>
      <p:sp>
        <p:nvSpPr>
          <p:cNvPr id="29" name="text-30"/>
          <p:cNvSpPr txBox="1"/>
          <p:nvPr/>
        </p:nvSpPr>
        <p:spPr>
          <a:xfrm>
            <a:off x="10241280" y="4681728"/>
            <a:ext cx="1188720" cy="365760"/>
          </a:xfrm>
          <a:prstGeom prst="rect">
            <a:avLst/>
          </a:prstGeom>
          <a:noFill/>
          <a:ln/>
        </p:spPr>
        <p:txBody>
          <a:bodyPr wrap="square" lIns="0" tIns="0" rIns="0" bIns="0" rtlCol="0" anchor="t"/>
          <a:lstStyle/>
          <a:p>
            <a:pPr algn="r" indent="0" marL="0">
              <a:buNone/>
            </a:pPr>
            <a:r>
              <a:rPr lang="en-US" sz="1200" b="1" dirty="0">
                <a:solidFill>
                  <a:schemeClr val="accent1"/>
                </a:solidFill>
              </a:rPr>
              <a:t>⏱ 1분 30초</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① DB 모델링 설계</a:t>
            </a:r>
            <a:endParaRPr lang="en-US" sz="4000" dirty="0"/>
          </a:p>
        </p:txBody>
      </p:sp>
      <p:sp>
        <p:nvSpPr>
          <p:cNvPr id="4" name="card-31"/>
          <p:cNvSpPr/>
          <p:nvPr/>
        </p:nvSpPr>
        <p:spPr>
          <a:xfrm>
            <a:off x="822960" y="1463040"/>
            <a:ext cx="2194560" cy="457200"/>
          </a:xfrm>
          <a:prstGeom prst="roundRect">
            <a:avLst>
              <a:gd name="adj" fmla="val 24000"/>
            </a:avLst>
          </a:prstGeom>
          <a:solidFill>
            <a:schemeClr val="accent1"/>
          </a:solidFill>
          <a:ln w="6350">
            <a:solidFill>
              <a:schemeClr val="accent1"/>
            </a:solidFill>
            <a:prstDash val="solid"/>
          </a:ln>
        </p:spPr>
      </p:sp>
      <p:sp>
        <p:nvSpPr>
          <p:cNvPr id="5" name="text-32"/>
          <p:cNvSpPr txBox="1"/>
          <p:nvPr/>
        </p:nvSpPr>
        <p:spPr>
          <a:xfrm>
            <a:off x="822960" y="146304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 3분 30초</a:t>
            </a:r>
            <a:endParaRPr lang="en-US" sz="1400" dirty="0"/>
          </a:p>
        </p:txBody>
      </p:sp>
      <p:sp>
        <p:nvSpPr>
          <p:cNvPr id="6" name="text-33"/>
          <p:cNvSpPr txBox="1"/>
          <p:nvPr/>
        </p:nvSpPr>
        <p:spPr>
          <a:xfrm>
            <a:off x="822960" y="3611880"/>
            <a:ext cx="10515600" cy="548640"/>
          </a:xfrm>
          <a:prstGeom prst="rect">
            <a:avLst/>
          </a:prstGeom>
          <a:noFill/>
          <a:ln/>
        </p:spPr>
        <p:txBody>
          <a:bodyPr wrap="square" lIns="0" tIns="0" rIns="0" bIns="0" rtlCol="0" anchor="t"/>
          <a:lstStyle/>
          <a:p>
            <a:pPr indent="0" marL="0">
              <a:buNone/>
            </a:pPr>
            <a:r>
              <a:rPr lang="en-US" sz="2200" dirty="0">
                <a:solidFill>
                  <a:schemeClr val="bg2"/>
                </a:solidFill>
              </a:rPr>
              <a:t>테이블 4개를 만들고, 지켜야 할 규칙은 DB 가 지키게 했다</a:t>
            </a:r>
            <a:endParaRPr lang="en-US" sz="2200" dirty="0"/>
          </a:p>
        </p:txBody>
      </p:sp>
      <p:sp>
        <p:nvSpPr>
          <p:cNvPr id="7" name="card-34"/>
          <p:cNvSpPr/>
          <p:nvPr/>
        </p:nvSpPr>
        <p:spPr>
          <a:xfrm>
            <a:off x="822960" y="5669280"/>
            <a:ext cx="2560320" cy="457200"/>
          </a:xfrm>
          <a:prstGeom prst="roundRect">
            <a:avLst>
              <a:gd name="adj" fmla="val 24000"/>
            </a:avLst>
          </a:prstGeom>
          <a:solidFill>
            <a:schemeClr val="accent1"/>
          </a:solidFill>
          <a:ln w="6350">
            <a:solidFill>
              <a:schemeClr val="accent1"/>
            </a:solidFill>
            <a:prstDash val="solid"/>
          </a:ln>
        </p:spPr>
      </p:sp>
      <p:sp>
        <p:nvSpPr>
          <p:cNvPr id="8" name="text-35"/>
          <p:cNvSpPr txBox="1"/>
          <p:nvPr/>
        </p:nvSpPr>
        <p:spPr>
          <a:xfrm>
            <a:off x="822960" y="5669280"/>
            <a:ext cx="2560320" cy="457200"/>
          </a:xfrm>
          <a:prstGeom prst="rect">
            <a:avLst/>
          </a:prstGeom>
          <a:noFill/>
          <a:ln/>
        </p:spPr>
        <p:txBody>
          <a:bodyPr wrap="square" lIns="0" tIns="0" rIns="0" bIns="0" rtlCol="0" anchor="ctr"/>
          <a:lstStyle/>
          <a:p>
            <a:pPr algn="ctr" indent="0" marL="0">
              <a:buNone/>
            </a:pPr>
            <a:r>
              <a:rPr lang="en-US" sz="1400" b="1" dirty="0">
                <a:solidFill>
                  <a:schemeClr val="bg1"/>
                </a:solidFill>
              </a:rPr>
              <a:t>① DB 모델링</a:t>
            </a:r>
            <a:endParaRPr lang="en-US" sz="1400" dirty="0"/>
          </a:p>
        </p:txBody>
      </p:sp>
      <p:sp>
        <p:nvSpPr>
          <p:cNvPr id="9" name="card-36"/>
          <p:cNvSpPr/>
          <p:nvPr/>
        </p:nvSpPr>
        <p:spPr>
          <a:xfrm>
            <a:off x="3566160" y="5669280"/>
            <a:ext cx="2560320" cy="457200"/>
          </a:xfrm>
          <a:prstGeom prst="roundRect">
            <a:avLst>
              <a:gd name="adj" fmla="val 24000"/>
            </a:avLst>
          </a:prstGeom>
          <a:solidFill>
            <a:schemeClr val="tx2"/>
          </a:solidFill>
          <a:ln w="6350">
            <a:solidFill>
              <a:schemeClr val="tx2"/>
            </a:solidFill>
            <a:prstDash val="solid"/>
          </a:ln>
        </p:spPr>
      </p:sp>
      <p:sp>
        <p:nvSpPr>
          <p:cNvPr id="10" name="text-37"/>
          <p:cNvSpPr txBox="1"/>
          <p:nvPr/>
        </p:nvSpPr>
        <p:spPr>
          <a:xfrm>
            <a:off x="3566160" y="566928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② API 웹서버</a:t>
            </a:r>
            <a:endParaRPr lang="en-US" sz="1400" dirty="0"/>
          </a:p>
        </p:txBody>
      </p:sp>
      <p:sp>
        <p:nvSpPr>
          <p:cNvPr id="11" name="card-38"/>
          <p:cNvSpPr/>
          <p:nvPr/>
        </p:nvSpPr>
        <p:spPr>
          <a:xfrm>
            <a:off x="6309360" y="5669280"/>
            <a:ext cx="2560320" cy="457200"/>
          </a:xfrm>
          <a:prstGeom prst="roundRect">
            <a:avLst>
              <a:gd name="adj" fmla="val 24000"/>
            </a:avLst>
          </a:prstGeom>
          <a:solidFill>
            <a:schemeClr val="tx2"/>
          </a:solidFill>
          <a:ln w="6350">
            <a:solidFill>
              <a:schemeClr val="tx2"/>
            </a:solidFill>
            <a:prstDash val="solid"/>
          </a:ln>
        </p:spPr>
      </p:sp>
      <p:sp>
        <p:nvSpPr>
          <p:cNvPr id="12" name="text-39"/>
          <p:cNvSpPr txBox="1"/>
          <p:nvPr/>
        </p:nvSpPr>
        <p:spPr>
          <a:xfrm>
            <a:off x="6309360" y="566928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③ 회원가입</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테이블 4개와 관계</a:t>
            </a:r>
            <a:endParaRPr lang="en-US" sz="3000" dirty="0"/>
          </a:p>
        </p:txBody>
      </p:sp>
      <p:sp>
        <p:nvSpPr>
          <p:cNvPr id="4" name="card-40"/>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41"/>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1:30</a:t>
            </a:r>
            <a:endParaRPr lang="en-US" sz="1200" dirty="0"/>
          </a:p>
        </p:txBody>
      </p:sp>
      <p:pic>
        <p:nvPicPr>
          <p:cNvPr id="6" name="erd" descr="/Applications/week01/project01/docs/erd.png">    </p:cNvPr>
          <p:cNvPicPr>
            <a:picLocks noChangeAspect="1"/>
          </p:cNvPicPr>
          <p:nvPr/>
        </p:nvPicPr>
        <p:blipFill>
          <a:blip r:embed="rId1"/>
          <a:srcRect l="0" r="0" t="0" b="30000"/>
          <a:stretch/>
        </p:blipFill>
        <p:spPr>
          <a:xfrm>
            <a:off x="548640" y="1371600"/>
            <a:ext cx="6400800" cy="4480560"/>
          </a:xfrm>
          <a:prstGeom prst="rect">
            <a:avLst/>
          </a:prstGeom>
        </p:spPr>
      </p:pic>
      <p:sp>
        <p:nvSpPr>
          <p:cNvPr id="7" name="card-42"/>
          <p:cNvSpPr/>
          <p:nvPr/>
        </p:nvSpPr>
        <p:spPr>
          <a:xfrm>
            <a:off x="7223760" y="1371600"/>
            <a:ext cx="4389120" cy="804672"/>
          </a:xfrm>
          <a:prstGeom prst="roundRect">
            <a:avLst>
              <a:gd name="adj" fmla="val 13636"/>
            </a:avLst>
          </a:prstGeom>
          <a:solidFill>
            <a:schemeClr val="bg2"/>
          </a:solidFill>
          <a:ln w="6350">
            <a:solidFill>
              <a:schemeClr val="bg2"/>
            </a:solidFill>
            <a:prstDash val="solid"/>
          </a:ln>
        </p:spPr>
      </p:sp>
      <p:sp>
        <p:nvSpPr>
          <p:cNvPr id="8" name="text-43"/>
          <p:cNvSpPr txBox="1"/>
          <p:nvPr/>
        </p:nvSpPr>
        <p:spPr>
          <a:xfrm>
            <a:off x="7406640" y="1444752"/>
            <a:ext cx="4114800" cy="29260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rooms</a:t>
            </a:r>
            <a:pPr indent="0" marL="0">
              <a:buNone/>
            </a:pPr>
            <a:r>
              <a:rPr lang="en-US" sz="1300" dirty="0">
                <a:solidFill>
                  <a:schemeClr val="tx2"/>
                </a:solidFill>
              </a:rPr>
              <a:t>   회의실</a:t>
            </a:r>
            <a:endParaRPr lang="en-US" sz="1300" dirty="0"/>
          </a:p>
        </p:txBody>
      </p:sp>
      <p:sp>
        <p:nvSpPr>
          <p:cNvPr id="9" name="text-44"/>
          <p:cNvSpPr txBox="1"/>
          <p:nvPr/>
        </p:nvSpPr>
        <p:spPr>
          <a:xfrm>
            <a:off x="7406640" y="1737360"/>
            <a:ext cx="4114800" cy="420624"/>
          </a:xfrm>
          <a:prstGeom prst="rect">
            <a:avLst/>
          </a:prstGeom>
          <a:noFill/>
          <a:ln/>
        </p:spPr>
        <p:txBody>
          <a:bodyPr wrap="square" lIns="0" tIns="0" rIns="0" bIns="0" rtlCol="0" anchor="t"/>
          <a:lstStyle/>
          <a:p>
            <a:pPr indent="0" marL="0">
              <a:buNone/>
            </a:pPr>
            <a:r>
              <a:rPr lang="en-US" sz="1150" dirty="0">
                <a:solidFill>
                  <a:schemeClr val="tx2"/>
                </a:solidFill>
              </a:rPr>
              <a:t>이름, 정원</a:t>
            </a:r>
            <a:endParaRPr lang="en-US" sz="1150" dirty="0"/>
          </a:p>
        </p:txBody>
      </p:sp>
      <p:sp>
        <p:nvSpPr>
          <p:cNvPr id="10" name="card-45"/>
          <p:cNvSpPr/>
          <p:nvPr/>
        </p:nvSpPr>
        <p:spPr>
          <a:xfrm>
            <a:off x="7223760" y="2267712"/>
            <a:ext cx="4389120" cy="804672"/>
          </a:xfrm>
          <a:prstGeom prst="roundRect">
            <a:avLst>
              <a:gd name="adj" fmla="val 13636"/>
            </a:avLst>
          </a:prstGeom>
          <a:solidFill>
            <a:schemeClr val="bg2"/>
          </a:solidFill>
          <a:ln w="6350">
            <a:solidFill>
              <a:schemeClr val="bg2"/>
            </a:solidFill>
            <a:prstDash val="solid"/>
          </a:ln>
        </p:spPr>
      </p:sp>
      <p:sp>
        <p:nvSpPr>
          <p:cNvPr id="11" name="text-46"/>
          <p:cNvSpPr txBox="1"/>
          <p:nvPr/>
        </p:nvSpPr>
        <p:spPr>
          <a:xfrm>
            <a:off x="7406640" y="2340864"/>
            <a:ext cx="4114800" cy="29260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reservations</a:t>
            </a:r>
            <a:pPr indent="0" marL="0">
              <a:buNone/>
            </a:pPr>
            <a:r>
              <a:rPr lang="en-US" sz="1300" dirty="0">
                <a:solidFill>
                  <a:schemeClr val="tx2"/>
                </a:solidFill>
              </a:rPr>
              <a:t>   예약</a:t>
            </a:r>
            <a:endParaRPr lang="en-US" sz="1300" dirty="0"/>
          </a:p>
        </p:txBody>
      </p:sp>
      <p:sp>
        <p:nvSpPr>
          <p:cNvPr id="12" name="text-47"/>
          <p:cNvSpPr txBox="1"/>
          <p:nvPr/>
        </p:nvSpPr>
        <p:spPr>
          <a:xfrm>
            <a:off x="7406640" y="2633472"/>
            <a:ext cx="4114800" cy="420624"/>
          </a:xfrm>
          <a:prstGeom prst="rect">
            <a:avLst/>
          </a:prstGeom>
          <a:noFill/>
          <a:ln/>
        </p:spPr>
        <p:txBody>
          <a:bodyPr wrap="square" lIns="0" tIns="0" rIns="0" bIns="0" rtlCol="0" anchor="t"/>
          <a:lstStyle/>
          <a:p>
            <a:pPr indent="0" marL="0">
              <a:buNone/>
            </a:pPr>
            <a:r>
              <a:rPr lang="en-US" sz="1150" dirty="0">
                <a:solidFill>
                  <a:schemeClr val="tx2"/>
                </a:solidFill>
              </a:rPr>
              <a:t>어느 방 · 누가 · 언제부터 언제까지 · 상태(확정/취소)</a:t>
            </a:r>
            <a:endParaRPr lang="en-US" sz="1150" dirty="0"/>
          </a:p>
        </p:txBody>
      </p:sp>
      <p:sp>
        <p:nvSpPr>
          <p:cNvPr id="13" name="card-48"/>
          <p:cNvSpPr/>
          <p:nvPr/>
        </p:nvSpPr>
        <p:spPr>
          <a:xfrm>
            <a:off x="7223760" y="3163824"/>
            <a:ext cx="4389120" cy="804672"/>
          </a:xfrm>
          <a:prstGeom prst="roundRect">
            <a:avLst>
              <a:gd name="adj" fmla="val 13636"/>
            </a:avLst>
          </a:prstGeom>
          <a:solidFill>
            <a:schemeClr val="bg2"/>
          </a:solidFill>
          <a:ln w="6350">
            <a:solidFill>
              <a:schemeClr val="bg2"/>
            </a:solidFill>
            <a:prstDash val="solid"/>
          </a:ln>
        </p:spPr>
      </p:sp>
      <p:sp>
        <p:nvSpPr>
          <p:cNvPr id="14" name="text-49"/>
          <p:cNvSpPr txBox="1"/>
          <p:nvPr/>
        </p:nvSpPr>
        <p:spPr>
          <a:xfrm>
            <a:off x="7406640" y="3236976"/>
            <a:ext cx="4114800" cy="29260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profiles</a:t>
            </a:r>
            <a:pPr indent="0" marL="0">
              <a:buNone/>
            </a:pPr>
            <a:r>
              <a:rPr lang="en-US" sz="1300" dirty="0">
                <a:solidFill>
                  <a:schemeClr val="tx2"/>
                </a:solidFill>
              </a:rPr>
              <a:t>   사용자 정보</a:t>
            </a:r>
            <a:endParaRPr lang="en-US" sz="1300" dirty="0"/>
          </a:p>
        </p:txBody>
      </p:sp>
      <p:sp>
        <p:nvSpPr>
          <p:cNvPr id="15" name="text-50"/>
          <p:cNvSpPr txBox="1"/>
          <p:nvPr/>
        </p:nvSpPr>
        <p:spPr>
          <a:xfrm>
            <a:off x="7406640" y="3529584"/>
            <a:ext cx="4114800" cy="420624"/>
          </a:xfrm>
          <a:prstGeom prst="rect">
            <a:avLst/>
          </a:prstGeom>
          <a:noFill/>
          <a:ln/>
        </p:spPr>
        <p:txBody>
          <a:bodyPr wrap="square" lIns="0" tIns="0" rIns="0" bIns="0" rtlCol="0" anchor="t"/>
          <a:lstStyle/>
          <a:p>
            <a:pPr indent="0" marL="0">
              <a:buNone/>
            </a:pPr>
            <a:r>
              <a:rPr lang="en-US" sz="1150" dirty="0">
                <a:solidFill>
                  <a:schemeClr val="tx2"/>
                </a:solidFill>
              </a:rPr>
              <a:t>이름, 부서. 회원 테이블(auth.users)은 Supabase 가 관리해서 못 고치니 1:1 로 붙임</a:t>
            </a:r>
            <a:endParaRPr lang="en-US" sz="1150" dirty="0"/>
          </a:p>
        </p:txBody>
      </p:sp>
      <p:sp>
        <p:nvSpPr>
          <p:cNvPr id="16" name="card-51"/>
          <p:cNvSpPr/>
          <p:nvPr/>
        </p:nvSpPr>
        <p:spPr>
          <a:xfrm>
            <a:off x="7223760" y="4059936"/>
            <a:ext cx="4389120" cy="804672"/>
          </a:xfrm>
          <a:prstGeom prst="roundRect">
            <a:avLst>
              <a:gd name="adj" fmla="val 13636"/>
            </a:avLst>
          </a:prstGeom>
          <a:solidFill>
            <a:schemeClr val="bg2"/>
          </a:solidFill>
          <a:ln w="6350">
            <a:solidFill>
              <a:schemeClr val="bg2"/>
            </a:solidFill>
            <a:prstDash val="solid"/>
          </a:ln>
        </p:spPr>
      </p:sp>
      <p:sp>
        <p:nvSpPr>
          <p:cNvPr id="17" name="text-52"/>
          <p:cNvSpPr txBox="1"/>
          <p:nvPr/>
        </p:nvSpPr>
        <p:spPr>
          <a:xfrm>
            <a:off x="7406640" y="4133088"/>
            <a:ext cx="4114800" cy="29260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reservation_participants</a:t>
            </a:r>
            <a:pPr indent="0" marL="0">
              <a:buNone/>
            </a:pPr>
            <a:r>
              <a:rPr lang="en-US" sz="1300" dirty="0">
                <a:solidFill>
                  <a:schemeClr val="tx2"/>
                </a:solidFill>
              </a:rPr>
              <a:t>   참석자</a:t>
            </a:r>
            <a:endParaRPr lang="en-US" sz="1300" dirty="0"/>
          </a:p>
        </p:txBody>
      </p:sp>
      <p:sp>
        <p:nvSpPr>
          <p:cNvPr id="18" name="text-53"/>
          <p:cNvSpPr txBox="1"/>
          <p:nvPr/>
        </p:nvSpPr>
        <p:spPr>
          <a:xfrm>
            <a:off x="7406640" y="4425696"/>
            <a:ext cx="4114800" cy="420624"/>
          </a:xfrm>
          <a:prstGeom prst="rect">
            <a:avLst/>
          </a:prstGeom>
          <a:noFill/>
          <a:ln/>
        </p:spPr>
        <p:txBody>
          <a:bodyPr wrap="square" lIns="0" tIns="0" rIns="0" bIns="0" rtlCol="0" anchor="t"/>
          <a:lstStyle/>
          <a:p>
            <a:pPr indent="0" marL="0">
              <a:buNone/>
            </a:pPr>
            <a:r>
              <a:rPr lang="en-US" sz="1150" dirty="0">
                <a:solidFill>
                  <a:schemeClr val="tx2"/>
                </a:solidFill>
              </a:rPr>
              <a:t>예약 ↔ 사용자를 잇는 연결 테이블 (M:N)</a:t>
            </a:r>
            <a:endParaRPr lang="en-US" sz="1150" dirty="0"/>
          </a:p>
        </p:txBody>
      </p:sp>
      <p:sp>
        <p:nvSpPr>
          <p:cNvPr id="19" name="card-54"/>
          <p:cNvSpPr/>
          <p:nvPr/>
        </p:nvSpPr>
        <p:spPr>
          <a:xfrm>
            <a:off x="7223760" y="5029200"/>
            <a:ext cx="4389120" cy="1005840"/>
          </a:xfrm>
          <a:prstGeom prst="roundRect">
            <a:avLst>
              <a:gd name="adj" fmla="val 10909"/>
            </a:avLst>
          </a:prstGeom>
          <a:solidFill>
            <a:schemeClr val="accent5"/>
          </a:solidFill>
          <a:ln w="6350">
            <a:solidFill>
              <a:schemeClr val="accent5"/>
            </a:solidFill>
            <a:prstDash val="solid"/>
          </a:ln>
        </p:spPr>
      </p:sp>
      <p:sp>
        <p:nvSpPr>
          <p:cNvPr id="20" name="text-55"/>
          <p:cNvSpPr txBox="1"/>
          <p:nvPr/>
        </p:nvSpPr>
        <p:spPr>
          <a:xfrm>
            <a:off x="7406640" y="5102352"/>
            <a:ext cx="4114800" cy="274320"/>
          </a:xfrm>
          <a:prstGeom prst="rect">
            <a:avLst/>
          </a:prstGeom>
          <a:noFill/>
          <a:ln/>
        </p:spPr>
        <p:txBody>
          <a:bodyPr wrap="square" lIns="0" tIns="0" rIns="0" bIns="0" rtlCol="0" anchor="t"/>
          <a:lstStyle/>
          <a:p>
            <a:pPr indent="0" marL="0">
              <a:buNone/>
            </a:pPr>
            <a:r>
              <a:rPr lang="en-US" sz="1200" b="1" dirty="0">
                <a:solidFill>
                  <a:schemeClr val="accent1"/>
                </a:solidFill>
              </a:rPr>
              <a:t>관계 읽는 법</a:t>
            </a:r>
            <a:endParaRPr lang="en-US" sz="1200" dirty="0"/>
          </a:p>
        </p:txBody>
      </p:sp>
      <p:sp>
        <p:nvSpPr>
          <p:cNvPr id="21" name="text-56"/>
          <p:cNvSpPr txBox="1"/>
          <p:nvPr/>
        </p:nvSpPr>
        <p:spPr>
          <a:xfrm>
            <a:off x="7406640" y="5376672"/>
            <a:ext cx="4114800" cy="640080"/>
          </a:xfrm>
          <a:prstGeom prst="rect">
            <a:avLst/>
          </a:prstGeom>
          <a:noFill/>
          <a:ln/>
        </p:spPr>
        <p:txBody>
          <a:bodyPr wrap="square" lIns="0" tIns="0" rIns="0" bIns="0" rtlCol="0" anchor="t"/>
          <a:lstStyle/>
          <a:p>
            <a:pPr indent="0" marL="0">
              <a:buNone/>
            </a:pPr>
            <a:r>
              <a:rPr lang="en-US" sz="1100" dirty="0">
                <a:solidFill>
                  <a:schemeClr val="tx1"/>
                </a:solidFill>
              </a:rPr>
              <a:t>1:N  하나가 여럿을 가짐 (회의실 → 예약)</a:t>
            </a:r>
            <a:endParaRPr lang="en-US" sz="1100" dirty="0"/>
          </a:p>
          <a:p>
            <a:pPr indent="0" marL="0">
              <a:buNone/>
            </a:pPr>
            <a:r>
              <a:rPr lang="en-US" sz="1100" dirty="0">
                <a:solidFill>
                  <a:schemeClr val="tx1"/>
                </a:solidFill>
              </a:rPr>
              <a:t>1:1  하나에 하나 (회원 ↔ 프로필)</a:t>
            </a:r>
            <a:endParaRPr lang="en-US" sz="1100" dirty="0"/>
          </a:p>
          <a:p>
            <a:pPr indent="0" marL="0">
              <a:buNone/>
            </a:pPr>
            <a:r>
              <a:rPr lang="en-US" sz="1100" dirty="0">
                <a:solidFill>
                  <a:schemeClr val="tx1"/>
                </a:solidFill>
              </a:rPr>
              <a:t>M:N  여럿과 여럿 → 연결 테이블 필요 (예약 ↔ 참석자)</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핵심 규칙: 같은 회의실, 겹치는 시간은 하나만</a:t>
            </a:r>
            <a:endParaRPr lang="en-US" sz="3000" dirty="0"/>
          </a:p>
        </p:txBody>
      </p:sp>
      <p:sp>
        <p:nvSpPr>
          <p:cNvPr id="4" name="card-57"/>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58"/>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1:00</a:t>
            </a:r>
            <a:endParaRPr lang="en-US" sz="1200" dirty="0"/>
          </a:p>
        </p:txBody>
      </p:sp>
      <p:sp>
        <p:nvSpPr>
          <p:cNvPr id="6" name="text-59"/>
          <p:cNvSpPr txBox="1"/>
          <p:nvPr/>
        </p:nvSpPr>
        <p:spPr>
          <a:xfrm>
            <a:off x="548640" y="1325880"/>
            <a:ext cx="5394960" cy="365760"/>
          </a:xfrm>
          <a:prstGeom prst="rect">
            <a:avLst/>
          </a:prstGeom>
          <a:noFill/>
          <a:ln/>
        </p:spPr>
        <p:txBody>
          <a:bodyPr wrap="square" lIns="0" tIns="0" rIns="0" bIns="0" rtlCol="0" anchor="t"/>
          <a:lstStyle/>
          <a:p>
            <a:pPr indent="0" marL="0">
              <a:buNone/>
            </a:pPr>
            <a:r>
              <a:rPr lang="en-US" sz="1600" b="1" dirty="0">
                <a:solidFill>
                  <a:schemeClr val="tx1"/>
                </a:solidFill>
              </a:rPr>
              <a:t>규칙</a:t>
            </a:r>
            <a:endParaRPr lang="en-US" sz="1600" dirty="0"/>
          </a:p>
        </p:txBody>
      </p:sp>
      <p:sp>
        <p:nvSpPr>
          <p:cNvPr id="7" name="axis"/>
          <p:cNvSpPr/>
          <p:nvPr/>
        </p:nvSpPr>
        <p:spPr>
          <a:xfrm>
            <a:off x="914400" y="3063240"/>
            <a:ext cx="4855464" cy="0"/>
          </a:xfrm>
          <a:prstGeom prst="line">
            <a:avLst/>
          </a:prstGeom>
          <a:noFill/>
          <a:ln w="19050">
            <a:solidFill>
              <a:schemeClr val="tx2"/>
            </a:solidFill>
            <a:prstDash val="solid"/>
          </a:ln>
        </p:spPr>
      </p:sp>
      <p:sp>
        <p:nvSpPr>
          <p:cNvPr id="8" name="tick-60"/>
          <p:cNvSpPr/>
          <p:nvPr/>
        </p:nvSpPr>
        <p:spPr>
          <a:xfrm>
            <a:off x="914400" y="2971800"/>
            <a:ext cx="0" cy="182880"/>
          </a:xfrm>
          <a:prstGeom prst="line">
            <a:avLst/>
          </a:prstGeom>
          <a:noFill/>
          <a:ln w="19050">
            <a:solidFill>
              <a:schemeClr val="tx2"/>
            </a:solidFill>
            <a:prstDash val="solid"/>
          </a:ln>
        </p:spPr>
      </p:sp>
      <p:sp>
        <p:nvSpPr>
          <p:cNvPr id="9" name="text-61"/>
          <p:cNvSpPr txBox="1"/>
          <p:nvPr/>
        </p:nvSpPr>
        <p:spPr>
          <a:xfrm>
            <a:off x="457200" y="4069080"/>
            <a:ext cx="914400" cy="274320"/>
          </a:xfrm>
          <a:prstGeom prst="rect">
            <a:avLst/>
          </a:prstGeom>
          <a:noFill/>
          <a:ln/>
        </p:spPr>
        <p:txBody>
          <a:bodyPr wrap="square" lIns="0" tIns="0" rIns="0" bIns="0" rtlCol="0" anchor="t"/>
          <a:lstStyle/>
          <a:p>
            <a:pPr algn="ctr" indent="0" marL="0">
              <a:buNone/>
            </a:pPr>
            <a:r>
              <a:rPr lang="en-US" sz="1100" dirty="0">
                <a:solidFill>
                  <a:schemeClr val="tx2"/>
                </a:solidFill>
              </a:rPr>
              <a:t>10:00</a:t>
            </a:r>
            <a:endParaRPr lang="en-US" sz="1100" dirty="0"/>
          </a:p>
        </p:txBody>
      </p:sp>
      <p:sp>
        <p:nvSpPr>
          <p:cNvPr id="10" name="tick-62"/>
          <p:cNvSpPr/>
          <p:nvPr/>
        </p:nvSpPr>
        <p:spPr>
          <a:xfrm>
            <a:off x="2532888" y="2971800"/>
            <a:ext cx="0" cy="182880"/>
          </a:xfrm>
          <a:prstGeom prst="line">
            <a:avLst/>
          </a:prstGeom>
          <a:noFill/>
          <a:ln w="19050">
            <a:solidFill>
              <a:schemeClr val="tx2"/>
            </a:solidFill>
            <a:prstDash val="solid"/>
          </a:ln>
        </p:spPr>
      </p:sp>
      <p:sp>
        <p:nvSpPr>
          <p:cNvPr id="11" name="text-63"/>
          <p:cNvSpPr txBox="1"/>
          <p:nvPr/>
        </p:nvSpPr>
        <p:spPr>
          <a:xfrm>
            <a:off x="2075688" y="4069080"/>
            <a:ext cx="914400" cy="274320"/>
          </a:xfrm>
          <a:prstGeom prst="rect">
            <a:avLst/>
          </a:prstGeom>
          <a:noFill/>
          <a:ln/>
        </p:spPr>
        <p:txBody>
          <a:bodyPr wrap="square" lIns="0" tIns="0" rIns="0" bIns="0" rtlCol="0" anchor="t"/>
          <a:lstStyle/>
          <a:p>
            <a:pPr algn="ctr" indent="0" marL="0">
              <a:buNone/>
            </a:pPr>
            <a:r>
              <a:rPr lang="en-US" sz="1100" dirty="0">
                <a:solidFill>
                  <a:schemeClr val="tx2"/>
                </a:solidFill>
              </a:rPr>
              <a:t>11:00</a:t>
            </a:r>
            <a:endParaRPr lang="en-US" sz="1100" dirty="0"/>
          </a:p>
        </p:txBody>
      </p:sp>
      <p:sp>
        <p:nvSpPr>
          <p:cNvPr id="12" name="tick-64"/>
          <p:cNvSpPr/>
          <p:nvPr/>
        </p:nvSpPr>
        <p:spPr>
          <a:xfrm>
            <a:off x="4151376" y="2971800"/>
            <a:ext cx="0" cy="182880"/>
          </a:xfrm>
          <a:prstGeom prst="line">
            <a:avLst/>
          </a:prstGeom>
          <a:noFill/>
          <a:ln w="19050">
            <a:solidFill>
              <a:schemeClr val="tx2"/>
            </a:solidFill>
            <a:prstDash val="solid"/>
          </a:ln>
        </p:spPr>
      </p:sp>
      <p:sp>
        <p:nvSpPr>
          <p:cNvPr id="13" name="text-65"/>
          <p:cNvSpPr txBox="1"/>
          <p:nvPr/>
        </p:nvSpPr>
        <p:spPr>
          <a:xfrm>
            <a:off x="3694176" y="4069080"/>
            <a:ext cx="914400" cy="274320"/>
          </a:xfrm>
          <a:prstGeom prst="rect">
            <a:avLst/>
          </a:prstGeom>
          <a:noFill/>
          <a:ln/>
        </p:spPr>
        <p:txBody>
          <a:bodyPr wrap="square" lIns="0" tIns="0" rIns="0" bIns="0" rtlCol="0" anchor="t"/>
          <a:lstStyle/>
          <a:p>
            <a:pPr algn="ctr" indent="0" marL="0">
              <a:buNone/>
            </a:pPr>
            <a:r>
              <a:rPr lang="en-US" sz="1100" dirty="0">
                <a:solidFill>
                  <a:schemeClr val="tx2"/>
                </a:solidFill>
              </a:rPr>
              <a:t>12:00</a:t>
            </a:r>
            <a:endParaRPr lang="en-US" sz="1100" dirty="0"/>
          </a:p>
        </p:txBody>
      </p:sp>
      <p:sp>
        <p:nvSpPr>
          <p:cNvPr id="14" name="tick-66"/>
          <p:cNvSpPr/>
          <p:nvPr/>
        </p:nvSpPr>
        <p:spPr>
          <a:xfrm>
            <a:off x="5769864" y="2971800"/>
            <a:ext cx="0" cy="182880"/>
          </a:xfrm>
          <a:prstGeom prst="line">
            <a:avLst/>
          </a:prstGeom>
          <a:noFill/>
          <a:ln w="19050">
            <a:solidFill>
              <a:schemeClr val="tx2"/>
            </a:solidFill>
            <a:prstDash val="solid"/>
          </a:ln>
        </p:spPr>
      </p:sp>
      <p:sp>
        <p:nvSpPr>
          <p:cNvPr id="15" name="text-67"/>
          <p:cNvSpPr txBox="1"/>
          <p:nvPr/>
        </p:nvSpPr>
        <p:spPr>
          <a:xfrm>
            <a:off x="5312664" y="4069080"/>
            <a:ext cx="914400" cy="274320"/>
          </a:xfrm>
          <a:prstGeom prst="rect">
            <a:avLst/>
          </a:prstGeom>
          <a:noFill/>
          <a:ln/>
        </p:spPr>
        <p:txBody>
          <a:bodyPr wrap="square" lIns="0" tIns="0" rIns="0" bIns="0" rtlCol="0" anchor="t"/>
          <a:lstStyle/>
          <a:p>
            <a:pPr algn="ctr" indent="0" marL="0">
              <a:buNone/>
            </a:pPr>
            <a:r>
              <a:rPr lang="en-US" sz="1100" dirty="0">
                <a:solidFill>
                  <a:schemeClr val="tx2"/>
                </a:solidFill>
              </a:rPr>
              <a:t>13:00</a:t>
            </a:r>
            <a:endParaRPr lang="en-US" sz="1100" dirty="0"/>
          </a:p>
        </p:txBody>
      </p:sp>
      <p:sp>
        <p:nvSpPr>
          <p:cNvPr id="16" name="card-68"/>
          <p:cNvSpPr/>
          <p:nvPr/>
        </p:nvSpPr>
        <p:spPr>
          <a:xfrm>
            <a:off x="2532888" y="2286000"/>
            <a:ext cx="1618488" cy="548640"/>
          </a:xfrm>
          <a:prstGeom prst="roundRect">
            <a:avLst>
              <a:gd name="adj" fmla="val 20000"/>
            </a:avLst>
          </a:prstGeom>
          <a:solidFill>
            <a:schemeClr val="accent1"/>
          </a:solidFill>
          <a:ln w="6350">
            <a:solidFill>
              <a:schemeClr val="accent1"/>
            </a:solidFill>
            <a:prstDash val="solid"/>
          </a:ln>
        </p:spPr>
      </p:sp>
      <p:sp>
        <p:nvSpPr>
          <p:cNvPr id="17" name="text-69"/>
          <p:cNvSpPr txBox="1"/>
          <p:nvPr/>
        </p:nvSpPr>
        <p:spPr>
          <a:xfrm>
            <a:off x="2532888" y="2286000"/>
            <a:ext cx="1618488" cy="548640"/>
          </a:xfrm>
          <a:prstGeom prst="rect">
            <a:avLst/>
          </a:prstGeom>
          <a:noFill/>
          <a:ln/>
        </p:spPr>
        <p:txBody>
          <a:bodyPr wrap="square" lIns="0" tIns="0" rIns="0" bIns="0" rtlCol="0" anchor="ctr"/>
          <a:lstStyle/>
          <a:p>
            <a:pPr algn="ctr" indent="0" marL="0">
              <a:buNone/>
            </a:pPr>
            <a:r>
              <a:rPr lang="en-US" sz="1100" b="1" dirty="0">
                <a:solidFill>
                  <a:schemeClr val="bg1"/>
                </a:solidFill>
              </a:rPr>
              <a:t>기존 11:00–12:00</a:t>
            </a:r>
            <a:endParaRPr lang="en-US" sz="1100" dirty="0"/>
          </a:p>
        </p:txBody>
      </p:sp>
      <p:sp>
        <p:nvSpPr>
          <p:cNvPr id="18" name="card-70"/>
          <p:cNvSpPr/>
          <p:nvPr/>
        </p:nvSpPr>
        <p:spPr>
          <a:xfrm>
            <a:off x="3342132" y="3337560"/>
            <a:ext cx="1618488" cy="548640"/>
          </a:xfrm>
          <a:prstGeom prst="roundRect">
            <a:avLst>
              <a:gd name="adj" fmla="val 20000"/>
            </a:avLst>
          </a:prstGeom>
          <a:solidFill>
            <a:schemeClr val="accent4"/>
          </a:solidFill>
          <a:ln w="6350">
            <a:solidFill>
              <a:schemeClr val="accent4"/>
            </a:solidFill>
            <a:prstDash val="solid"/>
          </a:ln>
        </p:spPr>
      </p:sp>
      <p:sp>
        <p:nvSpPr>
          <p:cNvPr id="19" name="text-71"/>
          <p:cNvSpPr txBox="1"/>
          <p:nvPr/>
        </p:nvSpPr>
        <p:spPr>
          <a:xfrm>
            <a:off x="3342132" y="3337560"/>
            <a:ext cx="1618488" cy="548640"/>
          </a:xfrm>
          <a:prstGeom prst="rect">
            <a:avLst/>
          </a:prstGeom>
          <a:noFill/>
          <a:ln/>
        </p:spPr>
        <p:txBody>
          <a:bodyPr wrap="square" lIns="0" tIns="0" rIns="0" bIns="0" rtlCol="0" anchor="ctr"/>
          <a:lstStyle/>
          <a:p>
            <a:pPr algn="ctr" indent="0" marL="0">
              <a:buNone/>
            </a:pPr>
            <a:r>
              <a:rPr lang="en-US" sz="1100" b="1" dirty="0">
                <a:solidFill>
                  <a:schemeClr val="bg1"/>
                </a:solidFill>
              </a:rPr>
              <a:t>새 요청 11:30–12:30</a:t>
            </a:r>
            <a:endParaRPr lang="en-US" sz="1100" dirty="0"/>
          </a:p>
        </p:txBody>
      </p:sp>
      <p:sp>
        <p:nvSpPr>
          <p:cNvPr id="20" name="overlap"/>
          <p:cNvSpPr/>
          <p:nvPr/>
        </p:nvSpPr>
        <p:spPr>
          <a:xfrm>
            <a:off x="3342132" y="2103120"/>
            <a:ext cx="809244" cy="1920240"/>
          </a:xfrm>
          <a:prstGeom prst="rect">
            <a:avLst/>
          </a:prstGeom>
          <a:solidFill>
            <a:schemeClr val="accent4">
              <a:alpha val="18000"/>
            </a:schemeClr>
          </a:solidFill>
          <a:ln w="15875">
            <a:solidFill>
              <a:schemeClr val="accent4"/>
            </a:solidFill>
            <a:prstDash val="dash"/>
          </a:ln>
        </p:spPr>
      </p:sp>
      <p:sp>
        <p:nvSpPr>
          <p:cNvPr id="21" name="text-72"/>
          <p:cNvSpPr txBox="1"/>
          <p:nvPr/>
        </p:nvSpPr>
        <p:spPr>
          <a:xfrm>
            <a:off x="3342132" y="1783080"/>
            <a:ext cx="809244" cy="274320"/>
          </a:xfrm>
          <a:prstGeom prst="rect">
            <a:avLst/>
          </a:prstGeom>
          <a:noFill/>
          <a:ln/>
        </p:spPr>
        <p:txBody>
          <a:bodyPr wrap="square" lIns="0" tIns="0" rIns="0" bIns="0" rtlCol="0" anchor="t"/>
          <a:lstStyle/>
          <a:p>
            <a:pPr algn="ctr" indent="0" marL="0">
              <a:buNone/>
            </a:pPr>
            <a:r>
              <a:rPr lang="en-US" sz="1200" b="1" dirty="0">
                <a:solidFill>
                  <a:schemeClr val="accent4"/>
                </a:solidFill>
              </a:rPr>
              <a:t>겹침 30분</a:t>
            </a:r>
            <a:endParaRPr lang="en-US" sz="1200" dirty="0"/>
          </a:p>
        </p:txBody>
      </p:sp>
      <p:sp>
        <p:nvSpPr>
          <p:cNvPr id="22" name="text-73"/>
          <p:cNvSpPr txBox="1"/>
          <p:nvPr/>
        </p:nvSpPr>
        <p:spPr>
          <a:xfrm>
            <a:off x="548640" y="4434840"/>
            <a:ext cx="5394960" cy="640080"/>
          </a:xfrm>
          <a:prstGeom prst="rect">
            <a:avLst/>
          </a:prstGeom>
          <a:noFill/>
          <a:ln/>
        </p:spPr>
        <p:txBody>
          <a:bodyPr wrap="square" lIns="0" tIns="0" rIns="0" bIns="0" rtlCol="0" anchor="t"/>
          <a:lstStyle/>
          <a:p>
            <a:pPr indent="0" marL="0">
              <a:buNone/>
            </a:pPr>
            <a:r>
              <a:rPr lang="en-US" sz="1300" dirty="0">
                <a:solidFill>
                  <a:schemeClr val="tx2"/>
                </a:solidFill>
              </a:rPr>
              <a:t>11시–12시 예약이 있는데 11시 반–12시 반 요청</a:t>
            </a:r>
            <a:endParaRPr lang="en-US" sz="1300" dirty="0"/>
          </a:p>
          <a:p>
            <a:pPr indent="0" marL="0">
              <a:buNone/>
            </a:pPr>
            <a:r>
              <a:rPr lang="en-US" sz="1300" dirty="0">
                <a:solidFill>
                  <a:schemeClr val="tx2"/>
                </a:solidFill>
              </a:rPr>
              <a:t>→ 30분이 겹치니 막아야 한다</a:t>
            </a:r>
            <a:endParaRPr lang="en-US" sz="1300" dirty="0"/>
          </a:p>
        </p:txBody>
      </p:sp>
      <p:sp>
        <p:nvSpPr>
          <p:cNvPr id="23" name="text-74"/>
          <p:cNvSpPr txBox="1"/>
          <p:nvPr/>
        </p:nvSpPr>
        <p:spPr>
          <a:xfrm>
            <a:off x="6400800" y="1325880"/>
            <a:ext cx="5212080" cy="365760"/>
          </a:xfrm>
          <a:prstGeom prst="rect">
            <a:avLst/>
          </a:prstGeom>
          <a:noFill/>
          <a:ln/>
        </p:spPr>
        <p:txBody>
          <a:bodyPr wrap="square" lIns="0" tIns="0" rIns="0" bIns="0" rtlCol="0" anchor="t"/>
          <a:lstStyle/>
          <a:p>
            <a:pPr indent="0" marL="0">
              <a:buNone/>
            </a:pPr>
            <a:r>
              <a:rPr lang="en-US" sz="1600" b="1" dirty="0">
                <a:solidFill>
                  <a:schemeClr val="tx1"/>
                </a:solidFill>
              </a:rPr>
              <a:t>코드로 '조회 후 저장'하면?</a:t>
            </a:r>
            <a:endParaRPr lang="en-US" sz="1600" dirty="0"/>
          </a:p>
        </p:txBody>
      </p:sp>
      <p:sp>
        <p:nvSpPr>
          <p:cNvPr id="24" name="card-75"/>
          <p:cNvSpPr/>
          <p:nvPr/>
        </p:nvSpPr>
        <p:spPr>
          <a:xfrm>
            <a:off x="6400800" y="1828800"/>
            <a:ext cx="5212080" cy="457200"/>
          </a:xfrm>
          <a:prstGeom prst="roundRect">
            <a:avLst>
              <a:gd name="adj" fmla="val 24000"/>
            </a:avLst>
          </a:prstGeom>
          <a:solidFill>
            <a:schemeClr val="bg2"/>
          </a:solidFill>
          <a:ln w="6350">
            <a:solidFill>
              <a:schemeClr val="bg2"/>
            </a:solidFill>
            <a:prstDash val="solid"/>
          </a:ln>
        </p:spPr>
      </p:sp>
      <p:sp>
        <p:nvSpPr>
          <p:cNvPr id="25" name="text-76"/>
          <p:cNvSpPr txBox="1"/>
          <p:nvPr/>
        </p:nvSpPr>
        <p:spPr>
          <a:xfrm>
            <a:off x="6629400" y="1828800"/>
            <a:ext cx="4846320" cy="457200"/>
          </a:xfrm>
          <a:prstGeom prst="rect">
            <a:avLst/>
          </a:prstGeom>
          <a:noFill/>
          <a:ln/>
        </p:spPr>
        <p:txBody>
          <a:bodyPr wrap="square" lIns="0" tIns="0" rIns="0" bIns="0" rtlCol="0" anchor="ctr"/>
          <a:lstStyle/>
          <a:p>
            <a:pPr indent="0" marL="0">
              <a:buNone/>
            </a:pPr>
            <a:r>
              <a:rPr lang="en-US" sz="1400" dirty="0">
                <a:solidFill>
                  <a:schemeClr val="tx1"/>
                </a:solidFill>
              </a:rPr>
              <a:t>요청 A  조회  →  겹치는 거 없음</a:t>
            </a:r>
            <a:endParaRPr lang="en-US" sz="1400" dirty="0"/>
          </a:p>
        </p:txBody>
      </p:sp>
      <p:sp>
        <p:nvSpPr>
          <p:cNvPr id="26" name="card-77"/>
          <p:cNvSpPr/>
          <p:nvPr/>
        </p:nvSpPr>
        <p:spPr>
          <a:xfrm>
            <a:off x="6400800" y="2395728"/>
            <a:ext cx="5212080" cy="457200"/>
          </a:xfrm>
          <a:prstGeom prst="roundRect">
            <a:avLst>
              <a:gd name="adj" fmla="val 24000"/>
            </a:avLst>
          </a:prstGeom>
          <a:solidFill>
            <a:schemeClr val="bg2"/>
          </a:solidFill>
          <a:ln w="6350">
            <a:solidFill>
              <a:schemeClr val="bg2"/>
            </a:solidFill>
            <a:prstDash val="solid"/>
          </a:ln>
        </p:spPr>
      </p:sp>
      <p:sp>
        <p:nvSpPr>
          <p:cNvPr id="27" name="text-78"/>
          <p:cNvSpPr txBox="1"/>
          <p:nvPr/>
        </p:nvSpPr>
        <p:spPr>
          <a:xfrm>
            <a:off x="6629400" y="2395728"/>
            <a:ext cx="4846320" cy="457200"/>
          </a:xfrm>
          <a:prstGeom prst="rect">
            <a:avLst/>
          </a:prstGeom>
          <a:noFill/>
          <a:ln/>
        </p:spPr>
        <p:txBody>
          <a:bodyPr wrap="square" lIns="0" tIns="0" rIns="0" bIns="0" rtlCol="0" anchor="ctr"/>
          <a:lstStyle/>
          <a:p>
            <a:pPr indent="0" marL="0">
              <a:buNone/>
            </a:pPr>
            <a:r>
              <a:rPr lang="en-US" sz="1400" dirty="0">
                <a:solidFill>
                  <a:schemeClr val="tx1"/>
                </a:solidFill>
              </a:rPr>
              <a:t>요청 B  조회  →  겹치는 거 없음</a:t>
            </a:r>
            <a:endParaRPr lang="en-US" sz="1400" dirty="0"/>
          </a:p>
        </p:txBody>
      </p:sp>
      <p:sp>
        <p:nvSpPr>
          <p:cNvPr id="28" name="card-79"/>
          <p:cNvSpPr/>
          <p:nvPr/>
        </p:nvSpPr>
        <p:spPr>
          <a:xfrm>
            <a:off x="6400800" y="2962656"/>
            <a:ext cx="5212080" cy="457200"/>
          </a:xfrm>
          <a:prstGeom prst="roundRect">
            <a:avLst>
              <a:gd name="adj" fmla="val 24000"/>
            </a:avLst>
          </a:prstGeom>
          <a:solidFill>
            <a:schemeClr val="bg2"/>
          </a:solidFill>
          <a:ln w="6350">
            <a:solidFill>
              <a:schemeClr val="bg2"/>
            </a:solidFill>
            <a:prstDash val="solid"/>
          </a:ln>
        </p:spPr>
      </p:sp>
      <p:sp>
        <p:nvSpPr>
          <p:cNvPr id="29" name="text-80"/>
          <p:cNvSpPr txBox="1"/>
          <p:nvPr/>
        </p:nvSpPr>
        <p:spPr>
          <a:xfrm>
            <a:off x="6629400" y="2962656"/>
            <a:ext cx="4846320" cy="457200"/>
          </a:xfrm>
          <a:prstGeom prst="rect">
            <a:avLst/>
          </a:prstGeom>
          <a:noFill/>
          <a:ln/>
        </p:spPr>
        <p:txBody>
          <a:bodyPr wrap="square" lIns="0" tIns="0" rIns="0" bIns="0" rtlCol="0" anchor="ctr"/>
          <a:lstStyle/>
          <a:p>
            <a:pPr indent="0" marL="0">
              <a:buNone/>
            </a:pPr>
            <a:r>
              <a:rPr lang="en-US" sz="1400" dirty="0">
                <a:solidFill>
                  <a:schemeClr val="tx1"/>
                </a:solidFill>
              </a:rPr>
              <a:t>요청 A  저장  →  성공</a:t>
            </a:r>
            <a:endParaRPr lang="en-US" sz="1400" dirty="0"/>
          </a:p>
        </p:txBody>
      </p:sp>
      <p:sp>
        <p:nvSpPr>
          <p:cNvPr id="30" name="card-81"/>
          <p:cNvSpPr/>
          <p:nvPr/>
        </p:nvSpPr>
        <p:spPr>
          <a:xfrm>
            <a:off x="6400800" y="3529584"/>
            <a:ext cx="5212080" cy="457200"/>
          </a:xfrm>
          <a:prstGeom prst="roundRect">
            <a:avLst>
              <a:gd name="adj" fmla="val 24000"/>
            </a:avLst>
          </a:prstGeom>
          <a:solidFill>
            <a:schemeClr val="accent4"/>
          </a:solidFill>
          <a:ln w="6350">
            <a:solidFill>
              <a:schemeClr val="accent4"/>
            </a:solidFill>
            <a:prstDash val="solid"/>
          </a:ln>
        </p:spPr>
      </p:sp>
      <p:sp>
        <p:nvSpPr>
          <p:cNvPr id="31" name="text-82"/>
          <p:cNvSpPr txBox="1"/>
          <p:nvPr/>
        </p:nvSpPr>
        <p:spPr>
          <a:xfrm>
            <a:off x="6629400" y="3529584"/>
            <a:ext cx="4846320" cy="457200"/>
          </a:xfrm>
          <a:prstGeom prst="rect">
            <a:avLst/>
          </a:prstGeom>
          <a:noFill/>
          <a:ln/>
        </p:spPr>
        <p:txBody>
          <a:bodyPr wrap="square" lIns="0" tIns="0" rIns="0" bIns="0" rtlCol="0" anchor="ctr"/>
          <a:lstStyle/>
          <a:p>
            <a:pPr indent="0" marL="0">
              <a:buNone/>
            </a:pPr>
            <a:r>
              <a:rPr lang="en-US" sz="1400" b="1" dirty="0">
                <a:solidFill>
                  <a:schemeClr val="bg1"/>
                </a:solidFill>
              </a:rPr>
              <a:t>요청 B  저장  →  성공  ← 중복!</a:t>
            </a:r>
            <a:endParaRPr lang="en-US" sz="1400" dirty="0"/>
          </a:p>
        </p:txBody>
      </p:sp>
      <p:sp>
        <p:nvSpPr>
          <p:cNvPr id="32" name="text-83"/>
          <p:cNvSpPr txBox="1"/>
          <p:nvPr/>
        </p:nvSpPr>
        <p:spPr>
          <a:xfrm>
            <a:off x="6400800" y="4206240"/>
            <a:ext cx="5212080" cy="731520"/>
          </a:xfrm>
          <a:prstGeom prst="rect">
            <a:avLst/>
          </a:prstGeom>
          <a:noFill/>
          <a:ln/>
        </p:spPr>
        <p:txBody>
          <a:bodyPr wrap="square" lIns="0" tIns="0" rIns="0" bIns="0" rtlCol="0" anchor="t"/>
          <a:lstStyle/>
          <a:p>
            <a:pPr indent="0" marL="0">
              <a:buNone/>
            </a:pPr>
            <a:r>
              <a:rPr lang="en-US" sz="1300" dirty="0">
                <a:solidFill>
                  <a:schemeClr val="tx2"/>
                </a:solidFill>
              </a:rPr>
              <a:t>두 번에 나눠서 하면 그 사이에 틈이 생긴다</a:t>
            </a:r>
            <a:endParaRPr lang="en-US" sz="1300" dirty="0"/>
          </a:p>
          <a:p>
            <a:pPr indent="0" marL="0">
              <a:buNone/>
            </a:pPr>
            <a:r>
              <a:rPr lang="en-US" sz="1300" dirty="0">
                <a:solidFill>
                  <a:schemeClr val="tx2"/>
                </a:solidFill>
              </a:rPr>
              <a:t>(동시에 누르면 둘 다 '없음'을 보고 둘 다 저장)</a:t>
            </a:r>
            <a:endParaRPr lang="en-US" sz="1300" dirty="0"/>
          </a:p>
        </p:txBody>
      </p:sp>
      <p:sp>
        <p:nvSpPr>
          <p:cNvPr id="33" name="card-84"/>
          <p:cNvSpPr/>
          <p:nvPr/>
        </p:nvSpPr>
        <p:spPr>
          <a:xfrm>
            <a:off x="548640" y="5257800"/>
            <a:ext cx="11064240" cy="777240"/>
          </a:xfrm>
          <a:prstGeom prst="roundRect">
            <a:avLst>
              <a:gd name="adj" fmla="val 14118"/>
            </a:avLst>
          </a:prstGeom>
          <a:solidFill>
            <a:schemeClr val="accent5"/>
          </a:solidFill>
          <a:ln w="6350">
            <a:solidFill>
              <a:schemeClr val="accent5"/>
            </a:solidFill>
            <a:prstDash val="solid"/>
          </a:ln>
        </p:spPr>
      </p:sp>
      <p:sp>
        <p:nvSpPr>
          <p:cNvPr id="34" name="text-85"/>
          <p:cNvSpPr txBox="1"/>
          <p:nvPr/>
        </p:nvSpPr>
        <p:spPr>
          <a:xfrm>
            <a:off x="777240" y="5257800"/>
            <a:ext cx="10607040" cy="777240"/>
          </a:xfrm>
          <a:prstGeom prst="rect">
            <a:avLst/>
          </a:prstGeom>
          <a:noFill/>
          <a:ln/>
        </p:spPr>
        <p:txBody>
          <a:bodyPr wrap="square" lIns="0" tIns="0" rIns="0" bIns="0" rtlCol="0" anchor="ctr"/>
          <a:lstStyle/>
          <a:p>
            <a:pPr algn="ctr" indent="0" marL="0">
              <a:buNone/>
            </a:pPr>
            <a:r>
              <a:rPr lang="en-US" sz="1600" b="1" dirty="0">
                <a:solidFill>
                  <a:schemeClr val="tx1"/>
                </a:solidFill>
              </a:rPr>
              <a:t>그래서 판정을 두 번이 아니라 한 번에 — 저장하는 순간 DB 가 검사하게 했다  (다음 장)</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해결: EXCLUSION 제약 — DB 가 저장 순간에 검사</a:t>
            </a:r>
            <a:endParaRPr lang="en-US" sz="3000" dirty="0"/>
          </a:p>
        </p:txBody>
      </p:sp>
      <p:sp>
        <p:nvSpPr>
          <p:cNvPr id="4" name="card-86"/>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87"/>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1:00</a:t>
            </a:r>
            <a:endParaRPr lang="en-US" sz="1200" dirty="0"/>
          </a:p>
        </p:txBody>
      </p:sp>
      <p:sp>
        <p:nvSpPr>
          <p:cNvPr id="6" name="card-88"/>
          <p:cNvSpPr/>
          <p:nvPr/>
        </p:nvSpPr>
        <p:spPr>
          <a:xfrm>
            <a:off x="548640" y="1371600"/>
            <a:ext cx="6400800" cy="2377440"/>
          </a:xfrm>
          <a:prstGeom prst="roundRect">
            <a:avLst>
              <a:gd name="adj" fmla="val 4615"/>
            </a:avLst>
          </a:prstGeom>
          <a:solidFill>
            <a:schemeClr val="tx1"/>
          </a:solidFill>
          <a:ln w="6350">
            <a:solidFill>
              <a:schemeClr val="tx1"/>
            </a:solidFill>
            <a:prstDash val="solid"/>
          </a:ln>
        </p:spPr>
      </p:sp>
      <p:sp>
        <p:nvSpPr>
          <p:cNvPr id="7" name="code"/>
          <p:cNvSpPr txBox="1"/>
          <p:nvPr/>
        </p:nvSpPr>
        <p:spPr>
          <a:xfrm>
            <a:off x="822960" y="1508760"/>
            <a:ext cx="5943600" cy="210312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EXCLUDE USING gist (</a:t>
            </a:r>
            <a:endParaRPr lang="en-US" sz="1800" dirty="0"/>
          </a:p>
          <a:p>
            <a:pPr indent="0" marL="0">
              <a:buNone/>
            </a:pPr>
            <a:r>
              <a:rPr lang="en-US" sz="1800" dirty="0">
                <a:solidFill>
                  <a:schemeClr val="accent6"/>
                </a:solidFill>
                <a:latin typeface="Courier New" pitchFamily="34" charset="0"/>
                <a:ea typeface="Courier New" pitchFamily="34" charset="-122"/>
                <a:cs typeface="Courier New" pitchFamily="34" charset="-120"/>
              </a:rPr>
              <a:t>  room_id                     WITH =,</a:t>
            </a:r>
            <a:endParaRPr lang="en-US" sz="1800" dirty="0"/>
          </a:p>
          <a:p>
            <a:pPr indent="0" marL="0">
              <a:buNone/>
            </a:pPr>
            <a:r>
              <a:rPr lang="en-US" sz="1800" dirty="0">
                <a:solidFill>
                  <a:schemeClr val="accent2"/>
                </a:solidFill>
                <a:latin typeface="Courier New" pitchFamily="34" charset="0"/>
                <a:ea typeface="Courier New" pitchFamily="34" charset="-122"/>
                <a:cs typeface="Courier New" pitchFamily="34" charset="-120"/>
              </a:rPr>
              <a:t>  tstzrange(start_at, end_at) WITH &amp;&amp;</a:t>
            </a:r>
            <a:endParaRPr lang="en-US" sz="1800" dirty="0"/>
          </a:p>
          <a:p>
            <a:pPr indent="0" marL="0">
              <a:buNone/>
            </a:pPr>
            <a:r>
              <a:rPr lang="en-US" sz="1800" dirty="0">
                <a:solidFill>
                  <a:schemeClr val="accent3"/>
                </a:solidFill>
                <a:latin typeface="Courier New" pitchFamily="34" charset="0"/>
                <a:ea typeface="Courier New" pitchFamily="34" charset="-122"/>
                <a:cs typeface="Courier New" pitchFamily="34" charset="-120"/>
              </a:rPr>
              <a:t>) WHERE (status = 'confirmed')</a:t>
            </a:r>
            <a:endParaRPr lang="en-US" sz="1800" dirty="0"/>
          </a:p>
        </p:txBody>
      </p:sp>
      <p:sp>
        <p:nvSpPr>
          <p:cNvPr id="8" name="circle-89"/>
          <p:cNvSpPr/>
          <p:nvPr/>
        </p:nvSpPr>
        <p:spPr>
          <a:xfrm>
            <a:off x="7269480" y="1463040"/>
            <a:ext cx="457200" cy="457200"/>
          </a:xfrm>
          <a:prstGeom prst="ellipse">
            <a:avLst/>
          </a:prstGeom>
          <a:solidFill>
            <a:schemeClr val="accent6"/>
          </a:solidFill>
          <a:ln w="6350">
            <a:solidFill>
              <a:schemeClr val="accent6"/>
            </a:solidFill>
            <a:prstDash val="solid"/>
          </a:ln>
        </p:spPr>
      </p:sp>
      <p:sp>
        <p:nvSpPr>
          <p:cNvPr id="9" name="text-90"/>
          <p:cNvSpPr txBox="1"/>
          <p:nvPr/>
        </p:nvSpPr>
        <p:spPr>
          <a:xfrm>
            <a:off x="7269480" y="14630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0" name="text-91"/>
          <p:cNvSpPr txBox="1"/>
          <p:nvPr/>
        </p:nvSpPr>
        <p:spPr>
          <a:xfrm>
            <a:off x="7863840" y="1417320"/>
            <a:ext cx="3749040" cy="320040"/>
          </a:xfrm>
          <a:prstGeom prst="rect">
            <a:avLst/>
          </a:prstGeom>
          <a:noFill/>
          <a:ln/>
        </p:spPr>
        <p:txBody>
          <a:bodyPr wrap="square" lIns="0" tIns="0" rIns="0" bIns="0" rtlCol="0" anchor="t"/>
          <a:lstStyle/>
          <a:p>
            <a:pPr indent="0" marL="0">
              <a:buNone/>
            </a:pPr>
            <a:r>
              <a:rPr lang="en-US" sz="1500" b="1" dirty="0">
                <a:solidFill>
                  <a:schemeClr val="tx1"/>
                </a:solidFill>
              </a:rPr>
              <a:t>같은 회의실인가</a:t>
            </a:r>
            <a:endParaRPr lang="en-US" sz="1500" dirty="0"/>
          </a:p>
        </p:txBody>
      </p:sp>
      <p:sp>
        <p:nvSpPr>
          <p:cNvPr id="11" name="text-92"/>
          <p:cNvSpPr txBox="1"/>
          <p:nvPr/>
        </p:nvSpPr>
        <p:spPr>
          <a:xfrm>
            <a:off x="7863840" y="1746504"/>
            <a:ext cx="3749040" cy="411480"/>
          </a:xfrm>
          <a:prstGeom prst="rect">
            <a:avLst/>
          </a:prstGeom>
          <a:noFill/>
          <a:ln/>
        </p:spPr>
        <p:txBody>
          <a:bodyPr wrap="square" lIns="0" tIns="0" rIns="0" bIns="0" rtlCol="0" anchor="t"/>
          <a:lstStyle/>
          <a:p>
            <a:pPr indent="0" marL="0">
              <a:buNone/>
            </a:pPr>
            <a:r>
              <a:rPr lang="en-US" sz="1150" dirty="0">
                <a:solidFill>
                  <a:schemeClr val="tx2"/>
                </a:solidFill>
              </a:rPr>
              <a:t>room_id 가 같은지 비교</a:t>
            </a:r>
            <a:endParaRPr lang="en-US" sz="1150" dirty="0"/>
          </a:p>
        </p:txBody>
      </p:sp>
      <p:sp>
        <p:nvSpPr>
          <p:cNvPr id="12" name="circle-93"/>
          <p:cNvSpPr/>
          <p:nvPr/>
        </p:nvSpPr>
        <p:spPr>
          <a:xfrm>
            <a:off x="7269480" y="2286000"/>
            <a:ext cx="457200" cy="457200"/>
          </a:xfrm>
          <a:prstGeom prst="ellipse">
            <a:avLst/>
          </a:prstGeom>
          <a:solidFill>
            <a:schemeClr val="accent2"/>
          </a:solidFill>
          <a:ln w="6350">
            <a:solidFill>
              <a:schemeClr val="accent2"/>
            </a:solidFill>
            <a:prstDash val="solid"/>
          </a:ln>
        </p:spPr>
      </p:sp>
      <p:sp>
        <p:nvSpPr>
          <p:cNvPr id="13" name="text-94"/>
          <p:cNvSpPr txBox="1"/>
          <p:nvPr/>
        </p:nvSpPr>
        <p:spPr>
          <a:xfrm>
            <a:off x="7269480" y="228600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&amp;&amp;</a:t>
            </a:r>
            <a:endParaRPr lang="en-US" sz="1200" dirty="0"/>
          </a:p>
        </p:txBody>
      </p:sp>
      <p:sp>
        <p:nvSpPr>
          <p:cNvPr id="14" name="text-95"/>
          <p:cNvSpPr txBox="1"/>
          <p:nvPr/>
        </p:nvSpPr>
        <p:spPr>
          <a:xfrm>
            <a:off x="7863840" y="2240280"/>
            <a:ext cx="3749040" cy="320040"/>
          </a:xfrm>
          <a:prstGeom prst="rect">
            <a:avLst/>
          </a:prstGeom>
          <a:noFill/>
          <a:ln/>
        </p:spPr>
        <p:txBody>
          <a:bodyPr wrap="square" lIns="0" tIns="0" rIns="0" bIns="0" rtlCol="0" anchor="t"/>
          <a:lstStyle/>
          <a:p>
            <a:pPr indent="0" marL="0">
              <a:buNone/>
            </a:pPr>
            <a:r>
              <a:rPr lang="en-US" sz="1500" b="1" dirty="0">
                <a:solidFill>
                  <a:schemeClr val="tx1"/>
                </a:solidFill>
              </a:rPr>
              <a:t>시간 구간이 겹치는가</a:t>
            </a:r>
            <a:endParaRPr lang="en-US" sz="1500" dirty="0"/>
          </a:p>
        </p:txBody>
      </p:sp>
      <p:sp>
        <p:nvSpPr>
          <p:cNvPr id="15" name="text-96"/>
          <p:cNvSpPr txBox="1"/>
          <p:nvPr/>
        </p:nvSpPr>
        <p:spPr>
          <a:xfrm>
            <a:off x="7863840" y="2569464"/>
            <a:ext cx="3749040" cy="411480"/>
          </a:xfrm>
          <a:prstGeom prst="rect">
            <a:avLst/>
          </a:prstGeom>
          <a:noFill/>
          <a:ln/>
        </p:spPr>
        <p:txBody>
          <a:bodyPr wrap="square" lIns="0" tIns="0" rIns="0" bIns="0" rtlCol="0" anchor="t"/>
          <a:lstStyle/>
          <a:p>
            <a:pPr indent="0" marL="0">
              <a:buNone/>
            </a:pPr>
            <a:r>
              <a:rPr lang="en-US" sz="1150" dirty="0">
                <a:solidFill>
                  <a:schemeClr val="tx2"/>
                </a:solidFill>
              </a:rPr>
              <a:t>시작~끝을 하나의 구간으로 보고 겹침 검사</a:t>
            </a:r>
            <a:endParaRPr lang="en-US" sz="1150" dirty="0"/>
          </a:p>
        </p:txBody>
      </p:sp>
      <p:sp>
        <p:nvSpPr>
          <p:cNvPr id="16" name="circle-97"/>
          <p:cNvSpPr/>
          <p:nvPr/>
        </p:nvSpPr>
        <p:spPr>
          <a:xfrm>
            <a:off x="7269480" y="3108960"/>
            <a:ext cx="457200" cy="457200"/>
          </a:xfrm>
          <a:prstGeom prst="ellipse">
            <a:avLst/>
          </a:prstGeom>
          <a:solidFill>
            <a:schemeClr val="accent3"/>
          </a:solidFill>
          <a:ln w="6350">
            <a:solidFill>
              <a:schemeClr val="accent3"/>
            </a:solidFill>
            <a:prstDash val="solid"/>
          </a:ln>
        </p:spPr>
      </p:sp>
      <p:sp>
        <p:nvSpPr>
          <p:cNvPr id="17" name="text-98"/>
          <p:cNvSpPr txBox="1"/>
          <p:nvPr/>
        </p:nvSpPr>
        <p:spPr>
          <a:xfrm>
            <a:off x="7269480" y="31089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if</a:t>
            </a:r>
            <a:endParaRPr lang="en-US" sz="1200" dirty="0"/>
          </a:p>
        </p:txBody>
      </p:sp>
      <p:sp>
        <p:nvSpPr>
          <p:cNvPr id="18" name="text-99"/>
          <p:cNvSpPr txBox="1"/>
          <p:nvPr/>
        </p:nvSpPr>
        <p:spPr>
          <a:xfrm>
            <a:off x="7863840" y="3063240"/>
            <a:ext cx="3749040" cy="320040"/>
          </a:xfrm>
          <a:prstGeom prst="rect">
            <a:avLst/>
          </a:prstGeom>
          <a:noFill/>
          <a:ln/>
        </p:spPr>
        <p:txBody>
          <a:bodyPr wrap="square" lIns="0" tIns="0" rIns="0" bIns="0" rtlCol="0" anchor="t"/>
          <a:lstStyle/>
          <a:p>
            <a:pPr indent="0" marL="0">
              <a:buNone/>
            </a:pPr>
            <a:r>
              <a:rPr lang="en-US" sz="1500" b="1" dirty="0">
                <a:solidFill>
                  <a:schemeClr val="tx1"/>
                </a:solidFill>
              </a:rPr>
              <a:t>확정 예약끼리만</a:t>
            </a:r>
            <a:endParaRPr lang="en-US" sz="1500" dirty="0"/>
          </a:p>
        </p:txBody>
      </p:sp>
      <p:sp>
        <p:nvSpPr>
          <p:cNvPr id="19" name="text-100"/>
          <p:cNvSpPr txBox="1"/>
          <p:nvPr/>
        </p:nvSpPr>
        <p:spPr>
          <a:xfrm>
            <a:off x="7863840" y="3392424"/>
            <a:ext cx="3749040" cy="411480"/>
          </a:xfrm>
          <a:prstGeom prst="rect">
            <a:avLst/>
          </a:prstGeom>
          <a:noFill/>
          <a:ln/>
        </p:spPr>
        <p:txBody>
          <a:bodyPr wrap="square" lIns="0" tIns="0" rIns="0" bIns="0" rtlCol="0" anchor="t"/>
          <a:lstStyle/>
          <a:p>
            <a:pPr indent="0" marL="0">
              <a:buNone/>
            </a:pPr>
            <a:r>
              <a:rPr lang="en-US" sz="1150" dirty="0">
                <a:solidFill>
                  <a:schemeClr val="tx2"/>
                </a:solidFill>
              </a:rPr>
              <a:t>취소된 예약은 검사에서 빠짐 → 취소하면 시간이 다시 열림</a:t>
            </a:r>
            <a:endParaRPr lang="en-US" sz="1150" dirty="0"/>
          </a:p>
        </p:txBody>
      </p:sp>
      <p:sp>
        <p:nvSpPr>
          <p:cNvPr id="20" name="card-101"/>
          <p:cNvSpPr/>
          <p:nvPr/>
        </p:nvSpPr>
        <p:spPr>
          <a:xfrm>
            <a:off x="548640" y="3977640"/>
            <a:ext cx="11064240" cy="1143000"/>
          </a:xfrm>
          <a:prstGeom prst="roundRect">
            <a:avLst>
              <a:gd name="adj" fmla="val 9600"/>
            </a:avLst>
          </a:prstGeom>
          <a:solidFill>
            <a:schemeClr val="accent5"/>
          </a:solidFill>
          <a:ln w="6350">
            <a:solidFill>
              <a:schemeClr val="accent5"/>
            </a:solidFill>
            <a:prstDash val="solid"/>
          </a:ln>
        </p:spPr>
      </p:sp>
      <p:sp>
        <p:nvSpPr>
          <p:cNvPr id="21" name="text-102"/>
          <p:cNvSpPr txBox="1"/>
          <p:nvPr/>
        </p:nvSpPr>
        <p:spPr>
          <a:xfrm>
            <a:off x="822960" y="3977640"/>
            <a:ext cx="10515600" cy="1143000"/>
          </a:xfrm>
          <a:prstGeom prst="rect">
            <a:avLst/>
          </a:prstGeom>
          <a:noFill/>
          <a:ln/>
        </p:spPr>
        <p:txBody>
          <a:bodyPr wrap="square" lIns="0" tIns="0" rIns="0" bIns="0" rtlCol="0" anchor="ctr"/>
          <a:lstStyle/>
          <a:p>
            <a:pPr algn="ctr" indent="0" marL="0">
              <a:buNone/>
            </a:pPr>
            <a:r>
              <a:rPr lang="en-US" sz="1600" b="1" dirty="0">
                <a:solidFill>
                  <a:schemeClr val="tx1"/>
                </a:solidFill>
              </a:rPr>
              <a:t>쉽게 말하면:  저장하는 순간 DB 가 "같은 방 + 겹치는 시간 + 확정" 인지 검사해서, 걸리면 저장을 거부한다.</a:t>
            </a:r>
            <a:endParaRPr lang="en-US" sz="1600" dirty="0"/>
          </a:p>
          <a:p>
            <a:pPr algn="ctr" indent="0" marL="0">
              <a:buNone/>
            </a:pPr>
            <a:r>
              <a:rPr lang="en-US" sz="1600" b="1" dirty="0">
                <a:solidFill>
                  <a:schemeClr val="tx1"/>
                </a:solidFill>
              </a:rPr>
              <a:t>동시에 두 요청이 들어와도 하나만 통과한다. 코드에서 미리 조회할 필요가 없다.</a:t>
            </a:r>
            <a:endParaRPr lang="en-US" sz="1600" dirty="0"/>
          </a:p>
        </p:txBody>
      </p:sp>
      <p:sp>
        <p:nvSpPr>
          <p:cNvPr id="22" name="text-103"/>
          <p:cNvSpPr txBox="1"/>
          <p:nvPr/>
        </p:nvSpPr>
        <p:spPr>
          <a:xfrm>
            <a:off x="548640" y="5303520"/>
            <a:ext cx="11064240" cy="685800"/>
          </a:xfrm>
          <a:prstGeom prst="rect">
            <a:avLst/>
          </a:prstGeom>
          <a:noFill/>
          <a:ln/>
        </p:spPr>
        <p:txBody>
          <a:bodyPr wrap="square" lIns="0" tIns="0" rIns="0" bIns="0" rtlCol="0" anchor="t"/>
          <a:lstStyle/>
          <a:p>
            <a:pPr indent="0" marL="0">
              <a:buNone/>
            </a:pPr>
            <a:r>
              <a:rPr lang="en-US" sz="1250" dirty="0">
                <a:solidFill>
                  <a:schemeClr val="tx2"/>
                </a:solidFill>
              </a:rPr>
              <a:t>같은 방식으로 DB 에 건 규칙:   한 사람이 같은 시간에 두 예약 금지 (EXCLUSION)  ·  최대 4시간 (CHECK)</a:t>
            </a:r>
            <a:endParaRPr lang="en-US" sz="1250" dirty="0"/>
          </a:p>
          <a:p>
            <a:pPr indent="0" marL="0">
              <a:buNone/>
            </a:pPr>
            <a:r>
              <a:rPr lang="en-US" sz="1250" dirty="0">
                <a:solidFill>
                  <a:schemeClr val="tx2"/>
                </a:solidFill>
              </a:rPr>
              <a:t>같은 사람 중복 참석 금지 (복합 키)  ·  본인 예약만 수정·취소 (RLS)</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② API 웹서버 구축</a:t>
            </a:r>
            <a:endParaRPr lang="en-US" sz="4000" dirty="0"/>
          </a:p>
        </p:txBody>
      </p:sp>
      <p:sp>
        <p:nvSpPr>
          <p:cNvPr id="4" name="card-104"/>
          <p:cNvSpPr/>
          <p:nvPr/>
        </p:nvSpPr>
        <p:spPr>
          <a:xfrm>
            <a:off x="822960" y="1463040"/>
            <a:ext cx="2194560" cy="457200"/>
          </a:xfrm>
          <a:prstGeom prst="roundRect">
            <a:avLst>
              <a:gd name="adj" fmla="val 24000"/>
            </a:avLst>
          </a:prstGeom>
          <a:solidFill>
            <a:schemeClr val="accent1"/>
          </a:solidFill>
          <a:ln w="6350">
            <a:solidFill>
              <a:schemeClr val="accent1"/>
            </a:solidFill>
            <a:prstDash val="solid"/>
          </a:ln>
        </p:spPr>
      </p:sp>
      <p:sp>
        <p:nvSpPr>
          <p:cNvPr id="5" name="text-105"/>
          <p:cNvSpPr txBox="1"/>
          <p:nvPr/>
        </p:nvSpPr>
        <p:spPr>
          <a:xfrm>
            <a:off x="822960" y="146304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 2분 30초</a:t>
            </a:r>
            <a:endParaRPr lang="en-US" sz="1400" dirty="0"/>
          </a:p>
        </p:txBody>
      </p:sp>
      <p:sp>
        <p:nvSpPr>
          <p:cNvPr id="6" name="text-106"/>
          <p:cNvSpPr txBox="1"/>
          <p:nvPr/>
        </p:nvSpPr>
        <p:spPr>
          <a:xfrm>
            <a:off x="822960" y="3611880"/>
            <a:ext cx="10515600" cy="548640"/>
          </a:xfrm>
          <a:prstGeom prst="rect">
            <a:avLst/>
          </a:prstGeom>
          <a:noFill/>
          <a:ln/>
        </p:spPr>
        <p:txBody>
          <a:bodyPr wrap="square" lIns="0" tIns="0" rIns="0" bIns="0" rtlCol="0" anchor="t"/>
          <a:lstStyle/>
          <a:p>
            <a:pPr indent="0" marL="0">
              <a:buNone/>
            </a:pPr>
            <a:r>
              <a:rPr lang="en-US" sz="2200" dirty="0">
                <a:solidFill>
                  <a:schemeClr val="bg2"/>
                </a:solidFill>
              </a:rPr>
              <a:t>Next.js Route Handler 로 API 11개 — 주소는 명사, 행동은 메서드</a:t>
            </a:r>
            <a:endParaRPr lang="en-US" sz="2200" dirty="0"/>
          </a:p>
        </p:txBody>
      </p:sp>
      <p:sp>
        <p:nvSpPr>
          <p:cNvPr id="7" name="card-107"/>
          <p:cNvSpPr/>
          <p:nvPr/>
        </p:nvSpPr>
        <p:spPr>
          <a:xfrm>
            <a:off x="822960" y="5669280"/>
            <a:ext cx="2560320" cy="457200"/>
          </a:xfrm>
          <a:prstGeom prst="roundRect">
            <a:avLst>
              <a:gd name="adj" fmla="val 24000"/>
            </a:avLst>
          </a:prstGeom>
          <a:solidFill>
            <a:schemeClr val="tx2"/>
          </a:solidFill>
          <a:ln w="6350">
            <a:solidFill>
              <a:schemeClr val="tx2"/>
            </a:solidFill>
            <a:prstDash val="solid"/>
          </a:ln>
        </p:spPr>
      </p:sp>
      <p:sp>
        <p:nvSpPr>
          <p:cNvPr id="8" name="text-108"/>
          <p:cNvSpPr txBox="1"/>
          <p:nvPr/>
        </p:nvSpPr>
        <p:spPr>
          <a:xfrm>
            <a:off x="822960" y="566928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① DB 모델링</a:t>
            </a:r>
            <a:endParaRPr lang="en-US" sz="1400" dirty="0"/>
          </a:p>
        </p:txBody>
      </p:sp>
      <p:sp>
        <p:nvSpPr>
          <p:cNvPr id="9" name="card-109"/>
          <p:cNvSpPr/>
          <p:nvPr/>
        </p:nvSpPr>
        <p:spPr>
          <a:xfrm>
            <a:off x="3566160" y="5669280"/>
            <a:ext cx="2560320" cy="457200"/>
          </a:xfrm>
          <a:prstGeom prst="roundRect">
            <a:avLst>
              <a:gd name="adj" fmla="val 24000"/>
            </a:avLst>
          </a:prstGeom>
          <a:solidFill>
            <a:schemeClr val="accent1"/>
          </a:solidFill>
          <a:ln w="6350">
            <a:solidFill>
              <a:schemeClr val="accent1"/>
            </a:solidFill>
            <a:prstDash val="solid"/>
          </a:ln>
        </p:spPr>
      </p:sp>
      <p:sp>
        <p:nvSpPr>
          <p:cNvPr id="10" name="text-110"/>
          <p:cNvSpPr txBox="1"/>
          <p:nvPr/>
        </p:nvSpPr>
        <p:spPr>
          <a:xfrm>
            <a:off x="3566160" y="5669280"/>
            <a:ext cx="2560320" cy="457200"/>
          </a:xfrm>
          <a:prstGeom prst="rect">
            <a:avLst/>
          </a:prstGeom>
          <a:noFill/>
          <a:ln/>
        </p:spPr>
        <p:txBody>
          <a:bodyPr wrap="square" lIns="0" tIns="0" rIns="0" bIns="0" rtlCol="0" anchor="ctr"/>
          <a:lstStyle/>
          <a:p>
            <a:pPr algn="ctr" indent="0" marL="0">
              <a:buNone/>
            </a:pPr>
            <a:r>
              <a:rPr lang="en-US" sz="1400" b="1" dirty="0">
                <a:solidFill>
                  <a:schemeClr val="bg1"/>
                </a:solidFill>
              </a:rPr>
              <a:t>② API 웹서버</a:t>
            </a:r>
            <a:endParaRPr lang="en-US" sz="1400" dirty="0"/>
          </a:p>
        </p:txBody>
      </p:sp>
      <p:sp>
        <p:nvSpPr>
          <p:cNvPr id="11" name="card-111"/>
          <p:cNvSpPr/>
          <p:nvPr/>
        </p:nvSpPr>
        <p:spPr>
          <a:xfrm>
            <a:off x="6309360" y="5669280"/>
            <a:ext cx="2560320" cy="457200"/>
          </a:xfrm>
          <a:prstGeom prst="roundRect">
            <a:avLst>
              <a:gd name="adj" fmla="val 24000"/>
            </a:avLst>
          </a:prstGeom>
          <a:solidFill>
            <a:schemeClr val="tx2"/>
          </a:solidFill>
          <a:ln w="6350">
            <a:solidFill>
              <a:schemeClr val="tx2"/>
            </a:solidFill>
            <a:prstDash val="solid"/>
          </a:ln>
        </p:spPr>
      </p:sp>
      <p:sp>
        <p:nvSpPr>
          <p:cNvPr id="12" name="text-112"/>
          <p:cNvSpPr txBox="1"/>
          <p:nvPr/>
        </p:nvSpPr>
        <p:spPr>
          <a:xfrm>
            <a:off x="6309360" y="566928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③ 회원가입</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API 목록과 주소 설계</a:t>
            </a:r>
            <a:endParaRPr lang="en-US" sz="3000" dirty="0"/>
          </a:p>
        </p:txBody>
      </p:sp>
      <p:sp>
        <p:nvSpPr>
          <p:cNvPr id="4" name="card-113"/>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114"/>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1:00</a:t>
            </a:r>
            <a:endParaRPr lang="en-US" sz="1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7223760" cy="914400"/>
        </p:xfrm>
        <a:graphic>
          <a:graphicData uri="http://schemas.openxmlformats.org/drawingml/2006/table">
            <a:tbl>
              <a:tblPr/>
              <a:tblGrid>
                <a:gridCol w="868680"/>
                <a:gridCol w="2834640"/>
                <a:gridCol w="1965960"/>
                <a:gridCol w="640080"/>
                <a:gridCol w="914400"/>
              </a:tblGrid>
              <a:tr h="457200">
                <a:tc>
                  <a:txBody>
                    <a:bodyPr/>
                    <a:lstStyle/>
                    <a:p>
                      <a:pPr indent="0" marL="0">
                        <a:buNone/>
                      </a:pPr>
                      <a:r>
                        <a:rPr lang="en-US" sz="1250" b="1" dirty="0">
                          <a:solidFill>
                            <a:schemeClr val="bg1"/>
                          </a:solidFill>
                        </a:rPr>
                        <a:t>메서드</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주소</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하는 일</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성공</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실패</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r>
              <a:tr h="457200">
                <a:tc>
                  <a:txBody>
                    <a:bodyPr/>
                    <a:lstStyle/>
                    <a:p>
                      <a:pPr indent="0" marL="0">
                        <a:buNone/>
                      </a:pPr>
                      <a:r>
                        <a:rPr lang="en-US" sz="1250" dirty="0">
                          <a:solidFill>
                            <a:schemeClr val="tx1"/>
                          </a:solidFill>
                        </a:rPr>
                        <a:t>POST</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/api/auth/signup</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회원가입</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201</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400</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dirty="0">
                          <a:solidFill>
                            <a:schemeClr val="tx1"/>
                          </a:solidFill>
                        </a:rPr>
                        <a:t>POST</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/api/auth/login</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로그인</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200</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401</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dirty="0">
                          <a:solidFill>
                            <a:schemeClr val="tx1"/>
                          </a:solidFill>
                        </a:rPr>
                        <a:t>GET</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/api/rooms</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회의실 목록</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200</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500</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dirty="0">
                          <a:solidFill>
                            <a:schemeClr val="tx1"/>
                          </a:solidFill>
                        </a:rPr>
                        <a:t>GET</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/api/reservations</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예약 목록</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200</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500</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POST</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b="1" dirty="0">
                          <a:solidFill>
                            <a:schemeClr val="tx1"/>
                          </a:solidFill>
                        </a:rPr>
                        <a:t>/api/reservations</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b="1" dirty="0">
                          <a:solidFill>
                            <a:schemeClr val="tx1"/>
                          </a:solidFill>
                        </a:rPr>
                        <a:t>예약 생성</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b="1" dirty="0">
                          <a:solidFill>
                            <a:schemeClr val="tx1"/>
                          </a:solidFill>
                        </a:rPr>
                        <a:t>201</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b="1" dirty="0">
                          <a:solidFill>
                            <a:schemeClr val="accent4"/>
                          </a:solidFill>
                        </a:rPr>
                        <a:t>409</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dirty="0">
                          <a:solidFill>
                            <a:schemeClr val="tx1"/>
                          </a:solidFill>
                        </a:rPr>
                        <a:t>DELETE</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/api/reservations/:id</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예약 취소</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200</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401</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dirty="0">
                          <a:solidFill>
                            <a:schemeClr val="tx1"/>
                          </a:solidFill>
                        </a:rPr>
                        <a:t>POST</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/api/reservations/:id/participants</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참석자 추가</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201</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50" dirty="0">
                          <a:solidFill>
                            <a:schemeClr val="tx1"/>
                          </a:solidFill>
                        </a:rPr>
                        <a:t>403·409</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bl>
          </a:graphicData>
        </a:graphic>
      </p:graphicFrame>
      <p:sp>
        <p:nvSpPr>
          <p:cNvPr id="7" name="text-115"/>
          <p:cNvSpPr txBox="1"/>
          <p:nvPr/>
        </p:nvSpPr>
        <p:spPr>
          <a:xfrm>
            <a:off x="548640" y="5257800"/>
            <a:ext cx="7223760" cy="36576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app/api/reservations/route.ts  →  /api/reservations   (파일 위치가 곧 주소)</a:t>
            </a:r>
            <a:endParaRPr lang="en-US" sz="1200" dirty="0"/>
          </a:p>
        </p:txBody>
      </p:sp>
      <p:sp>
        <p:nvSpPr>
          <p:cNvPr id="8" name="text-116"/>
          <p:cNvSpPr txBox="1"/>
          <p:nvPr/>
        </p:nvSpPr>
        <p:spPr>
          <a:xfrm>
            <a:off x="8138160" y="1325880"/>
            <a:ext cx="3474720" cy="411480"/>
          </a:xfrm>
          <a:prstGeom prst="rect">
            <a:avLst/>
          </a:prstGeom>
          <a:noFill/>
          <a:ln/>
        </p:spPr>
        <p:txBody>
          <a:bodyPr wrap="square" lIns="0" tIns="0" rIns="0" bIns="0" rtlCol="0" anchor="t"/>
          <a:lstStyle/>
          <a:p>
            <a:pPr indent="0" marL="0">
              <a:buNone/>
            </a:pPr>
            <a:r>
              <a:rPr lang="en-US" sz="1800" b="1" dirty="0">
                <a:solidFill>
                  <a:schemeClr val="tx1"/>
                </a:solidFill>
              </a:rPr>
              <a:t>주소 설계 원칙</a:t>
            </a:r>
            <a:endParaRPr lang="en-US" sz="1800" dirty="0"/>
          </a:p>
        </p:txBody>
      </p:sp>
      <p:sp>
        <p:nvSpPr>
          <p:cNvPr id="9" name="circle-117"/>
          <p:cNvSpPr/>
          <p:nvPr/>
        </p:nvSpPr>
        <p:spPr>
          <a:xfrm>
            <a:off x="8138160" y="1874520"/>
            <a:ext cx="411480" cy="411480"/>
          </a:xfrm>
          <a:prstGeom prst="ellipse">
            <a:avLst/>
          </a:prstGeom>
          <a:solidFill>
            <a:schemeClr val="accent1"/>
          </a:solidFill>
          <a:ln w="6350">
            <a:solidFill>
              <a:schemeClr val="accent1"/>
            </a:solidFill>
            <a:prstDash val="solid"/>
          </a:ln>
        </p:spPr>
      </p:sp>
      <p:sp>
        <p:nvSpPr>
          <p:cNvPr id="10" name="text-118"/>
          <p:cNvSpPr txBox="1"/>
          <p:nvPr/>
        </p:nvSpPr>
        <p:spPr>
          <a:xfrm>
            <a:off x="8138160" y="187452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119"/>
          <p:cNvSpPr txBox="1"/>
          <p:nvPr/>
        </p:nvSpPr>
        <p:spPr>
          <a:xfrm>
            <a:off x="8686800" y="1828800"/>
            <a:ext cx="2926080" cy="320040"/>
          </a:xfrm>
          <a:prstGeom prst="rect">
            <a:avLst/>
          </a:prstGeom>
          <a:noFill/>
          <a:ln/>
        </p:spPr>
        <p:txBody>
          <a:bodyPr wrap="square" lIns="0" tIns="0" rIns="0" bIns="0" rtlCol="0" anchor="t"/>
          <a:lstStyle/>
          <a:p>
            <a:pPr indent="0" marL="0">
              <a:buNone/>
            </a:pPr>
            <a:r>
              <a:rPr lang="en-US" sz="1400" b="1" dirty="0">
                <a:solidFill>
                  <a:schemeClr val="tx1"/>
                </a:solidFill>
              </a:rPr>
              <a:t>주소 = 자원 이름</a:t>
            </a:r>
            <a:endParaRPr lang="en-US" sz="1400" dirty="0"/>
          </a:p>
        </p:txBody>
      </p:sp>
      <p:sp>
        <p:nvSpPr>
          <p:cNvPr id="12" name="text-120"/>
          <p:cNvSpPr txBox="1"/>
          <p:nvPr/>
        </p:nvSpPr>
        <p:spPr>
          <a:xfrm>
            <a:off x="8686800" y="2157984"/>
            <a:ext cx="2926080" cy="502920"/>
          </a:xfrm>
          <a:prstGeom prst="rect">
            <a:avLst/>
          </a:prstGeom>
          <a:noFill/>
          <a:ln/>
        </p:spPr>
        <p:txBody>
          <a:bodyPr wrap="square" lIns="0" tIns="0" rIns="0" bIns="0" rtlCol="0" anchor="t"/>
          <a:lstStyle/>
          <a:p>
            <a:pPr indent="0" marL="0">
              <a:buNone/>
            </a:pPr>
            <a:r>
              <a:rPr lang="en-US" sz="1150" dirty="0">
                <a:solidFill>
                  <a:schemeClr val="tx2"/>
                </a:solidFill>
              </a:rPr>
              <a:t>rooms, reservations 처럼 명사</a:t>
            </a:r>
            <a:endParaRPr lang="en-US" sz="1150" dirty="0"/>
          </a:p>
        </p:txBody>
      </p:sp>
      <p:sp>
        <p:nvSpPr>
          <p:cNvPr id="13" name="circle-121"/>
          <p:cNvSpPr/>
          <p:nvPr/>
        </p:nvSpPr>
        <p:spPr>
          <a:xfrm>
            <a:off x="8138160" y="2834640"/>
            <a:ext cx="411480" cy="411480"/>
          </a:xfrm>
          <a:prstGeom prst="ellipse">
            <a:avLst/>
          </a:prstGeom>
          <a:solidFill>
            <a:schemeClr val="accent1"/>
          </a:solidFill>
          <a:ln w="6350">
            <a:solidFill>
              <a:schemeClr val="accent1"/>
            </a:solidFill>
            <a:prstDash val="solid"/>
          </a:ln>
        </p:spPr>
      </p:sp>
      <p:sp>
        <p:nvSpPr>
          <p:cNvPr id="14" name="text-122"/>
          <p:cNvSpPr txBox="1"/>
          <p:nvPr/>
        </p:nvSpPr>
        <p:spPr>
          <a:xfrm>
            <a:off x="8138160" y="283464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123"/>
          <p:cNvSpPr txBox="1"/>
          <p:nvPr/>
        </p:nvSpPr>
        <p:spPr>
          <a:xfrm>
            <a:off x="8686800" y="2788920"/>
            <a:ext cx="2926080" cy="320040"/>
          </a:xfrm>
          <a:prstGeom prst="rect">
            <a:avLst/>
          </a:prstGeom>
          <a:noFill/>
          <a:ln/>
        </p:spPr>
        <p:txBody>
          <a:bodyPr wrap="square" lIns="0" tIns="0" rIns="0" bIns="0" rtlCol="0" anchor="t"/>
          <a:lstStyle/>
          <a:p>
            <a:pPr indent="0" marL="0">
              <a:buNone/>
            </a:pPr>
            <a:r>
              <a:rPr lang="en-US" sz="1400" b="1" dirty="0">
                <a:solidFill>
                  <a:schemeClr val="tx1"/>
                </a:solidFill>
              </a:rPr>
              <a:t>행동 = HTTP 메서드</a:t>
            </a:r>
            <a:endParaRPr lang="en-US" sz="1400" dirty="0"/>
          </a:p>
        </p:txBody>
      </p:sp>
      <p:sp>
        <p:nvSpPr>
          <p:cNvPr id="16" name="text-124"/>
          <p:cNvSpPr txBox="1"/>
          <p:nvPr/>
        </p:nvSpPr>
        <p:spPr>
          <a:xfrm>
            <a:off x="8686800" y="3118104"/>
            <a:ext cx="2926080" cy="502920"/>
          </a:xfrm>
          <a:prstGeom prst="rect">
            <a:avLst/>
          </a:prstGeom>
          <a:noFill/>
          <a:ln/>
        </p:spPr>
        <p:txBody>
          <a:bodyPr wrap="square" lIns="0" tIns="0" rIns="0" bIns="0" rtlCol="0" anchor="t"/>
          <a:lstStyle/>
          <a:p>
            <a:pPr indent="0" marL="0">
              <a:buNone/>
            </a:pPr>
            <a:r>
              <a:rPr lang="en-US" sz="1150" dirty="0">
                <a:solidFill>
                  <a:schemeClr val="tx2"/>
                </a:solidFill>
              </a:rPr>
              <a:t>GET 조회 · POST 생성 · DELETE 취소</a:t>
            </a:r>
            <a:endParaRPr lang="en-US" sz="1150" dirty="0"/>
          </a:p>
        </p:txBody>
      </p:sp>
      <p:sp>
        <p:nvSpPr>
          <p:cNvPr id="17" name="circle-125"/>
          <p:cNvSpPr/>
          <p:nvPr/>
        </p:nvSpPr>
        <p:spPr>
          <a:xfrm>
            <a:off x="8138160" y="3794760"/>
            <a:ext cx="411480" cy="411480"/>
          </a:xfrm>
          <a:prstGeom prst="ellipse">
            <a:avLst/>
          </a:prstGeom>
          <a:solidFill>
            <a:schemeClr val="accent1"/>
          </a:solidFill>
          <a:ln w="6350">
            <a:solidFill>
              <a:schemeClr val="accent1"/>
            </a:solidFill>
            <a:prstDash val="solid"/>
          </a:ln>
        </p:spPr>
      </p:sp>
      <p:sp>
        <p:nvSpPr>
          <p:cNvPr id="18" name="text-126"/>
          <p:cNvSpPr txBox="1"/>
          <p:nvPr/>
        </p:nvSpPr>
        <p:spPr>
          <a:xfrm>
            <a:off x="8138160" y="379476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127"/>
          <p:cNvSpPr txBox="1"/>
          <p:nvPr/>
        </p:nvSpPr>
        <p:spPr>
          <a:xfrm>
            <a:off x="8686800" y="3749040"/>
            <a:ext cx="2926080" cy="320040"/>
          </a:xfrm>
          <a:prstGeom prst="rect">
            <a:avLst/>
          </a:prstGeom>
          <a:noFill/>
          <a:ln/>
        </p:spPr>
        <p:txBody>
          <a:bodyPr wrap="square" lIns="0" tIns="0" rIns="0" bIns="0" rtlCol="0" anchor="t"/>
          <a:lstStyle/>
          <a:p>
            <a:pPr indent="0" marL="0">
              <a:buNone/>
            </a:pPr>
            <a:r>
              <a:rPr lang="en-US" sz="1400" b="1" dirty="0">
                <a:solidFill>
                  <a:schemeClr val="tx1"/>
                </a:solidFill>
              </a:rPr>
              <a:t>속한 것은 아래에</a:t>
            </a:r>
            <a:endParaRPr lang="en-US" sz="1400" dirty="0"/>
          </a:p>
        </p:txBody>
      </p:sp>
      <p:sp>
        <p:nvSpPr>
          <p:cNvPr id="20" name="text-128"/>
          <p:cNvSpPr txBox="1"/>
          <p:nvPr/>
        </p:nvSpPr>
        <p:spPr>
          <a:xfrm>
            <a:off x="8686800" y="4078224"/>
            <a:ext cx="2926080" cy="502920"/>
          </a:xfrm>
          <a:prstGeom prst="rect">
            <a:avLst/>
          </a:prstGeom>
          <a:noFill/>
          <a:ln/>
        </p:spPr>
        <p:txBody>
          <a:bodyPr wrap="square" lIns="0" tIns="0" rIns="0" bIns="0" rtlCol="0" anchor="t"/>
          <a:lstStyle/>
          <a:p>
            <a:pPr indent="0" marL="0">
              <a:buNone/>
            </a:pPr>
            <a:r>
              <a:rPr lang="en-US" sz="1150" dirty="0">
                <a:solidFill>
                  <a:schemeClr val="tx2"/>
                </a:solidFill>
              </a:rPr>
              <a:t>예약의 참석자 → reservations/:id/participants</a:t>
            </a:r>
            <a:endParaRPr lang="en-US" sz="1150" dirty="0"/>
          </a:p>
        </p:txBody>
      </p:sp>
      <p:sp>
        <p:nvSpPr>
          <p:cNvPr id="21" name="circle-129"/>
          <p:cNvSpPr/>
          <p:nvPr/>
        </p:nvSpPr>
        <p:spPr>
          <a:xfrm>
            <a:off x="8138160" y="4754880"/>
            <a:ext cx="411480" cy="411480"/>
          </a:xfrm>
          <a:prstGeom prst="ellipse">
            <a:avLst/>
          </a:prstGeom>
          <a:solidFill>
            <a:schemeClr val="accent1"/>
          </a:solidFill>
          <a:ln w="6350">
            <a:solidFill>
              <a:schemeClr val="accent1"/>
            </a:solidFill>
            <a:prstDash val="solid"/>
          </a:ln>
        </p:spPr>
      </p:sp>
      <p:sp>
        <p:nvSpPr>
          <p:cNvPr id="22" name="text-130"/>
          <p:cNvSpPr txBox="1"/>
          <p:nvPr/>
        </p:nvSpPr>
        <p:spPr>
          <a:xfrm>
            <a:off x="8138160" y="475488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3" name="text-131"/>
          <p:cNvSpPr txBox="1"/>
          <p:nvPr/>
        </p:nvSpPr>
        <p:spPr>
          <a:xfrm>
            <a:off x="8686800" y="4709160"/>
            <a:ext cx="2926080" cy="320040"/>
          </a:xfrm>
          <a:prstGeom prst="rect">
            <a:avLst/>
          </a:prstGeom>
          <a:noFill/>
          <a:ln/>
        </p:spPr>
        <p:txBody>
          <a:bodyPr wrap="square" lIns="0" tIns="0" rIns="0" bIns="0" rtlCol="0" anchor="t"/>
          <a:lstStyle/>
          <a:p>
            <a:pPr indent="0" marL="0">
              <a:buNone/>
            </a:pPr>
            <a:r>
              <a:rPr lang="en-US" sz="1400" b="1" dirty="0">
                <a:solidFill>
                  <a:schemeClr val="tx1"/>
                </a:solidFill>
              </a:rPr>
              <a:t>결과 = 상태 코드</a:t>
            </a:r>
            <a:endParaRPr lang="en-US" sz="1400" dirty="0"/>
          </a:p>
        </p:txBody>
      </p:sp>
      <p:sp>
        <p:nvSpPr>
          <p:cNvPr id="24" name="text-132"/>
          <p:cNvSpPr txBox="1"/>
          <p:nvPr/>
        </p:nvSpPr>
        <p:spPr>
          <a:xfrm>
            <a:off x="8686800" y="5038344"/>
            <a:ext cx="2926080" cy="502920"/>
          </a:xfrm>
          <a:prstGeom prst="rect">
            <a:avLst/>
          </a:prstGeom>
          <a:noFill/>
          <a:ln/>
        </p:spPr>
        <p:txBody>
          <a:bodyPr wrap="square" lIns="0" tIns="0" rIns="0" bIns="0" rtlCol="0" anchor="t"/>
          <a:lstStyle/>
          <a:p>
            <a:pPr indent="0" marL="0">
              <a:buNone/>
            </a:pPr>
            <a:r>
              <a:rPr lang="en-US" sz="1150" dirty="0">
                <a:solidFill>
                  <a:schemeClr val="tx2"/>
                </a:solidFill>
              </a:rPr>
              <a:t>201 만들어짐 · 401 로그인 필요 · 409 겹침</a:t>
            </a:r>
            <a:endParaRPr lang="en-US" sz="11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예약 생성 API — 4단계</a:t>
            </a:r>
            <a:endParaRPr lang="en-US" sz="3000" dirty="0"/>
          </a:p>
        </p:txBody>
      </p:sp>
      <p:sp>
        <p:nvSpPr>
          <p:cNvPr id="4" name="card-133"/>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134"/>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1:30</a:t>
            </a:r>
            <a:endParaRPr lang="en-US" sz="1200" dirty="0"/>
          </a:p>
        </p:txBody>
      </p:sp>
      <p:sp>
        <p:nvSpPr>
          <p:cNvPr id="6" name="card-135"/>
          <p:cNvSpPr/>
          <p:nvPr/>
        </p:nvSpPr>
        <p:spPr>
          <a:xfrm>
            <a:off x="548640" y="1371600"/>
            <a:ext cx="7040880" cy="868680"/>
          </a:xfrm>
          <a:prstGeom prst="roundRect">
            <a:avLst>
              <a:gd name="adj" fmla="val 12632"/>
            </a:avLst>
          </a:prstGeom>
          <a:solidFill>
            <a:schemeClr val="bg2"/>
          </a:solidFill>
          <a:ln w="6350">
            <a:solidFill>
              <a:schemeClr val="bg2"/>
            </a:solidFill>
            <a:prstDash val="solid"/>
          </a:ln>
        </p:spPr>
      </p:sp>
      <p:sp>
        <p:nvSpPr>
          <p:cNvPr id="7" name="circle-136"/>
          <p:cNvSpPr/>
          <p:nvPr/>
        </p:nvSpPr>
        <p:spPr>
          <a:xfrm>
            <a:off x="777240" y="1572768"/>
            <a:ext cx="457200" cy="457200"/>
          </a:xfrm>
          <a:prstGeom prst="ellipse">
            <a:avLst/>
          </a:prstGeom>
          <a:solidFill>
            <a:schemeClr val="accent1"/>
          </a:solidFill>
          <a:ln w="6350">
            <a:solidFill>
              <a:schemeClr val="accent1"/>
            </a:solidFill>
            <a:prstDash val="solid"/>
          </a:ln>
        </p:spPr>
      </p:sp>
      <p:sp>
        <p:nvSpPr>
          <p:cNvPr id="8" name="text-137"/>
          <p:cNvSpPr txBox="1"/>
          <p:nvPr/>
        </p:nvSpPr>
        <p:spPr>
          <a:xfrm>
            <a:off x="777240" y="157276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138"/>
          <p:cNvSpPr txBox="1"/>
          <p:nvPr/>
        </p:nvSpPr>
        <p:spPr>
          <a:xfrm>
            <a:off x="1417320" y="1444752"/>
            <a:ext cx="5943600" cy="320040"/>
          </a:xfrm>
          <a:prstGeom prst="rect">
            <a:avLst/>
          </a:prstGeom>
          <a:noFill/>
          <a:ln/>
        </p:spPr>
        <p:txBody>
          <a:bodyPr wrap="square" lIns="0" tIns="0" rIns="0" bIns="0" rtlCol="0" anchor="t"/>
          <a:lstStyle/>
          <a:p>
            <a:pPr indent="0" marL="0">
              <a:buNone/>
            </a:pPr>
            <a:r>
              <a:rPr lang="en-US" sz="1500" b="1" dirty="0">
                <a:solidFill>
                  <a:schemeClr val="tx1"/>
                </a:solidFill>
              </a:rPr>
              <a:t>로그인 확인</a:t>
            </a:r>
            <a:endParaRPr lang="en-US" sz="1500" dirty="0"/>
          </a:p>
        </p:txBody>
      </p:sp>
      <p:sp>
        <p:nvSpPr>
          <p:cNvPr id="10" name="text-139"/>
          <p:cNvSpPr txBox="1"/>
          <p:nvPr/>
        </p:nvSpPr>
        <p:spPr>
          <a:xfrm>
            <a:off x="1417320" y="1755648"/>
            <a:ext cx="6035040" cy="457200"/>
          </a:xfrm>
          <a:prstGeom prst="rect">
            <a:avLst/>
          </a:prstGeom>
          <a:noFill/>
          <a:ln/>
        </p:spPr>
        <p:txBody>
          <a:bodyPr wrap="square" lIns="0" tIns="0" rIns="0" bIns="0" rtlCol="0" anchor="t"/>
          <a:lstStyle/>
          <a:p>
            <a:pPr indent="0" marL="0">
              <a:buNone/>
            </a:pPr>
            <a:r>
              <a:rPr lang="en-US" sz="1150" dirty="0">
                <a:solidFill>
                  <a:schemeClr val="tx2"/>
                </a:solidFill>
              </a:rPr>
              <a:t>세션 쿠키로 '누구인지' 확인. 없으면 401.</a:t>
            </a:r>
            <a:endParaRPr lang="en-US" sz="1150" dirty="0"/>
          </a:p>
          <a:p>
            <a:pPr indent="0" marL="0">
              <a:buNone/>
            </a:pPr>
            <a:r>
              <a:rPr lang="en-US" sz="1150" dirty="0">
                <a:solidFill>
                  <a:schemeClr val="tx2"/>
                </a:solidFill>
              </a:rPr>
              <a:t>예약자 ID 는 본문이 아니라 세션에서 → 남의 이름으로 예약 불가</a:t>
            </a:r>
            <a:endParaRPr lang="en-US" sz="1150" dirty="0"/>
          </a:p>
        </p:txBody>
      </p:sp>
      <p:sp>
        <p:nvSpPr>
          <p:cNvPr id="11" name="card-140"/>
          <p:cNvSpPr/>
          <p:nvPr/>
        </p:nvSpPr>
        <p:spPr>
          <a:xfrm>
            <a:off x="548640" y="2359152"/>
            <a:ext cx="7040880" cy="868680"/>
          </a:xfrm>
          <a:prstGeom prst="roundRect">
            <a:avLst>
              <a:gd name="adj" fmla="val 12632"/>
            </a:avLst>
          </a:prstGeom>
          <a:solidFill>
            <a:schemeClr val="bg2"/>
          </a:solidFill>
          <a:ln w="6350">
            <a:solidFill>
              <a:schemeClr val="bg2"/>
            </a:solidFill>
            <a:prstDash val="solid"/>
          </a:ln>
        </p:spPr>
      </p:sp>
      <p:sp>
        <p:nvSpPr>
          <p:cNvPr id="12" name="circle-141"/>
          <p:cNvSpPr/>
          <p:nvPr/>
        </p:nvSpPr>
        <p:spPr>
          <a:xfrm>
            <a:off x="777240" y="2560320"/>
            <a:ext cx="457200" cy="457200"/>
          </a:xfrm>
          <a:prstGeom prst="ellipse">
            <a:avLst/>
          </a:prstGeom>
          <a:solidFill>
            <a:schemeClr val="accent1"/>
          </a:solidFill>
          <a:ln w="6350">
            <a:solidFill>
              <a:schemeClr val="accent1"/>
            </a:solidFill>
            <a:prstDash val="solid"/>
          </a:ln>
        </p:spPr>
      </p:sp>
      <p:sp>
        <p:nvSpPr>
          <p:cNvPr id="13" name="text-142"/>
          <p:cNvSpPr txBox="1"/>
          <p:nvPr/>
        </p:nvSpPr>
        <p:spPr>
          <a:xfrm>
            <a:off x="777240" y="25603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143"/>
          <p:cNvSpPr txBox="1"/>
          <p:nvPr/>
        </p:nvSpPr>
        <p:spPr>
          <a:xfrm>
            <a:off x="1417320" y="2432304"/>
            <a:ext cx="5943600" cy="320040"/>
          </a:xfrm>
          <a:prstGeom prst="rect">
            <a:avLst/>
          </a:prstGeom>
          <a:noFill/>
          <a:ln/>
        </p:spPr>
        <p:txBody>
          <a:bodyPr wrap="square" lIns="0" tIns="0" rIns="0" bIns="0" rtlCol="0" anchor="t"/>
          <a:lstStyle/>
          <a:p>
            <a:pPr indent="0" marL="0">
              <a:buNone/>
            </a:pPr>
            <a:r>
              <a:rPr lang="en-US" sz="1500" b="1" dirty="0">
                <a:solidFill>
                  <a:schemeClr val="tx1"/>
                </a:solidFill>
              </a:rPr>
              <a:t>입력 검증</a:t>
            </a:r>
            <a:endParaRPr lang="en-US" sz="1500" dirty="0"/>
          </a:p>
        </p:txBody>
      </p:sp>
      <p:sp>
        <p:nvSpPr>
          <p:cNvPr id="15" name="text-144"/>
          <p:cNvSpPr txBox="1"/>
          <p:nvPr/>
        </p:nvSpPr>
        <p:spPr>
          <a:xfrm>
            <a:off x="1417320" y="2743200"/>
            <a:ext cx="6035040" cy="457200"/>
          </a:xfrm>
          <a:prstGeom prst="rect">
            <a:avLst/>
          </a:prstGeom>
          <a:noFill/>
          <a:ln/>
        </p:spPr>
        <p:txBody>
          <a:bodyPr wrap="square" lIns="0" tIns="0" rIns="0" bIns="0" rtlCol="0" anchor="t"/>
          <a:lstStyle/>
          <a:p>
            <a:pPr indent="0" marL="0">
              <a:buNone/>
            </a:pPr>
            <a:r>
              <a:rPr lang="en-US" sz="1150" dirty="0">
                <a:solidFill>
                  <a:schemeClr val="tx2"/>
                </a:solidFill>
              </a:rPr>
              <a:t>필수값 · 시작 &lt; 종료 · 4시간 이내. 틀리면 400.</a:t>
            </a:r>
            <a:endParaRPr lang="en-US" sz="1150" dirty="0"/>
          </a:p>
          <a:p>
            <a:pPr indent="0" marL="0">
              <a:buNone/>
            </a:pPr>
            <a:r>
              <a:rPr lang="en-US" sz="1150" dirty="0">
                <a:solidFill>
                  <a:schemeClr val="tx2"/>
                </a:solidFill>
              </a:rPr>
              <a:t>(DB 에도 같은 제약이 있지만, 친절한 메시지를 주려고 먼저 거름)</a:t>
            </a:r>
            <a:endParaRPr lang="en-US" sz="1150" dirty="0"/>
          </a:p>
        </p:txBody>
      </p:sp>
      <p:sp>
        <p:nvSpPr>
          <p:cNvPr id="16" name="card-145"/>
          <p:cNvSpPr/>
          <p:nvPr/>
        </p:nvSpPr>
        <p:spPr>
          <a:xfrm>
            <a:off x="548640" y="3346704"/>
            <a:ext cx="7040880" cy="868680"/>
          </a:xfrm>
          <a:prstGeom prst="roundRect">
            <a:avLst>
              <a:gd name="adj" fmla="val 12632"/>
            </a:avLst>
          </a:prstGeom>
          <a:solidFill>
            <a:schemeClr val="bg2"/>
          </a:solidFill>
          <a:ln w="6350">
            <a:solidFill>
              <a:schemeClr val="bg2"/>
            </a:solidFill>
            <a:prstDash val="solid"/>
          </a:ln>
        </p:spPr>
      </p:sp>
      <p:sp>
        <p:nvSpPr>
          <p:cNvPr id="17" name="circle-146"/>
          <p:cNvSpPr/>
          <p:nvPr/>
        </p:nvSpPr>
        <p:spPr>
          <a:xfrm>
            <a:off x="777240" y="3547872"/>
            <a:ext cx="457200" cy="457200"/>
          </a:xfrm>
          <a:prstGeom prst="ellipse">
            <a:avLst/>
          </a:prstGeom>
          <a:solidFill>
            <a:schemeClr val="accent2"/>
          </a:solidFill>
          <a:ln w="6350">
            <a:solidFill>
              <a:schemeClr val="accent2"/>
            </a:solidFill>
            <a:prstDash val="solid"/>
          </a:ln>
        </p:spPr>
      </p:sp>
      <p:sp>
        <p:nvSpPr>
          <p:cNvPr id="18" name="text-147"/>
          <p:cNvSpPr txBox="1"/>
          <p:nvPr/>
        </p:nvSpPr>
        <p:spPr>
          <a:xfrm>
            <a:off x="777240" y="354787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148"/>
          <p:cNvSpPr txBox="1"/>
          <p:nvPr/>
        </p:nvSpPr>
        <p:spPr>
          <a:xfrm>
            <a:off x="1417320" y="3419856"/>
            <a:ext cx="5943600" cy="320040"/>
          </a:xfrm>
          <a:prstGeom prst="rect">
            <a:avLst/>
          </a:prstGeom>
          <a:noFill/>
          <a:ln/>
        </p:spPr>
        <p:txBody>
          <a:bodyPr wrap="square" lIns="0" tIns="0" rIns="0" bIns="0" rtlCol="0" anchor="t"/>
          <a:lstStyle/>
          <a:p>
            <a:pPr indent="0" marL="0">
              <a:buNone/>
            </a:pPr>
            <a:r>
              <a:rPr lang="en-US" sz="1500" b="1" dirty="0">
                <a:solidFill>
                  <a:schemeClr val="tx1"/>
                </a:solidFill>
              </a:rPr>
              <a:t>바로 INSERT</a:t>
            </a:r>
            <a:endParaRPr lang="en-US" sz="1500" dirty="0"/>
          </a:p>
        </p:txBody>
      </p:sp>
      <p:sp>
        <p:nvSpPr>
          <p:cNvPr id="20" name="text-149"/>
          <p:cNvSpPr txBox="1"/>
          <p:nvPr/>
        </p:nvSpPr>
        <p:spPr>
          <a:xfrm>
            <a:off x="1417320" y="3730752"/>
            <a:ext cx="6035040" cy="457200"/>
          </a:xfrm>
          <a:prstGeom prst="rect">
            <a:avLst/>
          </a:prstGeom>
          <a:noFill/>
          <a:ln/>
        </p:spPr>
        <p:txBody>
          <a:bodyPr wrap="square" lIns="0" tIns="0" rIns="0" bIns="0" rtlCol="0" anchor="t"/>
          <a:lstStyle/>
          <a:p>
            <a:pPr indent="0" marL="0">
              <a:buNone/>
            </a:pPr>
            <a:r>
              <a:rPr lang="en-US" sz="1150" dirty="0">
                <a:solidFill>
                  <a:schemeClr val="tx2"/>
                </a:solidFill>
              </a:rPr>
              <a:t>겹치는지 미리 조회하지 않는다 — 조회와 저장 사이에 틈이 생기므로</a:t>
            </a:r>
            <a:endParaRPr lang="en-US" sz="1150" dirty="0"/>
          </a:p>
        </p:txBody>
      </p:sp>
      <p:sp>
        <p:nvSpPr>
          <p:cNvPr id="21" name="card-150"/>
          <p:cNvSpPr/>
          <p:nvPr/>
        </p:nvSpPr>
        <p:spPr>
          <a:xfrm>
            <a:off x="548640" y="4334256"/>
            <a:ext cx="7040880" cy="868680"/>
          </a:xfrm>
          <a:prstGeom prst="roundRect">
            <a:avLst>
              <a:gd name="adj" fmla="val 12632"/>
            </a:avLst>
          </a:prstGeom>
          <a:solidFill>
            <a:schemeClr val="bg2"/>
          </a:solidFill>
          <a:ln w="6350">
            <a:solidFill>
              <a:schemeClr val="bg2"/>
            </a:solidFill>
            <a:prstDash val="solid"/>
          </a:ln>
        </p:spPr>
      </p:sp>
      <p:sp>
        <p:nvSpPr>
          <p:cNvPr id="22" name="circle-151"/>
          <p:cNvSpPr/>
          <p:nvPr/>
        </p:nvSpPr>
        <p:spPr>
          <a:xfrm>
            <a:off x="777240" y="4535424"/>
            <a:ext cx="457200" cy="457200"/>
          </a:xfrm>
          <a:prstGeom prst="ellipse">
            <a:avLst/>
          </a:prstGeom>
          <a:solidFill>
            <a:schemeClr val="accent1"/>
          </a:solidFill>
          <a:ln w="6350">
            <a:solidFill>
              <a:schemeClr val="accent1"/>
            </a:solidFill>
            <a:prstDash val="solid"/>
          </a:ln>
        </p:spPr>
      </p:sp>
      <p:sp>
        <p:nvSpPr>
          <p:cNvPr id="23" name="text-152"/>
          <p:cNvSpPr txBox="1"/>
          <p:nvPr/>
        </p:nvSpPr>
        <p:spPr>
          <a:xfrm>
            <a:off x="777240" y="4535424"/>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153"/>
          <p:cNvSpPr txBox="1"/>
          <p:nvPr/>
        </p:nvSpPr>
        <p:spPr>
          <a:xfrm>
            <a:off x="1417320" y="4407408"/>
            <a:ext cx="5943600" cy="320040"/>
          </a:xfrm>
          <a:prstGeom prst="rect">
            <a:avLst/>
          </a:prstGeom>
          <a:noFill/>
          <a:ln/>
        </p:spPr>
        <p:txBody>
          <a:bodyPr wrap="square" lIns="0" tIns="0" rIns="0" bIns="0" rtlCol="0" anchor="t"/>
          <a:lstStyle/>
          <a:p>
            <a:pPr indent="0" marL="0">
              <a:buNone/>
            </a:pPr>
            <a:r>
              <a:rPr lang="en-US" sz="1500" b="1" dirty="0">
                <a:solidFill>
                  <a:schemeClr val="tx1"/>
                </a:solidFill>
              </a:rPr>
              <a:t>DB 판정을 번역</a:t>
            </a:r>
            <a:endParaRPr lang="en-US" sz="1500" dirty="0"/>
          </a:p>
        </p:txBody>
      </p:sp>
      <p:sp>
        <p:nvSpPr>
          <p:cNvPr id="25" name="text-154"/>
          <p:cNvSpPr txBox="1"/>
          <p:nvPr/>
        </p:nvSpPr>
        <p:spPr>
          <a:xfrm>
            <a:off x="1417320" y="4718304"/>
            <a:ext cx="6035040" cy="457200"/>
          </a:xfrm>
          <a:prstGeom prst="rect">
            <a:avLst/>
          </a:prstGeom>
          <a:noFill/>
          <a:ln/>
        </p:spPr>
        <p:txBody>
          <a:bodyPr wrap="square" lIns="0" tIns="0" rIns="0" bIns="0" rtlCol="0" anchor="t"/>
          <a:lstStyle/>
          <a:p>
            <a:pPr indent="0" marL="0">
              <a:buNone/>
            </a:pPr>
            <a:r>
              <a:rPr lang="en-US" sz="1150" dirty="0">
                <a:solidFill>
                  <a:schemeClr val="tx2"/>
                </a:solidFill>
              </a:rPr>
              <a:t>겹치면 DB 가 23P01 → HTTP 409 Conflict 로 응답. 성공이면 201</a:t>
            </a:r>
            <a:endParaRPr lang="en-US" sz="1150" dirty="0"/>
          </a:p>
        </p:txBody>
      </p:sp>
      <p:sp>
        <p:nvSpPr>
          <p:cNvPr id="26" name="text-155"/>
          <p:cNvSpPr txBox="1"/>
          <p:nvPr/>
        </p:nvSpPr>
        <p:spPr>
          <a:xfrm>
            <a:off x="7955280" y="1325880"/>
            <a:ext cx="3657600" cy="411480"/>
          </a:xfrm>
          <a:prstGeom prst="rect">
            <a:avLst/>
          </a:prstGeom>
          <a:noFill/>
          <a:ln/>
        </p:spPr>
        <p:txBody>
          <a:bodyPr wrap="square" lIns="0" tIns="0" rIns="0" bIns="0" rtlCol="0" anchor="t"/>
          <a:lstStyle/>
          <a:p>
            <a:pPr indent="0" marL="0">
              <a:buNone/>
            </a:pPr>
            <a:r>
              <a:rPr lang="en-US" sz="1800" b="1" dirty="0">
                <a:solidFill>
                  <a:schemeClr val="tx1"/>
                </a:solidFill>
              </a:rPr>
              <a:t>DB 에러 → HTTP 상태 코드</a:t>
            </a:r>
            <a:endParaRPr lang="en-US" sz="18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7955280" y="1828800"/>
          <a:ext cx="3657600" cy="914400"/>
        </p:xfrm>
        <a:graphic>
          <a:graphicData uri="http://schemas.openxmlformats.org/drawingml/2006/table">
            <a:tbl>
              <a:tblPr/>
              <a:tblGrid>
                <a:gridCol w="914400"/>
                <a:gridCol w="2011680"/>
                <a:gridCol w="731520"/>
              </a:tblGrid>
              <a:tr h="438912">
                <a:tc>
                  <a:txBody>
                    <a:bodyPr/>
                    <a:lstStyle/>
                    <a:p>
                      <a:pPr indent="0" marL="0">
                        <a:buNone/>
                      </a:pPr>
                      <a:r>
                        <a:rPr lang="en-US" sz="1200" b="1" dirty="0">
                          <a:solidFill>
                            <a:schemeClr val="bg1"/>
                          </a:solidFill>
                        </a:rPr>
                        <a:t>DB 코드</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뜻</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HTTP</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r>
              <a:tr h="43891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23P01</a:t>
                      </a:r>
                      <a:endParaRPr lang="en-US" sz="1200" dirty="0">
                        <a:latin typeface="Courier New" charset="0"/>
                        <a:ea typeface="Courier New" charset="0"/>
                        <a:cs typeface="Courier New" charset="0"/>
                      </a:endParaRPr>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00" dirty="0">
                          <a:solidFill>
                            <a:schemeClr val="tx1"/>
                          </a:solidFill>
                        </a:rPr>
                        <a:t>시간 겹침 (배타 제약)</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00" b="1" dirty="0">
                          <a:solidFill>
                            <a:schemeClr val="accent1"/>
                          </a:solidFill>
                        </a:rPr>
                        <a:t>409</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3891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23514</a:t>
                      </a:r>
                      <a:endParaRPr lang="en-US" sz="1200" dirty="0">
                        <a:latin typeface="Courier New" charset="0"/>
                        <a:ea typeface="Courier New" charset="0"/>
                        <a:cs typeface="Courier New" charset="0"/>
                      </a:endParaRPr>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00" dirty="0">
                          <a:solidFill>
                            <a:schemeClr val="tx1"/>
                          </a:solidFill>
                        </a:rPr>
                        <a:t>시간 값 오류 (CHECK)</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00" b="1" dirty="0">
                          <a:solidFill>
                            <a:schemeClr val="accent1"/>
                          </a:solidFill>
                        </a:rPr>
                        <a:t>400</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3891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23505</a:t>
                      </a:r>
                      <a:endParaRPr lang="en-US" sz="1200" dirty="0">
                        <a:latin typeface="Courier New" charset="0"/>
                        <a:ea typeface="Courier New" charset="0"/>
                        <a:cs typeface="Courier New" charset="0"/>
                      </a:endParaRPr>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00" dirty="0">
                          <a:solidFill>
                            <a:schemeClr val="tx1"/>
                          </a:solidFill>
                        </a:rPr>
                        <a:t>중복 참석 (복합 키)</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00" b="1" dirty="0">
                          <a:solidFill>
                            <a:schemeClr val="accent1"/>
                          </a:solidFill>
                        </a:rPr>
                        <a:t>409</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3891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42501</a:t>
                      </a:r>
                      <a:endParaRPr lang="en-US" sz="1200" dirty="0">
                        <a:latin typeface="Courier New" charset="0"/>
                        <a:ea typeface="Courier New" charset="0"/>
                        <a:cs typeface="Courier New" charset="0"/>
                      </a:endParaRPr>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00" dirty="0">
                          <a:solidFill>
                            <a:schemeClr val="tx1"/>
                          </a:solidFill>
                        </a:rPr>
                        <a:t>권한 없음 (RLS)</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200" b="1" dirty="0">
                          <a:solidFill>
                            <a:schemeClr val="accent1"/>
                          </a:solidFill>
                        </a:rPr>
                        <a:t>403</a:t>
                      </a:r>
                      <a:endParaRPr lang="en-US" sz="12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bl>
          </a:graphicData>
        </a:graphic>
      </p:graphicFrame>
      <p:sp>
        <p:nvSpPr>
          <p:cNvPr id="28" name="text-156"/>
          <p:cNvSpPr txBox="1"/>
          <p:nvPr/>
        </p:nvSpPr>
        <p:spPr>
          <a:xfrm>
            <a:off x="7955280" y="4114800"/>
            <a:ext cx="3657600" cy="640080"/>
          </a:xfrm>
          <a:prstGeom prst="rect">
            <a:avLst/>
          </a:prstGeom>
          <a:noFill/>
          <a:ln/>
        </p:spPr>
        <p:txBody>
          <a:bodyPr wrap="square" lIns="0" tIns="0" rIns="0" bIns="0" rtlCol="0" anchor="t"/>
          <a:lstStyle/>
          <a:p>
            <a:pPr indent="0" marL="0">
              <a:buNone/>
            </a:pPr>
            <a:r>
              <a:rPr lang="en-US" sz="1150" dirty="0">
                <a:solidFill>
                  <a:schemeClr val="tx2"/>
                </a:solidFill>
              </a:rPr>
              <a:t>DB 가 돌려준 에러 코드를 클라이언트가</a:t>
            </a:r>
            <a:endParaRPr lang="en-US" sz="1150" dirty="0"/>
          </a:p>
          <a:p>
            <a:pPr indent="0" marL="0">
              <a:buNone/>
            </a:pPr>
            <a:r>
              <a:rPr lang="en-US" sz="1150" dirty="0">
                <a:solidFill>
                  <a:schemeClr val="tx2"/>
                </a:solidFill>
              </a:rPr>
              <a:t>이해할 수 있는 HTTP 코드로 바꿔준다</a:t>
            </a:r>
            <a:endParaRPr lang="en-US" sz="1150" dirty="0"/>
          </a:p>
        </p:txBody>
      </p:sp>
      <p:sp>
        <p:nvSpPr>
          <p:cNvPr id="29" name="card-157"/>
          <p:cNvSpPr/>
          <p:nvPr/>
        </p:nvSpPr>
        <p:spPr>
          <a:xfrm>
            <a:off x="548640" y="5394960"/>
            <a:ext cx="11064240" cy="640080"/>
          </a:xfrm>
          <a:prstGeom prst="roundRect">
            <a:avLst>
              <a:gd name="adj" fmla="val 17143"/>
            </a:avLst>
          </a:prstGeom>
          <a:solidFill>
            <a:schemeClr val="accent5"/>
          </a:solidFill>
          <a:ln w="6350">
            <a:solidFill>
              <a:schemeClr val="accent5"/>
            </a:solidFill>
            <a:prstDash val="solid"/>
          </a:ln>
        </p:spPr>
      </p:sp>
      <p:sp>
        <p:nvSpPr>
          <p:cNvPr id="30" name="text-158"/>
          <p:cNvSpPr txBox="1"/>
          <p:nvPr/>
        </p:nvSpPr>
        <p:spPr>
          <a:xfrm>
            <a:off x="777240" y="5394960"/>
            <a:ext cx="10607040" cy="640080"/>
          </a:xfrm>
          <a:prstGeom prst="rect">
            <a:avLst/>
          </a:prstGeom>
          <a:noFill/>
          <a:ln/>
        </p:spPr>
        <p:txBody>
          <a:bodyPr wrap="square" lIns="0" tIns="0" rIns="0" bIns="0" rtlCol="0" anchor="ctr"/>
          <a:lstStyle/>
          <a:p>
            <a:pPr algn="ctr" indent="0" marL="0">
              <a:buNone/>
            </a:pPr>
            <a:r>
              <a:rPr lang="en-US" sz="1600" b="1" dirty="0">
                <a:solidFill>
                  <a:schemeClr val="tx1"/>
                </a:solidFill>
              </a:rPr>
              <a:t>API 는 확인하고, 거르고, 번역한다  ·  판정은 DB 가 한다</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③ 회원가입</a:t>
            </a:r>
            <a:endParaRPr lang="en-US" sz="4000" dirty="0"/>
          </a:p>
        </p:txBody>
      </p:sp>
      <p:sp>
        <p:nvSpPr>
          <p:cNvPr id="4" name="card-159"/>
          <p:cNvSpPr/>
          <p:nvPr/>
        </p:nvSpPr>
        <p:spPr>
          <a:xfrm>
            <a:off x="822960" y="1463040"/>
            <a:ext cx="2194560" cy="457200"/>
          </a:xfrm>
          <a:prstGeom prst="roundRect">
            <a:avLst>
              <a:gd name="adj" fmla="val 24000"/>
            </a:avLst>
          </a:prstGeom>
          <a:solidFill>
            <a:schemeClr val="accent1"/>
          </a:solidFill>
          <a:ln w="6350">
            <a:solidFill>
              <a:schemeClr val="accent1"/>
            </a:solidFill>
            <a:prstDash val="solid"/>
          </a:ln>
        </p:spPr>
      </p:sp>
      <p:sp>
        <p:nvSpPr>
          <p:cNvPr id="5" name="text-160"/>
          <p:cNvSpPr txBox="1"/>
          <p:nvPr/>
        </p:nvSpPr>
        <p:spPr>
          <a:xfrm>
            <a:off x="822960" y="146304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 1분 30초</a:t>
            </a:r>
            <a:endParaRPr lang="en-US" sz="1400" dirty="0"/>
          </a:p>
        </p:txBody>
      </p:sp>
      <p:sp>
        <p:nvSpPr>
          <p:cNvPr id="6" name="text-161"/>
          <p:cNvSpPr txBox="1"/>
          <p:nvPr/>
        </p:nvSpPr>
        <p:spPr>
          <a:xfrm>
            <a:off x="822960" y="3611880"/>
            <a:ext cx="10515600" cy="548640"/>
          </a:xfrm>
          <a:prstGeom prst="rect">
            <a:avLst/>
          </a:prstGeom>
          <a:noFill/>
          <a:ln/>
        </p:spPr>
        <p:txBody>
          <a:bodyPr wrap="square" lIns="0" tIns="0" rIns="0" bIns="0" rtlCol="0" anchor="t"/>
          <a:lstStyle/>
          <a:p>
            <a:pPr indent="0" marL="0">
              <a:buNone/>
            </a:pPr>
            <a:r>
              <a:rPr lang="en-US" sz="2200" dirty="0">
                <a:solidFill>
                  <a:schemeClr val="bg2"/>
                </a:solidFill>
              </a:rPr>
              <a:t>Supabase Auth 에 맡기고, 가입하면 프로필은 자동으로 만들어진다</a:t>
            </a:r>
            <a:endParaRPr lang="en-US" sz="2200" dirty="0"/>
          </a:p>
        </p:txBody>
      </p:sp>
      <p:sp>
        <p:nvSpPr>
          <p:cNvPr id="7" name="card-162"/>
          <p:cNvSpPr/>
          <p:nvPr/>
        </p:nvSpPr>
        <p:spPr>
          <a:xfrm>
            <a:off x="822960" y="5669280"/>
            <a:ext cx="2560320" cy="457200"/>
          </a:xfrm>
          <a:prstGeom prst="roundRect">
            <a:avLst>
              <a:gd name="adj" fmla="val 24000"/>
            </a:avLst>
          </a:prstGeom>
          <a:solidFill>
            <a:schemeClr val="tx2"/>
          </a:solidFill>
          <a:ln w="6350">
            <a:solidFill>
              <a:schemeClr val="tx2"/>
            </a:solidFill>
            <a:prstDash val="solid"/>
          </a:ln>
        </p:spPr>
      </p:sp>
      <p:sp>
        <p:nvSpPr>
          <p:cNvPr id="8" name="text-163"/>
          <p:cNvSpPr txBox="1"/>
          <p:nvPr/>
        </p:nvSpPr>
        <p:spPr>
          <a:xfrm>
            <a:off x="822960" y="566928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① DB 모델링</a:t>
            </a:r>
            <a:endParaRPr lang="en-US" sz="1400" dirty="0"/>
          </a:p>
        </p:txBody>
      </p:sp>
      <p:sp>
        <p:nvSpPr>
          <p:cNvPr id="9" name="card-164"/>
          <p:cNvSpPr/>
          <p:nvPr/>
        </p:nvSpPr>
        <p:spPr>
          <a:xfrm>
            <a:off x="3566160" y="5669280"/>
            <a:ext cx="2560320" cy="457200"/>
          </a:xfrm>
          <a:prstGeom prst="roundRect">
            <a:avLst>
              <a:gd name="adj" fmla="val 24000"/>
            </a:avLst>
          </a:prstGeom>
          <a:solidFill>
            <a:schemeClr val="tx2"/>
          </a:solidFill>
          <a:ln w="6350">
            <a:solidFill>
              <a:schemeClr val="tx2"/>
            </a:solidFill>
            <a:prstDash val="solid"/>
          </a:ln>
        </p:spPr>
      </p:sp>
      <p:sp>
        <p:nvSpPr>
          <p:cNvPr id="10" name="text-165"/>
          <p:cNvSpPr txBox="1"/>
          <p:nvPr/>
        </p:nvSpPr>
        <p:spPr>
          <a:xfrm>
            <a:off x="3566160" y="566928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② API 웹서버</a:t>
            </a:r>
            <a:endParaRPr lang="en-US" sz="1400" dirty="0"/>
          </a:p>
        </p:txBody>
      </p:sp>
      <p:sp>
        <p:nvSpPr>
          <p:cNvPr id="11" name="card-166"/>
          <p:cNvSpPr/>
          <p:nvPr/>
        </p:nvSpPr>
        <p:spPr>
          <a:xfrm>
            <a:off x="6309360" y="5669280"/>
            <a:ext cx="2560320" cy="457200"/>
          </a:xfrm>
          <a:prstGeom prst="roundRect">
            <a:avLst>
              <a:gd name="adj" fmla="val 24000"/>
            </a:avLst>
          </a:prstGeom>
          <a:solidFill>
            <a:schemeClr val="accent1"/>
          </a:solidFill>
          <a:ln w="6350">
            <a:solidFill>
              <a:schemeClr val="accent1"/>
            </a:solidFill>
            <a:prstDash val="solid"/>
          </a:ln>
        </p:spPr>
      </p:sp>
      <p:sp>
        <p:nvSpPr>
          <p:cNvPr id="12" name="text-167"/>
          <p:cNvSpPr txBox="1"/>
          <p:nvPr/>
        </p:nvSpPr>
        <p:spPr>
          <a:xfrm>
            <a:off x="6309360" y="5669280"/>
            <a:ext cx="2560320" cy="457200"/>
          </a:xfrm>
          <a:prstGeom prst="rect">
            <a:avLst/>
          </a:prstGeom>
          <a:noFill/>
          <a:ln/>
        </p:spPr>
        <p:txBody>
          <a:bodyPr wrap="square" lIns="0" tIns="0" rIns="0" bIns="0" rtlCol="0" anchor="ctr"/>
          <a:lstStyle/>
          <a:p>
            <a:pPr algn="ctr" indent="0" marL="0">
              <a:buNone/>
            </a:pPr>
            <a:r>
              <a:rPr lang="en-US" sz="1400" b="1" dirty="0">
                <a:solidFill>
                  <a:schemeClr val="bg1"/>
                </a:solidFill>
              </a:rPr>
              <a:t>③ 회원가입</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회원가입 흐름 — 5단계</a:t>
            </a:r>
            <a:endParaRPr lang="en-US" sz="3000" dirty="0"/>
          </a:p>
        </p:txBody>
      </p:sp>
      <p:sp>
        <p:nvSpPr>
          <p:cNvPr id="4" name="card-168"/>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169"/>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1:00</a:t>
            </a:r>
            <a:endParaRPr lang="en-US" sz="1200" dirty="0"/>
          </a:p>
        </p:txBody>
      </p:sp>
      <p:sp>
        <p:nvSpPr>
          <p:cNvPr id="6" name="card-170"/>
          <p:cNvSpPr/>
          <p:nvPr/>
        </p:nvSpPr>
        <p:spPr>
          <a:xfrm>
            <a:off x="516636" y="1554480"/>
            <a:ext cx="1938528" cy="1005840"/>
          </a:xfrm>
          <a:prstGeom prst="roundRect">
            <a:avLst>
              <a:gd name="adj" fmla="val 10909"/>
            </a:avLst>
          </a:prstGeom>
          <a:solidFill>
            <a:schemeClr val="bg2"/>
          </a:solidFill>
          <a:ln w="6350">
            <a:solidFill>
              <a:schemeClr val="bg2"/>
            </a:solidFill>
            <a:prstDash val="solid"/>
          </a:ln>
        </p:spPr>
      </p:sp>
      <p:sp>
        <p:nvSpPr>
          <p:cNvPr id="7" name="circle-171"/>
          <p:cNvSpPr/>
          <p:nvPr/>
        </p:nvSpPr>
        <p:spPr>
          <a:xfrm>
            <a:off x="626364" y="1664208"/>
            <a:ext cx="329184" cy="329184"/>
          </a:xfrm>
          <a:prstGeom prst="ellipse">
            <a:avLst/>
          </a:prstGeom>
          <a:solidFill>
            <a:schemeClr val="accent1"/>
          </a:solidFill>
          <a:ln w="6350">
            <a:solidFill>
              <a:schemeClr val="accent1"/>
            </a:solidFill>
            <a:prstDash val="solid"/>
          </a:ln>
        </p:spPr>
      </p:sp>
      <p:sp>
        <p:nvSpPr>
          <p:cNvPr id="8" name="text-172"/>
          <p:cNvSpPr txBox="1"/>
          <p:nvPr/>
        </p:nvSpPr>
        <p:spPr>
          <a:xfrm>
            <a:off x="626364" y="166420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text-173"/>
          <p:cNvSpPr txBox="1"/>
          <p:nvPr/>
        </p:nvSpPr>
        <p:spPr>
          <a:xfrm>
            <a:off x="1019556" y="1664208"/>
            <a:ext cx="1344168" cy="786384"/>
          </a:xfrm>
          <a:prstGeom prst="rect">
            <a:avLst/>
          </a:prstGeom>
          <a:noFill/>
          <a:ln/>
        </p:spPr>
        <p:txBody>
          <a:bodyPr wrap="square" lIns="0" tIns="0" rIns="0" bIns="0" rtlCol="0" anchor="ctr"/>
          <a:lstStyle/>
          <a:p>
            <a:pPr indent="0" marL="0">
              <a:buNone/>
            </a:pPr>
            <a:r>
              <a:rPr lang="en-US" sz="1250" b="1" dirty="0">
                <a:solidFill>
                  <a:schemeClr val="tx1"/>
                </a:solidFill>
              </a:rPr>
              <a:t>가입 폼</a:t>
            </a:r>
            <a:endParaRPr lang="en-US" sz="1250" dirty="0"/>
          </a:p>
        </p:txBody>
      </p:sp>
      <p:sp>
        <p:nvSpPr>
          <p:cNvPr id="10" name="text-174"/>
          <p:cNvSpPr txBox="1"/>
          <p:nvPr/>
        </p:nvSpPr>
        <p:spPr>
          <a:xfrm>
            <a:off x="2455164" y="1828800"/>
            <a:ext cx="365760" cy="457200"/>
          </a:xfrm>
          <a:prstGeom prst="rect">
            <a:avLst/>
          </a:prstGeom>
          <a:noFill/>
          <a:ln/>
        </p:spPr>
        <p:txBody>
          <a:bodyPr wrap="square" lIns="0" tIns="0" rIns="0" bIns="0" rtlCol="0" anchor="ctr"/>
          <a:lstStyle/>
          <a:p>
            <a:pPr algn="ctr" indent="0" marL="0">
              <a:buNone/>
            </a:pPr>
            <a:r>
              <a:rPr lang="en-US" sz="2000" dirty="0">
                <a:solidFill>
                  <a:schemeClr val="tx2"/>
                </a:solidFill>
              </a:rPr>
              <a:t>→</a:t>
            </a:r>
            <a:endParaRPr lang="en-US" sz="2000" dirty="0"/>
          </a:p>
        </p:txBody>
      </p:sp>
      <p:sp>
        <p:nvSpPr>
          <p:cNvPr id="11" name="text-175"/>
          <p:cNvSpPr txBox="1"/>
          <p:nvPr/>
        </p:nvSpPr>
        <p:spPr>
          <a:xfrm>
            <a:off x="516636" y="2697480"/>
            <a:ext cx="1938528" cy="822960"/>
          </a:xfrm>
          <a:prstGeom prst="rect">
            <a:avLst/>
          </a:prstGeom>
          <a:noFill/>
          <a:ln/>
        </p:spPr>
        <p:txBody>
          <a:bodyPr wrap="square" lIns="0" tIns="0" rIns="0" bIns="0" rtlCol="0" anchor="t"/>
          <a:lstStyle/>
          <a:p>
            <a:pPr algn="ctr" indent="0" marL="0">
              <a:buNone/>
            </a:pPr>
            <a:r>
              <a:rPr lang="en-US" sz="1150" dirty="0">
                <a:solidFill>
                  <a:schemeClr val="tx2"/>
                </a:solidFill>
              </a:rPr>
              <a:t>이메일 · 비밀번호</a:t>
            </a:r>
            <a:endParaRPr lang="en-US" sz="1150" dirty="0"/>
          </a:p>
          <a:p>
            <a:pPr algn="ctr" indent="0" marL="0">
              <a:buNone/>
            </a:pPr>
            <a:r>
              <a:rPr lang="en-US" sz="1150" dirty="0">
                <a:solidFill>
                  <a:schemeClr val="tx2"/>
                </a:solidFill>
              </a:rPr>
              <a:t>이름 · 부서 입력</a:t>
            </a:r>
            <a:endParaRPr lang="en-US" sz="1150" dirty="0"/>
          </a:p>
        </p:txBody>
      </p:sp>
      <p:sp>
        <p:nvSpPr>
          <p:cNvPr id="12" name="card-176"/>
          <p:cNvSpPr/>
          <p:nvPr/>
        </p:nvSpPr>
        <p:spPr>
          <a:xfrm>
            <a:off x="2820924" y="1554480"/>
            <a:ext cx="1938528" cy="1005840"/>
          </a:xfrm>
          <a:prstGeom prst="roundRect">
            <a:avLst>
              <a:gd name="adj" fmla="val 10909"/>
            </a:avLst>
          </a:prstGeom>
          <a:solidFill>
            <a:schemeClr val="bg2"/>
          </a:solidFill>
          <a:ln w="6350">
            <a:solidFill>
              <a:schemeClr val="bg2"/>
            </a:solidFill>
            <a:prstDash val="solid"/>
          </a:ln>
        </p:spPr>
      </p:sp>
      <p:sp>
        <p:nvSpPr>
          <p:cNvPr id="13" name="circle-177"/>
          <p:cNvSpPr/>
          <p:nvPr/>
        </p:nvSpPr>
        <p:spPr>
          <a:xfrm>
            <a:off x="2930652" y="1664208"/>
            <a:ext cx="329184" cy="329184"/>
          </a:xfrm>
          <a:prstGeom prst="ellipse">
            <a:avLst/>
          </a:prstGeom>
          <a:solidFill>
            <a:schemeClr val="accent1"/>
          </a:solidFill>
          <a:ln w="6350">
            <a:solidFill>
              <a:schemeClr val="accent1"/>
            </a:solidFill>
            <a:prstDash val="solid"/>
          </a:ln>
        </p:spPr>
      </p:sp>
      <p:sp>
        <p:nvSpPr>
          <p:cNvPr id="14" name="text-178"/>
          <p:cNvSpPr txBox="1"/>
          <p:nvPr/>
        </p:nvSpPr>
        <p:spPr>
          <a:xfrm>
            <a:off x="2930652" y="166420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text-179"/>
          <p:cNvSpPr txBox="1"/>
          <p:nvPr/>
        </p:nvSpPr>
        <p:spPr>
          <a:xfrm>
            <a:off x="3323844" y="1664208"/>
            <a:ext cx="1344168" cy="786384"/>
          </a:xfrm>
          <a:prstGeom prst="rect">
            <a:avLst/>
          </a:prstGeom>
          <a:noFill/>
          <a:ln/>
        </p:spPr>
        <p:txBody>
          <a:bodyPr wrap="square" lIns="0" tIns="0" rIns="0" bIns="0" rtlCol="0" anchor="ctr"/>
          <a:lstStyle/>
          <a:p>
            <a:pPr indent="0" marL="0">
              <a:buNone/>
            </a:pPr>
            <a:r>
              <a:rPr lang="en-US" sz="1250" b="1" dirty="0">
                <a:solidFill>
                  <a:schemeClr val="tx1"/>
                </a:solidFill>
              </a:rPr>
              <a:t>POST /api/auth/signup</a:t>
            </a:r>
            <a:endParaRPr lang="en-US" sz="1250" dirty="0"/>
          </a:p>
        </p:txBody>
      </p:sp>
      <p:sp>
        <p:nvSpPr>
          <p:cNvPr id="16" name="text-180"/>
          <p:cNvSpPr txBox="1"/>
          <p:nvPr/>
        </p:nvSpPr>
        <p:spPr>
          <a:xfrm>
            <a:off x="4759452" y="1828800"/>
            <a:ext cx="365760" cy="457200"/>
          </a:xfrm>
          <a:prstGeom prst="rect">
            <a:avLst/>
          </a:prstGeom>
          <a:noFill/>
          <a:ln/>
        </p:spPr>
        <p:txBody>
          <a:bodyPr wrap="square" lIns="0" tIns="0" rIns="0" bIns="0" rtlCol="0" anchor="ctr"/>
          <a:lstStyle/>
          <a:p>
            <a:pPr algn="ctr" indent="0" marL="0">
              <a:buNone/>
            </a:pPr>
            <a:r>
              <a:rPr lang="en-US" sz="2000" dirty="0">
                <a:solidFill>
                  <a:schemeClr val="tx2"/>
                </a:solidFill>
              </a:rPr>
              <a:t>→</a:t>
            </a:r>
            <a:endParaRPr lang="en-US" sz="2000" dirty="0"/>
          </a:p>
        </p:txBody>
      </p:sp>
      <p:sp>
        <p:nvSpPr>
          <p:cNvPr id="17" name="text-181"/>
          <p:cNvSpPr txBox="1"/>
          <p:nvPr/>
        </p:nvSpPr>
        <p:spPr>
          <a:xfrm>
            <a:off x="2820924" y="2697480"/>
            <a:ext cx="1938528" cy="822960"/>
          </a:xfrm>
          <a:prstGeom prst="rect">
            <a:avLst/>
          </a:prstGeom>
          <a:noFill/>
          <a:ln/>
        </p:spPr>
        <p:txBody>
          <a:bodyPr wrap="square" lIns="0" tIns="0" rIns="0" bIns="0" rtlCol="0" anchor="t"/>
          <a:lstStyle/>
          <a:p>
            <a:pPr algn="ctr" indent="0" marL="0">
              <a:buNone/>
            </a:pPr>
            <a:r>
              <a:rPr lang="en-US" sz="1150" dirty="0">
                <a:solidFill>
                  <a:schemeClr val="tx2"/>
                </a:solidFill>
              </a:rPr>
              <a:t>내 API 가 받아서</a:t>
            </a:r>
            <a:endParaRPr lang="en-US" sz="1150" dirty="0"/>
          </a:p>
          <a:p>
            <a:pPr algn="ctr" indent="0" marL="0">
              <a:buNone/>
            </a:pPr>
            <a:r>
              <a:rPr lang="en-US" sz="1150" dirty="0">
                <a:solidFill>
                  <a:schemeClr val="tx2"/>
                </a:solidFill>
              </a:rPr>
              <a:t>Supabase 에 가입 요청</a:t>
            </a:r>
            <a:endParaRPr lang="en-US" sz="1150" dirty="0"/>
          </a:p>
        </p:txBody>
      </p:sp>
      <p:sp>
        <p:nvSpPr>
          <p:cNvPr id="18" name="card-182"/>
          <p:cNvSpPr/>
          <p:nvPr/>
        </p:nvSpPr>
        <p:spPr>
          <a:xfrm>
            <a:off x="5125212" y="1554480"/>
            <a:ext cx="1938528" cy="1005840"/>
          </a:xfrm>
          <a:prstGeom prst="roundRect">
            <a:avLst>
              <a:gd name="adj" fmla="val 10909"/>
            </a:avLst>
          </a:prstGeom>
          <a:solidFill>
            <a:schemeClr val="accent1"/>
          </a:solidFill>
          <a:ln w="6350">
            <a:solidFill>
              <a:schemeClr val="accent1"/>
            </a:solidFill>
            <a:prstDash val="solid"/>
          </a:ln>
        </p:spPr>
      </p:sp>
      <p:sp>
        <p:nvSpPr>
          <p:cNvPr id="19" name="circle-183"/>
          <p:cNvSpPr/>
          <p:nvPr/>
        </p:nvSpPr>
        <p:spPr>
          <a:xfrm>
            <a:off x="5234940" y="1664208"/>
            <a:ext cx="329184" cy="329184"/>
          </a:xfrm>
          <a:prstGeom prst="ellipse">
            <a:avLst/>
          </a:prstGeom>
          <a:solidFill>
            <a:schemeClr val="bg1"/>
          </a:solidFill>
          <a:ln w="6350">
            <a:solidFill>
              <a:schemeClr val="bg1"/>
            </a:solidFill>
            <a:prstDash val="solid"/>
          </a:ln>
        </p:spPr>
      </p:sp>
      <p:sp>
        <p:nvSpPr>
          <p:cNvPr id="20" name="text-184"/>
          <p:cNvSpPr txBox="1"/>
          <p:nvPr/>
        </p:nvSpPr>
        <p:spPr>
          <a:xfrm>
            <a:off x="5234940" y="1664208"/>
            <a:ext cx="329184" cy="329184"/>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21" name="text-185"/>
          <p:cNvSpPr txBox="1"/>
          <p:nvPr/>
        </p:nvSpPr>
        <p:spPr>
          <a:xfrm>
            <a:off x="5628132" y="1664208"/>
            <a:ext cx="1344168" cy="786384"/>
          </a:xfrm>
          <a:prstGeom prst="rect">
            <a:avLst/>
          </a:prstGeom>
          <a:noFill/>
          <a:ln/>
        </p:spPr>
        <p:txBody>
          <a:bodyPr wrap="square" lIns="0" tIns="0" rIns="0" bIns="0" rtlCol="0" anchor="ctr"/>
          <a:lstStyle/>
          <a:p>
            <a:pPr indent="0" marL="0">
              <a:buNone/>
            </a:pPr>
            <a:r>
              <a:rPr lang="en-US" sz="1250" b="1" dirty="0">
                <a:solidFill>
                  <a:schemeClr val="bg1"/>
                </a:solidFill>
              </a:rPr>
              <a:t>Supabase Auth</a:t>
            </a:r>
            <a:endParaRPr lang="en-US" sz="1250" dirty="0"/>
          </a:p>
        </p:txBody>
      </p:sp>
      <p:sp>
        <p:nvSpPr>
          <p:cNvPr id="22" name="text-186"/>
          <p:cNvSpPr txBox="1"/>
          <p:nvPr/>
        </p:nvSpPr>
        <p:spPr>
          <a:xfrm>
            <a:off x="7063740" y="1828800"/>
            <a:ext cx="365760" cy="457200"/>
          </a:xfrm>
          <a:prstGeom prst="rect">
            <a:avLst/>
          </a:prstGeom>
          <a:noFill/>
          <a:ln/>
        </p:spPr>
        <p:txBody>
          <a:bodyPr wrap="square" lIns="0" tIns="0" rIns="0" bIns="0" rtlCol="0" anchor="ctr"/>
          <a:lstStyle/>
          <a:p>
            <a:pPr algn="ctr" indent="0" marL="0">
              <a:buNone/>
            </a:pPr>
            <a:r>
              <a:rPr lang="en-US" sz="2000" dirty="0">
                <a:solidFill>
                  <a:schemeClr val="tx2"/>
                </a:solidFill>
              </a:rPr>
              <a:t>→</a:t>
            </a:r>
            <a:endParaRPr lang="en-US" sz="2000" dirty="0"/>
          </a:p>
        </p:txBody>
      </p:sp>
      <p:sp>
        <p:nvSpPr>
          <p:cNvPr id="23" name="text-187"/>
          <p:cNvSpPr txBox="1"/>
          <p:nvPr/>
        </p:nvSpPr>
        <p:spPr>
          <a:xfrm>
            <a:off x="5125212" y="2697480"/>
            <a:ext cx="1938528" cy="822960"/>
          </a:xfrm>
          <a:prstGeom prst="rect">
            <a:avLst/>
          </a:prstGeom>
          <a:noFill/>
          <a:ln/>
        </p:spPr>
        <p:txBody>
          <a:bodyPr wrap="square" lIns="0" tIns="0" rIns="0" bIns="0" rtlCol="0" anchor="t"/>
          <a:lstStyle/>
          <a:p>
            <a:pPr algn="ctr" indent="0" marL="0">
              <a:buNone/>
            </a:pPr>
            <a:r>
              <a:rPr lang="en-US" sz="1150" dirty="0">
                <a:solidFill>
                  <a:schemeClr val="tx2"/>
                </a:solidFill>
              </a:rPr>
              <a:t>회원 테이블 auth.users 생성</a:t>
            </a:r>
            <a:endParaRPr lang="en-US" sz="1150" dirty="0"/>
          </a:p>
          <a:p>
            <a:pPr algn="ctr" indent="0" marL="0">
              <a:buNone/>
            </a:pPr>
            <a:r>
              <a:rPr lang="en-US" sz="1150" dirty="0">
                <a:solidFill>
                  <a:schemeClr val="tx2"/>
                </a:solidFill>
              </a:rPr>
              <a:t>비밀번호 암호화 포함</a:t>
            </a:r>
            <a:endParaRPr lang="en-US" sz="1150" dirty="0"/>
          </a:p>
        </p:txBody>
      </p:sp>
      <p:sp>
        <p:nvSpPr>
          <p:cNvPr id="24" name="card-188"/>
          <p:cNvSpPr/>
          <p:nvPr/>
        </p:nvSpPr>
        <p:spPr>
          <a:xfrm>
            <a:off x="7429500" y="1554480"/>
            <a:ext cx="1938528" cy="1005840"/>
          </a:xfrm>
          <a:prstGeom prst="roundRect">
            <a:avLst>
              <a:gd name="adj" fmla="val 10909"/>
            </a:avLst>
          </a:prstGeom>
          <a:solidFill>
            <a:schemeClr val="accent1"/>
          </a:solidFill>
          <a:ln w="6350">
            <a:solidFill>
              <a:schemeClr val="accent1"/>
            </a:solidFill>
            <a:prstDash val="solid"/>
          </a:ln>
        </p:spPr>
      </p:sp>
      <p:sp>
        <p:nvSpPr>
          <p:cNvPr id="25" name="circle-189"/>
          <p:cNvSpPr/>
          <p:nvPr/>
        </p:nvSpPr>
        <p:spPr>
          <a:xfrm>
            <a:off x="7539228" y="1664208"/>
            <a:ext cx="329184" cy="329184"/>
          </a:xfrm>
          <a:prstGeom prst="ellipse">
            <a:avLst/>
          </a:prstGeom>
          <a:solidFill>
            <a:schemeClr val="bg1"/>
          </a:solidFill>
          <a:ln w="6350">
            <a:solidFill>
              <a:schemeClr val="bg1"/>
            </a:solidFill>
            <a:prstDash val="solid"/>
          </a:ln>
        </p:spPr>
      </p:sp>
      <p:sp>
        <p:nvSpPr>
          <p:cNvPr id="26" name="text-190"/>
          <p:cNvSpPr txBox="1"/>
          <p:nvPr/>
        </p:nvSpPr>
        <p:spPr>
          <a:xfrm>
            <a:off x="7539228" y="1664208"/>
            <a:ext cx="329184" cy="329184"/>
          </a:xfrm>
          <a:prstGeom prst="rect">
            <a:avLst/>
          </a:prstGeom>
          <a:noFill/>
          <a:ln/>
        </p:spPr>
        <p:txBody>
          <a:bodyPr wrap="square" lIns="0" tIns="0" rIns="0" bIns="0" rtlCol="0" anchor="ctr"/>
          <a:lstStyle/>
          <a:p>
            <a:pPr algn="ctr" indent="0" marL="0">
              <a:buNone/>
            </a:pPr>
            <a:r>
              <a:rPr lang="en-US" sz="1100" b="1" dirty="0">
                <a:solidFill>
                  <a:schemeClr val="accent1"/>
                </a:solidFill>
              </a:rPr>
              <a:t>4</a:t>
            </a:r>
            <a:endParaRPr lang="en-US" sz="1100" dirty="0"/>
          </a:p>
        </p:txBody>
      </p:sp>
      <p:sp>
        <p:nvSpPr>
          <p:cNvPr id="27" name="text-191"/>
          <p:cNvSpPr txBox="1"/>
          <p:nvPr/>
        </p:nvSpPr>
        <p:spPr>
          <a:xfrm>
            <a:off x="7932420" y="1664208"/>
            <a:ext cx="1344168" cy="786384"/>
          </a:xfrm>
          <a:prstGeom prst="rect">
            <a:avLst/>
          </a:prstGeom>
          <a:noFill/>
          <a:ln/>
        </p:spPr>
        <p:txBody>
          <a:bodyPr wrap="square" lIns="0" tIns="0" rIns="0" bIns="0" rtlCol="0" anchor="ctr"/>
          <a:lstStyle/>
          <a:p>
            <a:pPr indent="0" marL="0">
              <a:buNone/>
            </a:pPr>
            <a:r>
              <a:rPr lang="en-US" sz="1250" b="1" dirty="0">
                <a:solidFill>
                  <a:schemeClr val="bg1"/>
                </a:solidFill>
              </a:rPr>
              <a:t>트리거 → profiles</a:t>
            </a:r>
            <a:endParaRPr lang="en-US" sz="1250" dirty="0"/>
          </a:p>
        </p:txBody>
      </p:sp>
      <p:sp>
        <p:nvSpPr>
          <p:cNvPr id="28" name="text-192"/>
          <p:cNvSpPr txBox="1"/>
          <p:nvPr/>
        </p:nvSpPr>
        <p:spPr>
          <a:xfrm>
            <a:off x="9368028" y="1828800"/>
            <a:ext cx="365760" cy="457200"/>
          </a:xfrm>
          <a:prstGeom prst="rect">
            <a:avLst/>
          </a:prstGeom>
          <a:noFill/>
          <a:ln/>
        </p:spPr>
        <p:txBody>
          <a:bodyPr wrap="square" lIns="0" tIns="0" rIns="0" bIns="0" rtlCol="0" anchor="ctr"/>
          <a:lstStyle/>
          <a:p>
            <a:pPr algn="ctr" indent="0" marL="0">
              <a:buNone/>
            </a:pPr>
            <a:r>
              <a:rPr lang="en-US" sz="2000" dirty="0">
                <a:solidFill>
                  <a:schemeClr val="tx2"/>
                </a:solidFill>
              </a:rPr>
              <a:t>→</a:t>
            </a:r>
            <a:endParaRPr lang="en-US" sz="2000" dirty="0"/>
          </a:p>
        </p:txBody>
      </p:sp>
      <p:sp>
        <p:nvSpPr>
          <p:cNvPr id="29" name="text-193"/>
          <p:cNvSpPr txBox="1"/>
          <p:nvPr/>
        </p:nvSpPr>
        <p:spPr>
          <a:xfrm>
            <a:off x="7429500" y="2697480"/>
            <a:ext cx="1938528" cy="822960"/>
          </a:xfrm>
          <a:prstGeom prst="rect">
            <a:avLst/>
          </a:prstGeom>
          <a:noFill/>
          <a:ln/>
        </p:spPr>
        <p:txBody>
          <a:bodyPr wrap="square" lIns="0" tIns="0" rIns="0" bIns="0" rtlCol="0" anchor="t"/>
          <a:lstStyle/>
          <a:p>
            <a:pPr algn="ctr" indent="0" marL="0">
              <a:buNone/>
            </a:pPr>
            <a:r>
              <a:rPr lang="en-US" sz="1150" dirty="0">
                <a:solidFill>
                  <a:schemeClr val="tx2"/>
                </a:solidFill>
              </a:rPr>
              <a:t>가입 직후 DB 가 자동으로</a:t>
            </a:r>
            <a:endParaRPr lang="en-US" sz="1150" dirty="0"/>
          </a:p>
          <a:p>
            <a:pPr algn="ctr" indent="0" marL="0">
              <a:buNone/>
            </a:pPr>
            <a:r>
              <a:rPr lang="en-US" sz="1150" dirty="0">
                <a:solidFill>
                  <a:schemeClr val="tx2"/>
                </a:solidFill>
              </a:rPr>
              <a:t>이름·부서를 profiles 에 저장</a:t>
            </a:r>
            <a:endParaRPr lang="en-US" sz="1150" dirty="0"/>
          </a:p>
        </p:txBody>
      </p:sp>
      <p:sp>
        <p:nvSpPr>
          <p:cNvPr id="30" name="card-194"/>
          <p:cNvSpPr/>
          <p:nvPr/>
        </p:nvSpPr>
        <p:spPr>
          <a:xfrm>
            <a:off x="9733788" y="1554480"/>
            <a:ext cx="1938528" cy="1005840"/>
          </a:xfrm>
          <a:prstGeom prst="roundRect">
            <a:avLst>
              <a:gd name="adj" fmla="val 10909"/>
            </a:avLst>
          </a:prstGeom>
          <a:solidFill>
            <a:schemeClr val="bg2"/>
          </a:solidFill>
          <a:ln w="6350">
            <a:solidFill>
              <a:schemeClr val="bg2"/>
            </a:solidFill>
            <a:prstDash val="solid"/>
          </a:ln>
        </p:spPr>
      </p:sp>
      <p:sp>
        <p:nvSpPr>
          <p:cNvPr id="31" name="circle-195"/>
          <p:cNvSpPr/>
          <p:nvPr/>
        </p:nvSpPr>
        <p:spPr>
          <a:xfrm>
            <a:off x="9843516" y="1664208"/>
            <a:ext cx="329184" cy="329184"/>
          </a:xfrm>
          <a:prstGeom prst="ellipse">
            <a:avLst/>
          </a:prstGeom>
          <a:solidFill>
            <a:schemeClr val="accent1"/>
          </a:solidFill>
          <a:ln w="6350">
            <a:solidFill>
              <a:schemeClr val="accent1"/>
            </a:solidFill>
            <a:prstDash val="solid"/>
          </a:ln>
        </p:spPr>
      </p:sp>
      <p:sp>
        <p:nvSpPr>
          <p:cNvPr id="32" name="text-196"/>
          <p:cNvSpPr txBox="1"/>
          <p:nvPr/>
        </p:nvSpPr>
        <p:spPr>
          <a:xfrm>
            <a:off x="9843516" y="166420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3" name="text-197"/>
          <p:cNvSpPr txBox="1"/>
          <p:nvPr/>
        </p:nvSpPr>
        <p:spPr>
          <a:xfrm>
            <a:off x="10236708" y="1664208"/>
            <a:ext cx="1344168" cy="786384"/>
          </a:xfrm>
          <a:prstGeom prst="rect">
            <a:avLst/>
          </a:prstGeom>
          <a:noFill/>
          <a:ln/>
        </p:spPr>
        <p:txBody>
          <a:bodyPr wrap="square" lIns="0" tIns="0" rIns="0" bIns="0" rtlCol="0" anchor="ctr"/>
          <a:lstStyle/>
          <a:p>
            <a:pPr indent="0" marL="0">
              <a:buNone/>
            </a:pPr>
            <a:r>
              <a:rPr lang="en-US" sz="1250" b="1" dirty="0">
                <a:solidFill>
                  <a:schemeClr val="tx1"/>
                </a:solidFill>
              </a:rPr>
              <a:t>세션 쿠키 → /rooms</a:t>
            </a:r>
            <a:endParaRPr lang="en-US" sz="1250" dirty="0"/>
          </a:p>
        </p:txBody>
      </p:sp>
      <p:sp>
        <p:nvSpPr>
          <p:cNvPr id="34" name="text-198"/>
          <p:cNvSpPr txBox="1"/>
          <p:nvPr/>
        </p:nvSpPr>
        <p:spPr>
          <a:xfrm>
            <a:off x="9733788" y="2697480"/>
            <a:ext cx="1938528" cy="822960"/>
          </a:xfrm>
          <a:prstGeom prst="rect">
            <a:avLst/>
          </a:prstGeom>
          <a:noFill/>
          <a:ln/>
        </p:spPr>
        <p:txBody>
          <a:bodyPr wrap="square" lIns="0" tIns="0" rIns="0" bIns="0" rtlCol="0" anchor="t"/>
          <a:lstStyle/>
          <a:p>
            <a:pPr algn="ctr" indent="0" marL="0">
              <a:buNone/>
            </a:pPr>
            <a:r>
              <a:rPr lang="en-US" sz="1150" dirty="0">
                <a:solidFill>
                  <a:schemeClr val="tx2"/>
                </a:solidFill>
              </a:rPr>
              <a:t>로그인 상태 유지</a:t>
            </a:r>
            <a:endParaRPr lang="en-US" sz="1150" dirty="0"/>
          </a:p>
          <a:p>
            <a:pPr algn="ctr" indent="0" marL="0">
              <a:buNone/>
            </a:pPr>
            <a:r>
              <a:rPr lang="en-US" sz="1150" dirty="0">
                <a:solidFill>
                  <a:schemeClr val="tx2"/>
                </a:solidFill>
              </a:rPr>
              <a:t>예약 화면으로 이동</a:t>
            </a:r>
            <a:endParaRPr lang="en-US" sz="1150" dirty="0"/>
          </a:p>
        </p:txBody>
      </p:sp>
      <p:sp>
        <p:nvSpPr>
          <p:cNvPr id="35" name="card-199"/>
          <p:cNvSpPr/>
          <p:nvPr/>
        </p:nvSpPr>
        <p:spPr>
          <a:xfrm>
            <a:off x="548640" y="3840480"/>
            <a:ext cx="11064240" cy="914400"/>
          </a:xfrm>
          <a:prstGeom prst="roundRect">
            <a:avLst>
              <a:gd name="adj" fmla="val 12000"/>
            </a:avLst>
          </a:prstGeom>
          <a:solidFill>
            <a:schemeClr val="accent5"/>
          </a:solidFill>
          <a:ln w="6350">
            <a:solidFill>
              <a:schemeClr val="accent5"/>
            </a:solidFill>
            <a:prstDash val="solid"/>
          </a:ln>
        </p:spPr>
      </p:sp>
      <p:sp>
        <p:nvSpPr>
          <p:cNvPr id="36" name="text-200"/>
          <p:cNvSpPr txBox="1"/>
          <p:nvPr/>
        </p:nvSpPr>
        <p:spPr>
          <a:xfrm>
            <a:off x="822960" y="3840480"/>
            <a:ext cx="10515600" cy="914400"/>
          </a:xfrm>
          <a:prstGeom prst="rect">
            <a:avLst/>
          </a:prstGeom>
          <a:noFill/>
          <a:ln/>
        </p:spPr>
        <p:txBody>
          <a:bodyPr wrap="square" lIns="0" tIns="0" rIns="0" bIns="0" rtlCol="0" anchor="ctr"/>
          <a:lstStyle/>
          <a:p>
            <a:pPr algn="ctr" indent="0" marL="0">
              <a:buNone/>
            </a:pPr>
            <a:r>
              <a:rPr lang="en-US" sz="1400" b="1" dirty="0">
                <a:solidFill>
                  <a:schemeClr val="tx1"/>
                </a:solidFill>
              </a:rPr>
              <a:t>트리거 = "어떤 일(가입)이 일어나면 DB 가 자동으로 실행하는 함수"  →  가입과 프로필 생성이 항상 같이 일어난다</a:t>
            </a:r>
            <a:endParaRPr lang="en-US" sz="1400" dirty="0"/>
          </a:p>
        </p:txBody>
      </p:sp>
      <p:sp>
        <p:nvSpPr>
          <p:cNvPr id="37" name="card-201"/>
          <p:cNvSpPr/>
          <p:nvPr/>
        </p:nvSpPr>
        <p:spPr>
          <a:xfrm>
            <a:off x="548640" y="4937760"/>
            <a:ext cx="11064240" cy="1051560"/>
          </a:xfrm>
          <a:prstGeom prst="roundRect">
            <a:avLst>
              <a:gd name="adj" fmla="val 10435"/>
            </a:avLst>
          </a:prstGeom>
          <a:solidFill>
            <a:schemeClr val="bg2"/>
          </a:solidFill>
          <a:ln w="6350">
            <a:solidFill>
              <a:schemeClr val="bg2"/>
            </a:solidFill>
            <a:prstDash val="solid"/>
          </a:ln>
        </p:spPr>
      </p:sp>
      <p:sp>
        <p:nvSpPr>
          <p:cNvPr id="38" name="text-202"/>
          <p:cNvSpPr txBox="1"/>
          <p:nvPr/>
        </p:nvSpPr>
        <p:spPr>
          <a:xfrm>
            <a:off x="822960" y="5029200"/>
            <a:ext cx="10515600" cy="274320"/>
          </a:xfrm>
          <a:prstGeom prst="rect">
            <a:avLst/>
          </a:prstGeom>
          <a:noFill/>
          <a:ln/>
        </p:spPr>
        <p:txBody>
          <a:bodyPr wrap="square" lIns="0" tIns="0" rIns="0" bIns="0" rtlCol="0" anchor="t"/>
          <a:lstStyle/>
          <a:p>
            <a:pPr indent="0" marL="0">
              <a:buNone/>
            </a:pPr>
            <a:r>
              <a:rPr lang="en-US" sz="1300" b="1" dirty="0">
                <a:solidFill>
                  <a:schemeClr val="accent1"/>
                </a:solidFill>
              </a:rPr>
              <a:t>직접 만들지 않은 이유</a:t>
            </a:r>
            <a:endParaRPr lang="en-US" sz="1300" dirty="0"/>
          </a:p>
        </p:txBody>
      </p:sp>
      <p:sp>
        <p:nvSpPr>
          <p:cNvPr id="39" name="text-203"/>
          <p:cNvSpPr txBox="1"/>
          <p:nvPr/>
        </p:nvSpPr>
        <p:spPr>
          <a:xfrm>
            <a:off x="822960" y="5321808"/>
            <a:ext cx="10515600" cy="594360"/>
          </a:xfrm>
          <a:prstGeom prst="rect">
            <a:avLst/>
          </a:prstGeom>
          <a:noFill/>
          <a:ln/>
        </p:spPr>
        <p:txBody>
          <a:bodyPr wrap="square" lIns="0" tIns="0" rIns="0" bIns="0" rtlCol="0" anchor="t"/>
          <a:lstStyle/>
          <a:p>
            <a:pPr indent="0" marL="0">
              <a:buNone/>
            </a:pPr>
            <a:r>
              <a:rPr lang="en-US" sz="1300" dirty="0">
                <a:solidFill>
                  <a:schemeClr val="tx2"/>
                </a:solidFill>
              </a:rPr>
              <a:t>비밀번호 저장(암호화)과 로그인 상태(세션) 관리는 틀리면 사고가 나는 영역</a:t>
            </a:r>
            <a:endParaRPr lang="en-US" sz="1300" dirty="0"/>
          </a:p>
          <a:p>
            <a:pPr indent="0" marL="0">
              <a:buNone/>
            </a:pPr>
            <a:r>
              <a:rPr lang="en-US" sz="1300" dirty="0">
                <a:solidFill>
                  <a:schemeClr val="tx2"/>
                </a:solidFill>
              </a:rPr>
              <a:t>→ 검증된 Supabase Auth 에 맡기고, 우리 DB 에는 프로필(이름·부서)만 둔다</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로그인 이후: 누가 무엇을 할 수 있나</a:t>
            </a:r>
            <a:endParaRPr lang="en-US" sz="3000" dirty="0"/>
          </a:p>
        </p:txBody>
      </p:sp>
      <p:sp>
        <p:nvSpPr>
          <p:cNvPr id="4" name="card-204"/>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205"/>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0:30</a:t>
            </a:r>
            <a:endParaRPr lang="en-US" sz="1200" dirty="0"/>
          </a:p>
        </p:txBody>
      </p:sp>
      <p:sp>
        <p:nvSpPr>
          <p:cNvPr id="6" name="card-206"/>
          <p:cNvSpPr/>
          <p:nvPr/>
        </p:nvSpPr>
        <p:spPr>
          <a:xfrm>
            <a:off x="548640" y="1371600"/>
            <a:ext cx="5394960" cy="3291840"/>
          </a:xfrm>
          <a:prstGeom prst="roundRect">
            <a:avLst>
              <a:gd name="adj" fmla="val 3333"/>
            </a:avLst>
          </a:prstGeom>
          <a:solidFill>
            <a:schemeClr val="bg2"/>
          </a:solidFill>
          <a:ln w="6350">
            <a:solidFill>
              <a:schemeClr val="bg2"/>
            </a:solidFill>
            <a:prstDash val="solid"/>
          </a:ln>
        </p:spPr>
      </p:sp>
      <p:sp>
        <p:nvSpPr>
          <p:cNvPr id="7" name="card-207"/>
          <p:cNvSpPr/>
          <p:nvPr/>
        </p:nvSpPr>
        <p:spPr>
          <a:xfrm>
            <a:off x="822960" y="1645920"/>
            <a:ext cx="128016" cy="457200"/>
          </a:xfrm>
          <a:prstGeom prst="roundRect">
            <a:avLst>
              <a:gd name="adj" fmla="val 85714"/>
            </a:avLst>
          </a:prstGeom>
          <a:solidFill>
            <a:schemeClr val="accent1"/>
          </a:solidFill>
          <a:ln w="6350">
            <a:solidFill>
              <a:schemeClr val="accent1"/>
            </a:solidFill>
            <a:prstDash val="solid"/>
          </a:ln>
        </p:spPr>
      </p:sp>
      <p:sp>
        <p:nvSpPr>
          <p:cNvPr id="8" name="text-208"/>
          <p:cNvSpPr txBox="1"/>
          <p:nvPr/>
        </p:nvSpPr>
        <p:spPr>
          <a:xfrm>
            <a:off x="1097280" y="1645920"/>
            <a:ext cx="4572000" cy="457200"/>
          </a:xfrm>
          <a:prstGeom prst="rect">
            <a:avLst/>
          </a:prstGeom>
          <a:noFill/>
          <a:ln/>
        </p:spPr>
        <p:txBody>
          <a:bodyPr wrap="square" lIns="0" tIns="0" rIns="0" bIns="0" rtlCol="0" anchor="ctr"/>
          <a:lstStyle/>
          <a:p>
            <a:pPr indent="0" marL="0">
              <a:buNone/>
            </a:pPr>
            <a:r>
              <a:rPr lang="en-US" sz="1700" b="1" dirty="0">
                <a:solidFill>
                  <a:schemeClr val="tx1"/>
                </a:solidFill>
              </a:rPr>
              <a:t>API 층 — 세션 확인</a:t>
            </a:r>
            <a:endParaRPr lang="en-US" sz="1700" dirty="0"/>
          </a:p>
        </p:txBody>
      </p:sp>
      <p:sp>
        <p:nvSpPr>
          <p:cNvPr id="9" name="circle-209"/>
          <p:cNvSpPr/>
          <p:nvPr/>
        </p:nvSpPr>
        <p:spPr>
          <a:xfrm>
            <a:off x="868680" y="2377440"/>
            <a:ext cx="274320" cy="274320"/>
          </a:xfrm>
          <a:prstGeom prst="ellipse">
            <a:avLst/>
          </a:prstGeom>
          <a:solidFill>
            <a:schemeClr val="accent1"/>
          </a:solidFill>
          <a:ln w="6350">
            <a:solidFill>
              <a:schemeClr val="accent1"/>
            </a:solidFill>
            <a:prstDash val="solid"/>
          </a:ln>
        </p:spPr>
      </p:sp>
      <p:sp>
        <p:nvSpPr>
          <p:cNvPr id="10" name="text-210"/>
          <p:cNvSpPr txBox="1"/>
          <p:nvPr/>
        </p:nvSpPr>
        <p:spPr>
          <a:xfrm>
            <a:off x="868680" y="237744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1" name="text-211"/>
          <p:cNvSpPr txBox="1"/>
          <p:nvPr/>
        </p:nvSpPr>
        <p:spPr>
          <a:xfrm>
            <a:off x="1280160" y="2331720"/>
            <a:ext cx="4389120" cy="411480"/>
          </a:xfrm>
          <a:prstGeom prst="rect">
            <a:avLst/>
          </a:prstGeom>
          <a:noFill/>
          <a:ln/>
        </p:spPr>
        <p:txBody>
          <a:bodyPr wrap="square" lIns="0" tIns="0" rIns="0" bIns="0" rtlCol="0" anchor="ctr"/>
          <a:lstStyle/>
          <a:p>
            <a:pPr indent="0" marL="0">
              <a:buNone/>
            </a:pPr>
            <a:r>
              <a:rPr lang="en-US" sz="1400" dirty="0">
                <a:solidFill>
                  <a:schemeClr val="tx1"/>
                </a:solidFill>
              </a:rPr>
              <a:t>요청마다 세션 쿠키로 '누구인지' 확인</a:t>
            </a:r>
            <a:endParaRPr lang="en-US" sz="1400" dirty="0"/>
          </a:p>
        </p:txBody>
      </p:sp>
      <p:sp>
        <p:nvSpPr>
          <p:cNvPr id="12" name="circle-212"/>
          <p:cNvSpPr/>
          <p:nvPr/>
        </p:nvSpPr>
        <p:spPr>
          <a:xfrm>
            <a:off x="868680" y="3063240"/>
            <a:ext cx="274320" cy="274320"/>
          </a:xfrm>
          <a:prstGeom prst="ellipse">
            <a:avLst/>
          </a:prstGeom>
          <a:solidFill>
            <a:schemeClr val="accent1"/>
          </a:solidFill>
          <a:ln w="6350">
            <a:solidFill>
              <a:schemeClr val="accent1"/>
            </a:solidFill>
            <a:prstDash val="solid"/>
          </a:ln>
        </p:spPr>
      </p:sp>
      <p:sp>
        <p:nvSpPr>
          <p:cNvPr id="13" name="text-213"/>
          <p:cNvSpPr txBox="1"/>
          <p:nvPr/>
        </p:nvSpPr>
        <p:spPr>
          <a:xfrm>
            <a:off x="868680" y="306324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4" name="text-214"/>
          <p:cNvSpPr txBox="1"/>
          <p:nvPr/>
        </p:nvSpPr>
        <p:spPr>
          <a:xfrm>
            <a:off x="1280160" y="3017520"/>
            <a:ext cx="4389120" cy="411480"/>
          </a:xfrm>
          <a:prstGeom prst="rect">
            <a:avLst/>
          </a:prstGeom>
          <a:noFill/>
          <a:ln/>
        </p:spPr>
        <p:txBody>
          <a:bodyPr wrap="square" lIns="0" tIns="0" rIns="0" bIns="0" rtlCol="0" anchor="ctr"/>
          <a:lstStyle/>
          <a:p>
            <a:pPr indent="0" marL="0">
              <a:buNone/>
            </a:pPr>
            <a:r>
              <a:rPr lang="en-US" sz="1400" dirty="0">
                <a:solidFill>
                  <a:schemeClr val="tx1"/>
                </a:solidFill>
              </a:rPr>
              <a:t>로그인 안 했으면 401</a:t>
            </a:r>
            <a:endParaRPr lang="en-US" sz="1400" dirty="0"/>
          </a:p>
        </p:txBody>
      </p:sp>
      <p:sp>
        <p:nvSpPr>
          <p:cNvPr id="15" name="circle-215"/>
          <p:cNvSpPr/>
          <p:nvPr/>
        </p:nvSpPr>
        <p:spPr>
          <a:xfrm>
            <a:off x="868680" y="3749040"/>
            <a:ext cx="274320" cy="274320"/>
          </a:xfrm>
          <a:prstGeom prst="ellipse">
            <a:avLst/>
          </a:prstGeom>
          <a:solidFill>
            <a:schemeClr val="accent1"/>
          </a:solidFill>
          <a:ln w="6350">
            <a:solidFill>
              <a:schemeClr val="accent1"/>
            </a:solidFill>
            <a:prstDash val="solid"/>
          </a:ln>
        </p:spPr>
      </p:sp>
      <p:sp>
        <p:nvSpPr>
          <p:cNvPr id="16" name="text-216"/>
          <p:cNvSpPr txBox="1"/>
          <p:nvPr/>
        </p:nvSpPr>
        <p:spPr>
          <a:xfrm>
            <a:off x="868680" y="374904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7" name="text-217"/>
          <p:cNvSpPr txBox="1"/>
          <p:nvPr/>
        </p:nvSpPr>
        <p:spPr>
          <a:xfrm>
            <a:off x="1280160" y="3703320"/>
            <a:ext cx="4389120" cy="411480"/>
          </a:xfrm>
          <a:prstGeom prst="rect">
            <a:avLst/>
          </a:prstGeom>
          <a:noFill/>
          <a:ln/>
        </p:spPr>
        <p:txBody>
          <a:bodyPr wrap="square" lIns="0" tIns="0" rIns="0" bIns="0" rtlCol="0" anchor="ctr"/>
          <a:lstStyle/>
          <a:p>
            <a:pPr indent="0" marL="0">
              <a:buNone/>
            </a:pPr>
            <a:r>
              <a:rPr lang="en-US" sz="1400" dirty="0">
                <a:solidFill>
                  <a:schemeClr val="tx1"/>
                </a:solidFill>
              </a:rPr>
              <a:t>예약자 ID 는 세션에서 → 남의 이름으로 예약 불가</a:t>
            </a:r>
            <a:endParaRPr lang="en-US" sz="1400" dirty="0"/>
          </a:p>
        </p:txBody>
      </p:sp>
      <p:sp>
        <p:nvSpPr>
          <p:cNvPr id="18" name="card-218"/>
          <p:cNvSpPr/>
          <p:nvPr/>
        </p:nvSpPr>
        <p:spPr>
          <a:xfrm>
            <a:off x="6217920" y="1371600"/>
            <a:ext cx="5394960" cy="3291840"/>
          </a:xfrm>
          <a:prstGeom prst="roundRect">
            <a:avLst>
              <a:gd name="adj" fmla="val 3333"/>
            </a:avLst>
          </a:prstGeom>
          <a:solidFill>
            <a:schemeClr val="bg2"/>
          </a:solidFill>
          <a:ln w="6350">
            <a:solidFill>
              <a:schemeClr val="bg2"/>
            </a:solidFill>
            <a:prstDash val="solid"/>
          </a:ln>
        </p:spPr>
      </p:sp>
      <p:sp>
        <p:nvSpPr>
          <p:cNvPr id="19" name="card-219"/>
          <p:cNvSpPr/>
          <p:nvPr/>
        </p:nvSpPr>
        <p:spPr>
          <a:xfrm>
            <a:off x="6492240" y="1645920"/>
            <a:ext cx="128016" cy="457200"/>
          </a:xfrm>
          <a:prstGeom prst="roundRect">
            <a:avLst>
              <a:gd name="adj" fmla="val 85714"/>
            </a:avLst>
          </a:prstGeom>
          <a:solidFill>
            <a:schemeClr val="accent3"/>
          </a:solidFill>
          <a:ln w="6350">
            <a:solidFill>
              <a:schemeClr val="accent3"/>
            </a:solidFill>
            <a:prstDash val="solid"/>
          </a:ln>
        </p:spPr>
      </p:sp>
      <p:sp>
        <p:nvSpPr>
          <p:cNvPr id="20" name="text-220"/>
          <p:cNvSpPr txBox="1"/>
          <p:nvPr/>
        </p:nvSpPr>
        <p:spPr>
          <a:xfrm>
            <a:off x="6766560" y="1645920"/>
            <a:ext cx="4572000" cy="457200"/>
          </a:xfrm>
          <a:prstGeom prst="rect">
            <a:avLst/>
          </a:prstGeom>
          <a:noFill/>
          <a:ln/>
        </p:spPr>
        <p:txBody>
          <a:bodyPr wrap="square" lIns="0" tIns="0" rIns="0" bIns="0" rtlCol="0" anchor="ctr"/>
          <a:lstStyle/>
          <a:p>
            <a:pPr indent="0" marL="0">
              <a:buNone/>
            </a:pPr>
            <a:r>
              <a:rPr lang="en-US" sz="1700" b="1" dirty="0">
                <a:solidFill>
                  <a:schemeClr val="tx1"/>
                </a:solidFill>
              </a:rPr>
              <a:t>DB 층 — RLS (행 단위 권한)</a:t>
            </a:r>
            <a:endParaRPr lang="en-US" sz="1700" dirty="0"/>
          </a:p>
        </p:txBody>
      </p:sp>
      <p:sp>
        <p:nvSpPr>
          <p:cNvPr id="21" name="circle-221"/>
          <p:cNvSpPr/>
          <p:nvPr/>
        </p:nvSpPr>
        <p:spPr>
          <a:xfrm>
            <a:off x="6537960" y="2377440"/>
            <a:ext cx="274320" cy="274320"/>
          </a:xfrm>
          <a:prstGeom prst="ellipse">
            <a:avLst/>
          </a:prstGeom>
          <a:solidFill>
            <a:schemeClr val="accent3"/>
          </a:solidFill>
          <a:ln w="6350">
            <a:solidFill>
              <a:schemeClr val="accent3"/>
            </a:solidFill>
            <a:prstDash val="solid"/>
          </a:ln>
        </p:spPr>
      </p:sp>
      <p:sp>
        <p:nvSpPr>
          <p:cNvPr id="22" name="text-222"/>
          <p:cNvSpPr txBox="1"/>
          <p:nvPr/>
        </p:nvSpPr>
        <p:spPr>
          <a:xfrm>
            <a:off x="6537960" y="237744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3" name="text-223"/>
          <p:cNvSpPr txBox="1"/>
          <p:nvPr/>
        </p:nvSpPr>
        <p:spPr>
          <a:xfrm>
            <a:off x="6949440" y="2331720"/>
            <a:ext cx="4389120" cy="411480"/>
          </a:xfrm>
          <a:prstGeom prst="rect">
            <a:avLst/>
          </a:prstGeom>
          <a:noFill/>
          <a:ln/>
        </p:spPr>
        <p:txBody>
          <a:bodyPr wrap="square" lIns="0" tIns="0" rIns="0" bIns="0" rtlCol="0" anchor="ctr"/>
          <a:lstStyle/>
          <a:p>
            <a:pPr indent="0" marL="0">
              <a:buNone/>
            </a:pPr>
            <a:r>
              <a:rPr lang="en-US" sz="1400" dirty="0">
                <a:solidFill>
                  <a:schemeClr val="tx1"/>
                </a:solidFill>
              </a:rPr>
              <a:t>'user_id 가 나인 행만 수정' 규칙을 DB 에 저장</a:t>
            </a:r>
            <a:endParaRPr lang="en-US" sz="1400" dirty="0"/>
          </a:p>
        </p:txBody>
      </p:sp>
      <p:sp>
        <p:nvSpPr>
          <p:cNvPr id="24" name="circle-224"/>
          <p:cNvSpPr/>
          <p:nvPr/>
        </p:nvSpPr>
        <p:spPr>
          <a:xfrm>
            <a:off x="6537960" y="3063240"/>
            <a:ext cx="274320" cy="274320"/>
          </a:xfrm>
          <a:prstGeom prst="ellipse">
            <a:avLst/>
          </a:prstGeom>
          <a:solidFill>
            <a:schemeClr val="accent3"/>
          </a:solidFill>
          <a:ln w="6350">
            <a:solidFill>
              <a:schemeClr val="accent3"/>
            </a:solidFill>
            <a:prstDash val="solid"/>
          </a:ln>
        </p:spPr>
      </p:sp>
      <p:sp>
        <p:nvSpPr>
          <p:cNvPr id="25" name="text-225"/>
          <p:cNvSpPr txBox="1"/>
          <p:nvPr/>
        </p:nvSpPr>
        <p:spPr>
          <a:xfrm>
            <a:off x="6537960" y="306324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6" name="text-226"/>
          <p:cNvSpPr txBox="1"/>
          <p:nvPr/>
        </p:nvSpPr>
        <p:spPr>
          <a:xfrm>
            <a:off x="6949440" y="3017520"/>
            <a:ext cx="4389120" cy="411480"/>
          </a:xfrm>
          <a:prstGeom prst="rect">
            <a:avLst/>
          </a:prstGeom>
          <a:noFill/>
          <a:ln/>
        </p:spPr>
        <p:txBody>
          <a:bodyPr wrap="square" lIns="0" tIns="0" rIns="0" bIns="0" rtlCol="0" anchor="ctr"/>
          <a:lstStyle/>
          <a:p>
            <a:pPr indent="0" marL="0">
              <a:buNone/>
            </a:pPr>
            <a:r>
              <a:rPr lang="en-US" sz="1400" dirty="0">
                <a:solidFill>
                  <a:schemeClr val="tx1"/>
                </a:solidFill>
              </a:rPr>
              <a:t>조회는 누구나, 수정·취소는 본인만</a:t>
            </a:r>
            <a:endParaRPr lang="en-US" sz="1400" dirty="0"/>
          </a:p>
        </p:txBody>
      </p:sp>
      <p:sp>
        <p:nvSpPr>
          <p:cNvPr id="27" name="circle-227"/>
          <p:cNvSpPr/>
          <p:nvPr/>
        </p:nvSpPr>
        <p:spPr>
          <a:xfrm>
            <a:off x="6537960" y="3749040"/>
            <a:ext cx="274320" cy="274320"/>
          </a:xfrm>
          <a:prstGeom prst="ellipse">
            <a:avLst/>
          </a:prstGeom>
          <a:solidFill>
            <a:schemeClr val="accent3"/>
          </a:solidFill>
          <a:ln w="6350">
            <a:solidFill>
              <a:schemeClr val="accent3"/>
            </a:solidFill>
            <a:prstDash val="solid"/>
          </a:ln>
        </p:spPr>
      </p:sp>
      <p:sp>
        <p:nvSpPr>
          <p:cNvPr id="28" name="text-228"/>
          <p:cNvSpPr txBox="1"/>
          <p:nvPr/>
        </p:nvSpPr>
        <p:spPr>
          <a:xfrm>
            <a:off x="6537960" y="374904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9" name="text-229"/>
          <p:cNvSpPr txBox="1"/>
          <p:nvPr/>
        </p:nvSpPr>
        <p:spPr>
          <a:xfrm>
            <a:off x="6949440" y="3703320"/>
            <a:ext cx="4389120" cy="411480"/>
          </a:xfrm>
          <a:prstGeom prst="rect">
            <a:avLst/>
          </a:prstGeom>
          <a:noFill/>
          <a:ln/>
        </p:spPr>
        <p:txBody>
          <a:bodyPr wrap="square" lIns="0" tIns="0" rIns="0" bIns="0" rtlCol="0" anchor="ctr"/>
          <a:lstStyle/>
          <a:p>
            <a:pPr indent="0" marL="0">
              <a:buNone/>
            </a:pPr>
            <a:r>
              <a:rPr lang="en-US" sz="1400" dirty="0">
                <a:solidFill>
                  <a:schemeClr val="tx1"/>
                </a:solidFill>
              </a:rPr>
              <a:t>API 를 거치지 않고 DB 에 직접 요청해도 막힘</a:t>
            </a:r>
            <a:endParaRPr lang="en-US" sz="1400" dirty="0"/>
          </a:p>
        </p:txBody>
      </p:sp>
      <p:sp>
        <p:nvSpPr>
          <p:cNvPr id="30" name="card-230"/>
          <p:cNvSpPr/>
          <p:nvPr/>
        </p:nvSpPr>
        <p:spPr>
          <a:xfrm>
            <a:off x="548640" y="4937760"/>
            <a:ext cx="11064240" cy="822960"/>
          </a:xfrm>
          <a:prstGeom prst="roundRect">
            <a:avLst>
              <a:gd name="adj" fmla="val 13333"/>
            </a:avLst>
          </a:prstGeom>
          <a:solidFill>
            <a:schemeClr val="accent5"/>
          </a:solidFill>
          <a:ln w="6350">
            <a:solidFill>
              <a:schemeClr val="accent5"/>
            </a:solidFill>
            <a:prstDash val="solid"/>
          </a:ln>
        </p:spPr>
      </p:sp>
      <p:sp>
        <p:nvSpPr>
          <p:cNvPr id="31" name="text-231"/>
          <p:cNvSpPr txBox="1"/>
          <p:nvPr/>
        </p:nvSpPr>
        <p:spPr>
          <a:xfrm>
            <a:off x="777240" y="4937760"/>
            <a:ext cx="10607040" cy="822960"/>
          </a:xfrm>
          <a:prstGeom prst="rect">
            <a:avLst/>
          </a:prstGeom>
          <a:noFill/>
          <a:ln/>
        </p:spPr>
        <p:txBody>
          <a:bodyPr wrap="square" lIns="0" tIns="0" rIns="0" bIns="0" rtlCol="0" anchor="ctr"/>
          <a:lstStyle/>
          <a:p>
            <a:pPr algn="ctr" indent="0" marL="0">
              <a:buNone/>
            </a:pPr>
            <a:r>
              <a:rPr lang="en-US" sz="1500" b="1" dirty="0">
                <a:solidFill>
                  <a:schemeClr val="tx1"/>
                </a:solidFill>
              </a:rPr>
              <a:t>두 겹이라서 한 쪽이 뚫려도 다른 쪽이 막는다  —  RLS 덕분에 DB 가 마지막 보루</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라이브 데모</a:t>
            </a:r>
            <a:endParaRPr lang="en-US" sz="4000" dirty="0"/>
          </a:p>
        </p:txBody>
      </p:sp>
      <p:sp>
        <p:nvSpPr>
          <p:cNvPr id="4" name="card-232"/>
          <p:cNvSpPr/>
          <p:nvPr/>
        </p:nvSpPr>
        <p:spPr>
          <a:xfrm>
            <a:off x="822960" y="1463040"/>
            <a:ext cx="2194560" cy="457200"/>
          </a:xfrm>
          <a:prstGeom prst="roundRect">
            <a:avLst>
              <a:gd name="adj" fmla="val 24000"/>
            </a:avLst>
          </a:prstGeom>
          <a:solidFill>
            <a:schemeClr val="accent1"/>
          </a:solidFill>
          <a:ln w="6350">
            <a:solidFill>
              <a:schemeClr val="accent1"/>
            </a:solidFill>
            <a:prstDash val="solid"/>
          </a:ln>
        </p:spPr>
      </p:sp>
      <p:sp>
        <p:nvSpPr>
          <p:cNvPr id="5" name="text-233"/>
          <p:cNvSpPr txBox="1"/>
          <p:nvPr/>
        </p:nvSpPr>
        <p:spPr>
          <a:xfrm>
            <a:off x="822960" y="146304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 1분</a:t>
            </a:r>
            <a:endParaRPr lang="en-US" sz="1400" dirty="0"/>
          </a:p>
        </p:txBody>
      </p:sp>
      <p:sp>
        <p:nvSpPr>
          <p:cNvPr id="6" name="circle-234"/>
          <p:cNvSpPr/>
          <p:nvPr/>
        </p:nvSpPr>
        <p:spPr>
          <a:xfrm>
            <a:off x="822960" y="3749040"/>
            <a:ext cx="365760" cy="365760"/>
          </a:xfrm>
          <a:prstGeom prst="ellipse">
            <a:avLst/>
          </a:prstGeom>
          <a:solidFill>
            <a:schemeClr val="accent1"/>
          </a:solidFill>
          <a:ln w="6350">
            <a:solidFill>
              <a:schemeClr val="accent1"/>
            </a:solidFill>
            <a:prstDash val="solid"/>
          </a:ln>
        </p:spPr>
      </p:sp>
      <p:sp>
        <p:nvSpPr>
          <p:cNvPr id="7" name="text-235"/>
          <p:cNvSpPr txBox="1"/>
          <p:nvPr/>
        </p:nvSpPr>
        <p:spPr>
          <a:xfrm>
            <a:off x="822960" y="374904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236"/>
          <p:cNvSpPr txBox="1"/>
          <p:nvPr/>
        </p:nvSpPr>
        <p:spPr>
          <a:xfrm>
            <a:off x="1371600" y="3703320"/>
            <a:ext cx="10058400" cy="457200"/>
          </a:xfrm>
          <a:prstGeom prst="rect">
            <a:avLst/>
          </a:prstGeom>
          <a:noFill/>
          <a:ln/>
        </p:spPr>
        <p:txBody>
          <a:bodyPr wrap="square" lIns="0" tIns="0" rIns="0" bIns="0" rtlCol="0" anchor="ctr"/>
          <a:lstStyle/>
          <a:p>
            <a:pPr indent="0" marL="0">
              <a:buNone/>
            </a:pPr>
            <a:r>
              <a:rPr lang="en-US" sz="1900" dirty="0">
                <a:solidFill>
                  <a:schemeClr val="bg1"/>
                </a:solidFill>
              </a:rPr>
              <a:t>11:00 – 12:00 예약  →  성공</a:t>
            </a:r>
            <a:endParaRPr lang="en-US" sz="1900" dirty="0"/>
          </a:p>
        </p:txBody>
      </p:sp>
      <p:sp>
        <p:nvSpPr>
          <p:cNvPr id="9" name="circle-237"/>
          <p:cNvSpPr/>
          <p:nvPr/>
        </p:nvSpPr>
        <p:spPr>
          <a:xfrm>
            <a:off x="822960" y="4251960"/>
            <a:ext cx="365760" cy="365760"/>
          </a:xfrm>
          <a:prstGeom prst="ellipse">
            <a:avLst/>
          </a:prstGeom>
          <a:solidFill>
            <a:schemeClr val="accent1"/>
          </a:solidFill>
          <a:ln w="6350">
            <a:solidFill>
              <a:schemeClr val="accent1"/>
            </a:solidFill>
            <a:prstDash val="solid"/>
          </a:ln>
        </p:spPr>
      </p:sp>
      <p:sp>
        <p:nvSpPr>
          <p:cNvPr id="10" name="text-238"/>
          <p:cNvSpPr txBox="1"/>
          <p:nvPr/>
        </p:nvSpPr>
        <p:spPr>
          <a:xfrm>
            <a:off x="822960" y="4251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239"/>
          <p:cNvSpPr txBox="1"/>
          <p:nvPr/>
        </p:nvSpPr>
        <p:spPr>
          <a:xfrm>
            <a:off x="1371600" y="4206240"/>
            <a:ext cx="10058400" cy="457200"/>
          </a:xfrm>
          <a:prstGeom prst="rect">
            <a:avLst/>
          </a:prstGeom>
          <a:noFill/>
          <a:ln/>
        </p:spPr>
        <p:txBody>
          <a:bodyPr wrap="square" lIns="0" tIns="0" rIns="0" bIns="0" rtlCol="0" anchor="ctr"/>
          <a:lstStyle/>
          <a:p>
            <a:pPr indent="0" marL="0">
              <a:buNone/>
            </a:pPr>
            <a:r>
              <a:rPr lang="en-US" sz="1900" dirty="0">
                <a:solidFill>
                  <a:schemeClr val="bg1"/>
                </a:solidFill>
              </a:rPr>
              <a:t>같은 방 11:30 – 12:30  →  차단  (방 겹침)</a:t>
            </a:r>
            <a:endParaRPr lang="en-US" sz="1900" dirty="0"/>
          </a:p>
        </p:txBody>
      </p:sp>
      <p:sp>
        <p:nvSpPr>
          <p:cNvPr id="12" name="circle-240"/>
          <p:cNvSpPr/>
          <p:nvPr/>
        </p:nvSpPr>
        <p:spPr>
          <a:xfrm>
            <a:off x="822960" y="4754880"/>
            <a:ext cx="365760" cy="365760"/>
          </a:xfrm>
          <a:prstGeom prst="ellipse">
            <a:avLst/>
          </a:prstGeom>
          <a:solidFill>
            <a:schemeClr val="accent1"/>
          </a:solidFill>
          <a:ln w="6350">
            <a:solidFill>
              <a:schemeClr val="accent1"/>
            </a:solidFill>
            <a:prstDash val="solid"/>
          </a:ln>
        </p:spPr>
      </p:sp>
      <p:sp>
        <p:nvSpPr>
          <p:cNvPr id="13" name="text-241"/>
          <p:cNvSpPr txBox="1"/>
          <p:nvPr/>
        </p:nvSpPr>
        <p:spPr>
          <a:xfrm>
            <a:off x="822960" y="475488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242"/>
          <p:cNvSpPr txBox="1"/>
          <p:nvPr/>
        </p:nvSpPr>
        <p:spPr>
          <a:xfrm>
            <a:off x="1371600" y="4709160"/>
            <a:ext cx="10058400" cy="457200"/>
          </a:xfrm>
          <a:prstGeom prst="rect">
            <a:avLst/>
          </a:prstGeom>
          <a:noFill/>
          <a:ln/>
        </p:spPr>
        <p:txBody>
          <a:bodyPr wrap="square" lIns="0" tIns="0" rIns="0" bIns="0" rtlCol="0" anchor="ctr"/>
          <a:lstStyle/>
          <a:p>
            <a:pPr indent="0" marL="0">
              <a:buNone/>
            </a:pPr>
            <a:r>
              <a:rPr lang="en-US" sz="1900" dirty="0">
                <a:solidFill>
                  <a:schemeClr val="bg1"/>
                </a:solidFill>
              </a:rPr>
              <a:t>다른 방 11:30 – 12:30  →  차단  (내 예약 겹침)</a:t>
            </a:r>
            <a:endParaRPr lang="en-US" sz="1900" dirty="0"/>
          </a:p>
        </p:txBody>
      </p:sp>
      <p:sp>
        <p:nvSpPr>
          <p:cNvPr id="15" name="circle-243"/>
          <p:cNvSpPr/>
          <p:nvPr/>
        </p:nvSpPr>
        <p:spPr>
          <a:xfrm>
            <a:off x="822960" y="5257800"/>
            <a:ext cx="365760" cy="365760"/>
          </a:xfrm>
          <a:prstGeom prst="ellipse">
            <a:avLst/>
          </a:prstGeom>
          <a:solidFill>
            <a:schemeClr val="accent1"/>
          </a:solidFill>
          <a:ln w="6350">
            <a:solidFill>
              <a:schemeClr val="accent1"/>
            </a:solidFill>
            <a:prstDash val="solid"/>
          </a:ln>
        </p:spPr>
      </p:sp>
      <p:sp>
        <p:nvSpPr>
          <p:cNvPr id="16" name="text-244"/>
          <p:cNvSpPr txBox="1"/>
          <p:nvPr/>
        </p:nvSpPr>
        <p:spPr>
          <a:xfrm>
            <a:off x="822960" y="52578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245"/>
          <p:cNvSpPr txBox="1"/>
          <p:nvPr/>
        </p:nvSpPr>
        <p:spPr>
          <a:xfrm>
            <a:off x="1371600" y="5212080"/>
            <a:ext cx="10058400" cy="457200"/>
          </a:xfrm>
          <a:prstGeom prst="rect">
            <a:avLst/>
          </a:prstGeom>
          <a:noFill/>
          <a:ln/>
        </p:spPr>
        <p:txBody>
          <a:bodyPr wrap="square" lIns="0" tIns="0" rIns="0" bIns="0" rtlCol="0" anchor="ctr"/>
          <a:lstStyle/>
          <a:p>
            <a:pPr indent="0" marL="0">
              <a:buNone/>
            </a:pPr>
            <a:r>
              <a:rPr lang="en-US" sz="1900" dirty="0">
                <a:solidFill>
                  <a:schemeClr val="bg1"/>
                </a:solidFill>
              </a:rPr>
              <a:t>예약 취소 후 다시 ②  →  성공  (시간이 다시 열림)</a:t>
            </a:r>
            <a:endParaRPr lang="en-US" sz="1900" dirty="0"/>
          </a:p>
        </p:txBody>
      </p:sp>
      <p:sp>
        <p:nvSpPr>
          <p:cNvPr id="18" name="circle-246"/>
          <p:cNvSpPr/>
          <p:nvPr/>
        </p:nvSpPr>
        <p:spPr>
          <a:xfrm>
            <a:off x="822960" y="5760720"/>
            <a:ext cx="365760" cy="365760"/>
          </a:xfrm>
          <a:prstGeom prst="ellipse">
            <a:avLst/>
          </a:prstGeom>
          <a:solidFill>
            <a:schemeClr val="tx2"/>
          </a:solidFill>
          <a:ln w="6350">
            <a:solidFill>
              <a:schemeClr val="tx2"/>
            </a:solidFill>
            <a:prstDash val="solid"/>
          </a:ln>
        </p:spPr>
      </p:sp>
      <p:sp>
        <p:nvSpPr>
          <p:cNvPr id="19" name="text-247"/>
          <p:cNvSpPr txBox="1"/>
          <p:nvPr/>
        </p:nvSpPr>
        <p:spPr>
          <a:xfrm>
            <a:off x="822960" y="57607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0" name="text-248"/>
          <p:cNvSpPr txBox="1"/>
          <p:nvPr/>
        </p:nvSpPr>
        <p:spPr>
          <a:xfrm>
            <a:off x="1371600" y="5715000"/>
            <a:ext cx="10058400" cy="457200"/>
          </a:xfrm>
          <a:prstGeom prst="rect">
            <a:avLst/>
          </a:prstGeom>
          <a:noFill/>
          <a:ln/>
        </p:spPr>
        <p:txBody>
          <a:bodyPr wrap="square" lIns="0" tIns="0" rIns="0" bIns="0" rtlCol="0" anchor="ctr"/>
          <a:lstStyle/>
          <a:p>
            <a:pPr indent="0" marL="0">
              <a:buNone/>
            </a:pPr>
            <a:r>
              <a:rPr lang="en-US" sz="1900" dirty="0">
                <a:solidFill>
                  <a:schemeClr val="bg2"/>
                </a:solidFill>
              </a:rPr>
              <a:t>캘린더: 한 열 안에서 블록이 절대 안 겹침  (시간 남으면)</a:t>
            </a:r>
            <a:endParaRPr lang="en-US" sz="1900" dirty="0"/>
          </a:p>
        </p:txBody>
      </p:sp>
      <p:sp>
        <p:nvSpPr>
          <p:cNvPr id="21" name="text-249"/>
          <p:cNvSpPr txBox="1"/>
          <p:nvPr/>
        </p:nvSpPr>
        <p:spPr>
          <a:xfrm>
            <a:off x="822960" y="6263640"/>
            <a:ext cx="10515600" cy="320040"/>
          </a:xfrm>
          <a:prstGeom prst="rect">
            <a:avLst/>
          </a:prstGeom>
          <a:noFill/>
          <a:ln/>
        </p:spPr>
        <p:txBody>
          <a:bodyPr wrap="square" lIns="0" tIns="0" rIns="0" bIns="0" rtlCol="0" anchor="t"/>
          <a:lstStyle/>
          <a:p>
            <a:pPr indent="0" marL="0">
              <a:buNone/>
            </a:pPr>
            <a:r>
              <a:rPr lang="en-US" sz="1300" dirty="0">
                <a:solidFill>
                  <a:schemeClr val="bg2"/>
                </a:solidFill>
              </a:rPr>
              <a:t>브라우저로 전환 · 로그인된 상태로 미리 준비 · 시간 부족하면 ①②까지만</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한계와 배운 점</a:t>
            </a:r>
            <a:endParaRPr lang="en-US" sz="3000" dirty="0"/>
          </a:p>
        </p:txBody>
      </p:sp>
      <p:sp>
        <p:nvSpPr>
          <p:cNvPr id="4" name="card-250"/>
          <p:cNvSpPr/>
          <p:nvPr/>
        </p:nvSpPr>
        <p:spPr>
          <a:xfrm>
            <a:off x="10515600" y="566928"/>
            <a:ext cx="1097280" cy="402336"/>
          </a:xfrm>
          <a:prstGeom prst="roundRect">
            <a:avLst>
              <a:gd name="adj" fmla="val 27273"/>
            </a:avLst>
          </a:prstGeom>
          <a:solidFill>
            <a:schemeClr val="accent5"/>
          </a:solidFill>
          <a:ln w="6350">
            <a:solidFill>
              <a:schemeClr val="accent5"/>
            </a:solidFill>
            <a:prstDash val="solid"/>
          </a:ln>
        </p:spPr>
      </p:sp>
      <p:sp>
        <p:nvSpPr>
          <p:cNvPr id="5" name="text-251"/>
          <p:cNvSpPr txBox="1"/>
          <p:nvPr/>
        </p:nvSpPr>
        <p:spPr>
          <a:xfrm>
            <a:off x="10515600" y="566928"/>
            <a:ext cx="1097280" cy="402336"/>
          </a:xfrm>
          <a:prstGeom prst="rect">
            <a:avLst/>
          </a:prstGeom>
          <a:noFill/>
          <a:ln/>
        </p:spPr>
        <p:txBody>
          <a:bodyPr wrap="square" lIns="0" tIns="0" rIns="0" bIns="0" rtlCol="0" anchor="ctr"/>
          <a:lstStyle/>
          <a:p>
            <a:pPr algn="ctr" indent="0" marL="0">
              <a:buNone/>
            </a:pPr>
            <a:r>
              <a:rPr lang="en-US" sz="1200" b="1" dirty="0">
                <a:solidFill>
                  <a:schemeClr val="accent1"/>
                </a:solidFill>
              </a:rPr>
              <a:t>⏱ 0:30</a:t>
            </a:r>
            <a:endParaRPr lang="en-US" sz="1200" dirty="0"/>
          </a:p>
        </p:txBody>
      </p:sp>
      <p:sp>
        <p:nvSpPr>
          <p:cNvPr id="6" name="card-252"/>
          <p:cNvSpPr/>
          <p:nvPr/>
        </p:nvSpPr>
        <p:spPr>
          <a:xfrm>
            <a:off x="548640" y="1371600"/>
            <a:ext cx="5394960" cy="3017520"/>
          </a:xfrm>
          <a:prstGeom prst="roundRect">
            <a:avLst>
              <a:gd name="adj" fmla="val 3636"/>
            </a:avLst>
          </a:prstGeom>
          <a:solidFill>
            <a:schemeClr val="bg2"/>
          </a:solidFill>
          <a:ln w="6350">
            <a:solidFill>
              <a:schemeClr val="bg2"/>
            </a:solidFill>
            <a:prstDash val="solid"/>
          </a:ln>
        </p:spPr>
      </p:sp>
      <p:sp>
        <p:nvSpPr>
          <p:cNvPr id="7" name="text-253"/>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600" b="1" dirty="0">
                <a:solidFill>
                  <a:schemeClr val="tx1"/>
                </a:solidFill>
              </a:rPr>
              <a:t>아직 못 한 것</a:t>
            </a:r>
            <a:endParaRPr lang="en-US" sz="1600" dirty="0"/>
          </a:p>
        </p:txBody>
      </p:sp>
      <p:sp>
        <p:nvSpPr>
          <p:cNvPr id="8" name="text-254"/>
          <p:cNvSpPr txBox="1"/>
          <p:nvPr/>
        </p:nvSpPr>
        <p:spPr>
          <a:xfrm>
            <a:off x="822960" y="2011680"/>
            <a:ext cx="4846320" cy="685800"/>
          </a:xfrm>
          <a:prstGeom prst="rect">
            <a:avLst/>
          </a:prstGeom>
          <a:noFill/>
          <a:ln/>
        </p:spPr>
        <p:txBody>
          <a:bodyPr wrap="square" lIns="0" tIns="0" rIns="0" bIns="0" rtlCol="0" anchor="t"/>
          <a:lstStyle/>
          <a:p>
            <a:pPr indent="0" marL="0">
              <a:buNone/>
            </a:pPr>
            <a:r>
              <a:rPr lang="en-US" sz="1300" dirty="0">
                <a:solidFill>
                  <a:schemeClr val="tx2"/>
                </a:solidFill>
              </a:rPr>
              <a:t>•  참석자의 시간 겹침</a:t>
            </a:r>
            <a:endParaRPr lang="en-US" sz="1300" dirty="0"/>
          </a:p>
          <a:p>
            <a:pPr indent="0" marL="0">
              <a:buNone/>
            </a:pPr>
            <a:r>
              <a:rPr lang="en-US" sz="1300" dirty="0">
                <a:solidFill>
                  <a:schemeClr val="tx2"/>
                </a:solidFill>
              </a:rPr>
              <a:t>— 시간이 다른 테이블에 있어 제약 불가, 트리거 필요</a:t>
            </a:r>
            <a:endParaRPr lang="en-US" sz="1300" dirty="0"/>
          </a:p>
        </p:txBody>
      </p:sp>
      <p:sp>
        <p:nvSpPr>
          <p:cNvPr id="9" name="text-255"/>
          <p:cNvSpPr txBox="1"/>
          <p:nvPr/>
        </p:nvSpPr>
        <p:spPr>
          <a:xfrm>
            <a:off x="822960" y="2743200"/>
            <a:ext cx="4846320" cy="685800"/>
          </a:xfrm>
          <a:prstGeom prst="rect">
            <a:avLst/>
          </a:prstGeom>
          <a:noFill/>
          <a:ln/>
        </p:spPr>
        <p:txBody>
          <a:bodyPr wrap="square" lIns="0" tIns="0" rIns="0" bIns="0" rtlCol="0" anchor="t"/>
          <a:lstStyle/>
          <a:p>
            <a:pPr indent="0" marL="0">
              <a:buNone/>
            </a:pPr>
            <a:r>
              <a:rPr lang="en-US" sz="1300" dirty="0">
                <a:solidFill>
                  <a:schemeClr val="tx2"/>
                </a:solidFill>
              </a:rPr>
              <a:t>•  과거 시간 예약 금지</a:t>
            </a:r>
            <a:endParaRPr lang="en-US" sz="1300" dirty="0"/>
          </a:p>
          <a:p>
            <a:pPr indent="0" marL="0">
              <a:buNone/>
            </a:pPr>
            <a:r>
              <a:rPr lang="en-US" sz="1300" dirty="0">
                <a:solidFill>
                  <a:schemeClr val="tx2"/>
                </a:solidFill>
              </a:rPr>
              <a:t>— now() 는 값이 변해 CHECK 에 못 씀 → 트리거·API</a:t>
            </a:r>
            <a:endParaRPr lang="en-US" sz="1300" dirty="0"/>
          </a:p>
        </p:txBody>
      </p:sp>
      <p:sp>
        <p:nvSpPr>
          <p:cNvPr id="10" name="text-256"/>
          <p:cNvSpPr txBox="1"/>
          <p:nvPr/>
        </p:nvSpPr>
        <p:spPr>
          <a:xfrm>
            <a:off x="822960" y="3474720"/>
            <a:ext cx="4846320" cy="685800"/>
          </a:xfrm>
          <a:prstGeom prst="rect">
            <a:avLst/>
          </a:prstGeom>
          <a:noFill/>
          <a:ln/>
        </p:spPr>
        <p:txBody>
          <a:bodyPr wrap="square" lIns="0" tIns="0" rIns="0" bIns="0" rtlCol="0" anchor="t"/>
          <a:lstStyle/>
          <a:p>
            <a:pPr indent="0" marL="0">
              <a:buNone/>
            </a:pPr>
            <a:r>
              <a:rPr lang="en-US" sz="1300" dirty="0">
                <a:solidFill>
                  <a:schemeClr val="tx2"/>
                </a:solidFill>
              </a:rPr>
              <a:t>•  예약 취소가 '없음'과 '남의 것'을</a:t>
            </a:r>
            <a:endParaRPr lang="en-US" sz="1300" dirty="0"/>
          </a:p>
          <a:p>
            <a:pPr indent="0" marL="0">
              <a:buNone/>
            </a:pPr>
            <a:r>
              <a:rPr lang="en-US" sz="1300" dirty="0">
                <a:solidFill>
                  <a:schemeClr val="tx2"/>
                </a:solidFill>
              </a:rPr>
              <a:t>403·404 로 구분하지 않음</a:t>
            </a:r>
            <a:endParaRPr lang="en-US" sz="1300" dirty="0"/>
          </a:p>
        </p:txBody>
      </p:sp>
      <p:sp>
        <p:nvSpPr>
          <p:cNvPr id="11" name="card-257"/>
          <p:cNvSpPr/>
          <p:nvPr/>
        </p:nvSpPr>
        <p:spPr>
          <a:xfrm>
            <a:off x="6217920" y="1371600"/>
            <a:ext cx="5394960" cy="3017520"/>
          </a:xfrm>
          <a:prstGeom prst="roundRect">
            <a:avLst>
              <a:gd name="adj" fmla="val 3636"/>
            </a:avLst>
          </a:prstGeom>
          <a:solidFill>
            <a:schemeClr val="bg2"/>
          </a:solidFill>
          <a:ln w="6350">
            <a:solidFill>
              <a:schemeClr val="bg2"/>
            </a:solidFill>
            <a:prstDash val="solid"/>
          </a:ln>
        </p:spPr>
      </p:sp>
      <p:sp>
        <p:nvSpPr>
          <p:cNvPr id="12" name="text-258"/>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600" b="1" dirty="0">
                <a:solidFill>
                  <a:schemeClr val="tx1"/>
                </a:solidFill>
              </a:rPr>
              <a:t>배운 점</a:t>
            </a:r>
            <a:endParaRPr lang="en-US" sz="1600" dirty="0"/>
          </a:p>
        </p:txBody>
      </p:sp>
      <p:sp>
        <p:nvSpPr>
          <p:cNvPr id="13" name="text-259"/>
          <p:cNvSpPr txBox="1"/>
          <p:nvPr/>
        </p:nvSpPr>
        <p:spPr>
          <a:xfrm>
            <a:off x="6492240" y="2011680"/>
            <a:ext cx="4846320" cy="731520"/>
          </a:xfrm>
          <a:prstGeom prst="rect">
            <a:avLst/>
          </a:prstGeom>
          <a:noFill/>
          <a:ln/>
        </p:spPr>
        <p:txBody>
          <a:bodyPr wrap="square" lIns="0" tIns="0" rIns="0" bIns="0" rtlCol="0" anchor="t"/>
          <a:lstStyle/>
          <a:p>
            <a:pPr indent="0" marL="0">
              <a:buNone/>
            </a:pPr>
            <a:r>
              <a:rPr lang="en-US" sz="1300" dirty="0">
                <a:solidFill>
                  <a:schemeClr val="tx2"/>
                </a:solidFill>
              </a:rPr>
              <a:t>•  규칙을 코드가 아니라 DB 가 지키게 하면</a:t>
            </a:r>
            <a:endParaRPr lang="en-US" sz="1300" dirty="0"/>
          </a:p>
          <a:p>
            <a:pPr indent="0" marL="0">
              <a:buNone/>
            </a:pPr>
            <a:r>
              <a:rPr lang="en-US" sz="1300" dirty="0">
                <a:solidFill>
                  <a:schemeClr val="tx2"/>
                </a:solidFill>
              </a:rPr>
              <a:t>동시 요청에도 안전하고, 어떤 경로로도 우회 불가</a:t>
            </a:r>
            <a:endParaRPr lang="en-US" sz="1300" dirty="0"/>
          </a:p>
        </p:txBody>
      </p:sp>
      <p:sp>
        <p:nvSpPr>
          <p:cNvPr id="14" name="text-260"/>
          <p:cNvSpPr txBox="1"/>
          <p:nvPr/>
        </p:nvSpPr>
        <p:spPr>
          <a:xfrm>
            <a:off x="6492240" y="2788920"/>
            <a:ext cx="4846320" cy="731520"/>
          </a:xfrm>
          <a:prstGeom prst="rect">
            <a:avLst/>
          </a:prstGeom>
          <a:noFill/>
          <a:ln/>
        </p:spPr>
        <p:txBody>
          <a:bodyPr wrap="square" lIns="0" tIns="0" rIns="0" bIns="0" rtlCol="0" anchor="t"/>
          <a:lstStyle/>
          <a:p>
            <a:pPr indent="0" marL="0">
              <a:buNone/>
            </a:pPr>
            <a:r>
              <a:rPr lang="en-US" sz="1300" dirty="0">
                <a:solidFill>
                  <a:schemeClr val="tx2"/>
                </a:solidFill>
              </a:rPr>
              <a:t>•  제약으로 되는 것(한 테이블 안)과</a:t>
            </a:r>
            <a:endParaRPr lang="en-US" sz="1300" dirty="0"/>
          </a:p>
          <a:p>
            <a:pPr indent="0" marL="0">
              <a:buNone/>
            </a:pPr>
            <a:r>
              <a:rPr lang="en-US" sz="1300" dirty="0">
                <a:solidFill>
                  <a:schemeClr val="tx2"/>
                </a:solidFill>
              </a:rPr>
              <a:t>안 되는 것(여러 테이블, 현재 시각)의 경계</a:t>
            </a:r>
            <a:endParaRPr lang="en-US" sz="1300" dirty="0"/>
          </a:p>
        </p:txBody>
      </p:sp>
      <p:sp>
        <p:nvSpPr>
          <p:cNvPr id="15" name="text-261"/>
          <p:cNvSpPr txBox="1"/>
          <p:nvPr/>
        </p:nvSpPr>
        <p:spPr>
          <a:xfrm>
            <a:off x="6492240" y="3566160"/>
            <a:ext cx="4846320" cy="731520"/>
          </a:xfrm>
          <a:prstGeom prst="rect">
            <a:avLst/>
          </a:prstGeom>
          <a:noFill/>
          <a:ln/>
        </p:spPr>
        <p:txBody>
          <a:bodyPr wrap="square" lIns="0" tIns="0" rIns="0" bIns="0" rtlCol="0" anchor="t"/>
          <a:lstStyle/>
          <a:p>
            <a:pPr indent="0" marL="0">
              <a:buNone/>
            </a:pPr>
            <a:r>
              <a:rPr lang="en-US" sz="1300" dirty="0">
                <a:solidFill>
                  <a:schemeClr val="tx2"/>
                </a:solidFill>
              </a:rPr>
              <a:t>•  DB 에러 코드를 HTTP 코드로</a:t>
            </a:r>
            <a:endParaRPr lang="en-US" sz="1300" dirty="0"/>
          </a:p>
          <a:p>
            <a:pPr indent="0" marL="0">
              <a:buNone/>
            </a:pPr>
            <a:r>
              <a:rPr lang="en-US" sz="1300" dirty="0">
                <a:solidFill>
                  <a:schemeClr val="tx2"/>
                </a:solidFill>
              </a:rPr>
              <a:t>정확히 번역하는 것도 API 의 일</a:t>
            </a:r>
            <a:endParaRPr lang="en-US" sz="1300" dirty="0"/>
          </a:p>
        </p:txBody>
      </p:sp>
      <p:sp>
        <p:nvSpPr>
          <p:cNvPr id="16" name="card-262"/>
          <p:cNvSpPr/>
          <p:nvPr/>
        </p:nvSpPr>
        <p:spPr>
          <a:xfrm>
            <a:off x="548640" y="4663440"/>
            <a:ext cx="11064240" cy="1280160"/>
          </a:xfrm>
          <a:prstGeom prst="roundRect">
            <a:avLst>
              <a:gd name="adj" fmla="val 8571"/>
            </a:avLst>
          </a:prstGeom>
          <a:solidFill>
            <a:schemeClr val="tx1"/>
          </a:solidFill>
          <a:ln w="6350">
            <a:solidFill>
              <a:schemeClr val="tx1"/>
            </a:solidFill>
            <a:prstDash val="solid"/>
          </a:ln>
        </p:spPr>
      </p:sp>
      <p:sp>
        <p:nvSpPr>
          <p:cNvPr id="17" name="text-263"/>
          <p:cNvSpPr txBox="1"/>
          <p:nvPr/>
        </p:nvSpPr>
        <p:spPr>
          <a:xfrm>
            <a:off x="822960" y="4754880"/>
            <a:ext cx="10515600" cy="640080"/>
          </a:xfrm>
          <a:prstGeom prst="rect">
            <a:avLst/>
          </a:prstGeom>
          <a:noFill/>
          <a:ln/>
        </p:spPr>
        <p:txBody>
          <a:bodyPr wrap="square" lIns="0" tIns="0" rIns="0" bIns="0" rtlCol="0" anchor="ctr"/>
          <a:lstStyle/>
          <a:p>
            <a:pPr algn="ctr" indent="0" marL="0">
              <a:buNone/>
            </a:pPr>
            <a:r>
              <a:rPr lang="en-US" sz="2600" b="1" dirty="0">
                <a:solidFill>
                  <a:schemeClr val="bg1"/>
                </a:solidFill>
              </a:rPr>
              <a:t>규칙은 코드가 아니라 DB 가 지킨다</a:t>
            </a:r>
            <a:endParaRPr lang="en-US" sz="2600" dirty="0"/>
          </a:p>
        </p:txBody>
      </p:sp>
      <p:sp>
        <p:nvSpPr>
          <p:cNvPr id="18" name="text-264"/>
          <p:cNvSpPr txBox="1"/>
          <p:nvPr/>
        </p:nvSpPr>
        <p:spPr>
          <a:xfrm>
            <a:off x="822960" y="5394960"/>
            <a:ext cx="10515600" cy="411480"/>
          </a:xfrm>
          <a:prstGeom prst="rect">
            <a:avLst/>
          </a:prstGeom>
          <a:noFill/>
          <a:ln/>
        </p:spPr>
        <p:txBody>
          <a:bodyPr wrap="square" lIns="0" tIns="0" rIns="0" bIns="0" rtlCol="0" anchor="t"/>
          <a:lstStyle/>
          <a:p>
            <a:pPr algn="ctr" indent="0" marL="0">
              <a:buNone/>
            </a:pPr>
            <a:r>
              <a:rPr lang="en-US" sz="1300" dirty="0">
                <a:solidFill>
                  <a:schemeClr val="bg2"/>
                </a:solidFill>
              </a:rPr>
              <a:t>감사합니다 · 질문 받겠습니다  ·  github.com/chansoek-avatye/avatye-week01</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875520" cy="731520"/>
          </a:xfrm>
          <a:prstGeom prst="rect">
            <a:avLst/>
          </a:prstGeom>
          <a:noFill/>
          <a:ln/>
        </p:spPr>
        <p:txBody>
          <a:bodyPr wrap="square" lIns="0" tIns="0" rIns="0" bIns="0" rtlCol="0" anchor="ctr"/>
          <a:lstStyle/>
          <a:p>
            <a:pPr algn="l" indent="0" marL="0">
              <a:buNone/>
            </a:pPr>
            <a:r>
              <a:rPr lang="en-US" sz="3000" b="1" dirty="0">
                <a:solidFill>
                  <a:schemeClr val="tx1"/>
                </a:solidFill>
              </a:rPr>
              <a:t>부록 · 용어 한 줄 정리 (발표엔 안 나옴, 공부용)</a:t>
            </a:r>
            <a:endParaRPr lang="en-US" sz="30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754880"/>
                <a:gridCol w="4114800"/>
              </a:tblGrid>
              <a:tr h="457200">
                <a:tc>
                  <a:txBody>
                    <a:bodyPr/>
                    <a:lstStyle/>
                    <a:p>
                      <a:pPr indent="0" marL="0">
                        <a:buNone/>
                      </a:pPr>
                      <a:r>
                        <a:rPr lang="en-US" sz="1250" b="1" dirty="0">
                          <a:solidFill>
                            <a:schemeClr val="bg1"/>
                          </a:solidFill>
                        </a:rPr>
                        <a:t>용어</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한 줄 뜻</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우리 프로젝트에서</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r>
              <a:tr h="457200">
                <a:tc>
                  <a:txBody>
                    <a:bodyPr/>
                    <a:lstStyle/>
                    <a:p>
                      <a:pPr indent="0" marL="0">
                        <a:buNone/>
                      </a:pPr>
                      <a:r>
                        <a:rPr lang="en-US" sz="1250" b="1" dirty="0">
                          <a:solidFill>
                            <a:schemeClr val="tx1"/>
                          </a:solidFill>
                        </a:rPr>
                        <a:t>EXCLUSION 제약</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조건에 걸리는 두 행은 함께 존재할 수 없다</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같은 방·겹치는 시간 금지, 한 사람 동시 예약 금지</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tstzrange / &amp;&amp;</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시작~끝을 하나의 시간 구간으로 / 두 구간이 겹치는지</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start_at~end_at 겹침 검사</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CHECK 제약</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한 행의 값이 조건을 만족해야 저장됨</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시작 &lt; 끝, 길이 ≤ 4시간</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복합 기본키</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두 컬럼의 조합이 유일해야 함</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같은 사람이 같은 예약에 두 번 못 들어감</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트리거</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어떤 일이 일어나면 DB 가 자동 실행하는 함수</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가입하면 profiles 자동 생성</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RLS</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행 단위 권한 규칙 (Row Level Security)</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내 예약만 수정·취소</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세션 쿠키</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로그인 상태를 담은 토큰, 요청마다 브라우저가 같이 보냄</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API 가 '누구인지' 확인하는 근거</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23P01 → 409</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DB '배타 제약 위반' 코드 → HTTP '충돌' 코드</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시간 겹침 응답</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250" b="1" dirty="0">
                          <a:solidFill>
                            <a:schemeClr val="tx1"/>
                          </a:solidFill>
                        </a:rPr>
                        <a:t>1:N · 1:1 · M:N</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하나-여럿 · 하나-하나 · 여럿-여럿(연결 테이블 필요)</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250" dirty="0">
                          <a:solidFill>
                            <a:schemeClr val="tx1"/>
                          </a:solidFill>
                        </a:rPr>
                        <a:t>방→예약 · 회원↔프로필 · 예약↔참석자</a:t>
                      </a:r>
                      <a:endParaRPr lang="en-US" sz="125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oomBooking10">
  <a:themeElements>
    <a:clrScheme name="RoomBooking10">
      <a:dk1>
        <a:srgbClr val="1B1D2B"/>
      </a:dk1>
      <a:lt1>
        <a:srgbClr val="FFFFFF"/>
      </a:lt1>
      <a:dk2>
        <a:srgbClr val="646A78"/>
      </a:dk2>
      <a:lt2>
        <a:srgbClr val="F3F4FA"/>
      </a:lt2>
      <a:accent1>
        <a:srgbClr val="5856D6"/>
      </a:accent1>
      <a:accent2>
        <a:srgbClr val="F59E0B"/>
      </a:accent2>
      <a:accent3>
        <a:srgbClr val="10B981"/>
      </a:accent3>
      <a:accent4>
        <a:srgbClr val="EF4444"/>
      </a:accent4>
      <a:accent5>
        <a:srgbClr val="ECECFB"/>
      </a:accent5>
      <a:accent6>
        <a:srgbClr val="0EA5E9"/>
      </a:accent6>
      <a:hlink>
        <a:srgbClr val="5856D6"/>
      </a:hlink>
      <a:folHlink>
        <a:srgbClr val="4644C0"/>
      </a:folHlink>
    </a:clrScheme>
    <a:fontScheme name="RoomBooking10">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회의실 예약 서비스 — 10분 발표</dc:title>
  <dc:subject>PptxGenJS Presentation</dc:subject>
  <dc:creator>이찬석</dc:creator>
  <cp:lastModifiedBy>이찬석</cp:lastModifiedBy>
  <cp:revision>1</cp:revision>
  <dcterms:created xsi:type="dcterms:W3CDTF">2026-10-14T00:27:31Z</dcterms:created>
  <dcterms:modified xsi:type="dcterms:W3CDTF">2026-10-14T00:27:31Z</dcterms:modified>
</cp:coreProperties>
</file>